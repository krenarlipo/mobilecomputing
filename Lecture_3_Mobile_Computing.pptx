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81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Title slide uses cropped Figure 4.2 (PDF page 64).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Learning outcomes summarized from Chapter 4 introduction and chapter organization (PDF pages 62–63).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Chapter sequence synthesized from sections 4.2–4.9 and the introduction to Chapter 4 (PDF pages 62–63).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Content and asset from Section 4.2 and Figure 4.1 (PDF page 63).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Layer responsibilities paraphrase the discussion immediately below Figure 4.1 (PDF pages 63–64).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Definition and prerequisites from Section 4.3.1; asset from Figure 4.2 (PDF pages 64–65).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Comparison synthesized from Section 4.2 versus Section 4.3.1 (PDF pages 63–65).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Motivation and benefits from Section 4.3.2; asset from Figure 4.3 (PDF pages 65–66).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Interpretation of Figure 4.3 and surrounding text in Section 4.3.2 (PDF page 66).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Example and Table 4.1 from Section 4.3.2 (PDF pages 66–67).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Equation system comes directly from the worked example in Section 4.3.2 (PDF page 67).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Figure 4.4 and interpretation from the worked example in Section 4.3.2 (PDF page 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Definitions and management overview from Section 4.4; asset from Figure 4.5 (PDF pages 67–69).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The four subprocesses are listed in Section 4.4 around Figure 4.5 (PDF pages 68–69).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Definition and objective from Section 4.4.1; asset from Figure 4.6 (PDF pages 69–70).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Mechanism summarized from Section 4.4.1 and 4.4.2 (PDF pages 70–71).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Performance discussion from Section 4.4.2; asset from Figure 4.7 (PDF page 72).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Numeric values and interpretation from Section 4.4.2 around Figure 4.7 (PDF page 72).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Section 4.5 overview on optimization and scheduling (PDF page 73).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Security overview and challenge list from Section 4.6.1 (PDF pages 73–75).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Operational abuse discussion from Section 4.6.1 (PDF page 74).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Non-encryption vulnerability discussion in Section 4.6.1 and solution hint in Section 4.6.2 (PDF pages 74 and 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Trust and multi-tenancy discussion from Section 4.6.1 (PDF pages 74–75).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Wireless intrusion and customer loss-of-control discussions from Section 4.6.1 (PDF page 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Security solutions overview from Section 4.6.2 (PDF pages 75–76).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Access-control and trust-management content from Section 4.6.2 (PDF page 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Encryption and additional solutions from Section 4.6.2 (PDF page 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Summary is based on Section 4.7 and the surrounding chapter logic (PDF pages 76–77).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Exercise list and Table 4.2 from Section 4.8 (PDF page 77).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Glossary terms from Section 4.9 (PDF page 78).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This slide extends Chapter 4 for the requested Master-level audience; it is an instructional elaboration rather than a direct book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file: mobile-cloud-computing-models-implementation-and-security.pdf
- Chapter 4: “MCC Architecture Design, Key Techniques, and Challenges,” pp. 61–78 of the book; key content spans PDF pages 95–111.
- Closing slide uses Figures 4.6 and 4.7 as recap visuals (PDF pages 70 and 72).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745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Cloud Computing • Chapter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1430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4B5"/>
                </a:solidFill>
              </a:rPr>
              <a:t>Lecture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MCC Architecture Design,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Key Techniques, and Challenges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Master-level presentation for first-year Computer Engineering students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291840"/>
            <a:ext cx="4572000" cy="109728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1985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Coverage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2428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Cloud and MCC architectures, hybrid-cloud management, optimization mechanisms, security challenges, solutions, exercises, and glossary.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355270"/>
            <a:ext cx="4754880" cy="3929961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" y="59893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Based on Meikang Qiu &amp; Keke Gai, Mobile Cloud Computing: Models, Implementation, and Security (CRC Press, 2017)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936A78-3029-4D30-8CA8-C01A709B9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983" y="1680310"/>
            <a:ext cx="4548567" cy="3252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What this chapter is designed to teach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Architecture design, management logic, optimization, and security in MCC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77840" cy="1417320"/>
          </a:xfrm>
          <a:prstGeom prst="roundRect">
            <a:avLst>
              <a:gd name="adj" fmla="val 3871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45336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Learning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783080"/>
            <a:ext cx="524865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After this chapter, students should be able to explain the layered cloud architecture, distinguish mobile-cloud from cloud-only architecture, reason about hybrid-cloud resource management, and critique security trade-offs.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54533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Technical emphasis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1783080"/>
            <a:ext cx="502005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chapter is not merely descriptive. It uses architecture diagrams, a resource-allocation example, interface-level management patterns, and a small performance comparison to motivate design choices.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154680"/>
            <a:ext cx="10972800" cy="2606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4.2 Four-layer cloud computing architecture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4.3 Architecture of mobile cloud computing and hybrid-cloud rationale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4.4 Distributed-cloud management strategies and the hybrid cloud resource manager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4.5 Optimization mechanisms in hybrid clouds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4.6 Security challenges and representative solutions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4.8–4.9 Exercises and glossary for consolidation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Chapter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 conceptual progression from structure to operation to assurance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1828800" cy="1965960"/>
          </a:xfrm>
          <a:prstGeom prst="roundRect">
            <a:avLst>
              <a:gd name="adj" fmla="val 2500"/>
            </a:avLst>
          </a:prstGeom>
          <a:solidFill>
            <a:srgbClr val="EAF2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1284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5B"/>
                </a:solidFill>
              </a:rPr>
              <a:t>1. Architecture baseline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16093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Cloud computing architecture with four layers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2697480"/>
            <a:ext cx="292608" cy="548640"/>
          </a:xfrm>
          <a:prstGeom prst="chevron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011680"/>
            <a:ext cx="1828800" cy="1965960"/>
          </a:xfrm>
          <a:prstGeom prst="roundRect">
            <a:avLst>
              <a:gd name="adj" fmla="val 2500"/>
            </a:avLst>
          </a:prstGeom>
          <a:solidFill>
            <a:srgbClr val="E8F7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21284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5B"/>
                </a:solidFill>
              </a:rPr>
              <a:t>2. MCC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81528" y="2743200"/>
            <a:ext cx="16093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Mobile device + network + cloud + virtualization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2697480"/>
            <a:ext cx="292608" cy="548640"/>
          </a:xfrm>
          <a:prstGeom prst="chevron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2011680"/>
            <a:ext cx="1828800" cy="1965960"/>
          </a:xfrm>
          <a:prstGeom prst="roundRect">
            <a:avLst>
              <a:gd name="adj" fmla="val 2500"/>
            </a:avLst>
          </a:prstGeom>
          <a:solidFill>
            <a:srgbClr val="EAF2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221284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5B"/>
                </a:solidFill>
              </a:rPr>
              <a:t>3. Hybrid-cloud management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67528" y="2743200"/>
            <a:ext cx="16093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Workload factoring, FCBs, resource manager, generic interfaces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0" y="2697480"/>
            <a:ext cx="292608" cy="548640"/>
          </a:xfrm>
          <a:prstGeom prst="chevron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011680"/>
            <a:ext cx="1828800" cy="1965960"/>
          </a:xfrm>
          <a:prstGeom prst="roundRect">
            <a:avLst>
              <a:gd name="adj" fmla="val 2500"/>
            </a:avLst>
          </a:prstGeom>
          <a:solidFill>
            <a:srgbClr val="E8F7F6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21284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5B"/>
                </a:solidFill>
              </a:rPr>
              <a:t>4. Optimization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53528" y="2743200"/>
            <a:ext cx="16093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Task scheduling and performance-aware management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18320" y="2697480"/>
            <a:ext cx="292608" cy="548640"/>
          </a:xfrm>
          <a:prstGeom prst="chevron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011680"/>
            <a:ext cx="1828800" cy="1965960"/>
          </a:xfrm>
          <a:prstGeom prst="roundRect">
            <a:avLst>
              <a:gd name="adj" fmla="val 2500"/>
            </a:avLst>
          </a:prstGeom>
          <a:solidFill>
            <a:srgbClr val="EAF2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9528" y="221284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5B"/>
                </a:solidFill>
              </a:rPr>
              <a:t>5. Security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39528" y="2743200"/>
            <a:ext cx="16093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Threats, trust, multi-tenancy, encryption, access control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80160" y="4526280"/>
            <a:ext cx="9646920" cy="868680"/>
          </a:xfrm>
          <a:prstGeom prst="roundRect">
            <a:avLst>
              <a:gd name="adj" fmla="val 6316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4654296"/>
            <a:ext cx="9317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Pedagogical note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44752" y="4892040"/>
            <a:ext cx="93177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chapter moves from static structure to runtime orchestration and ends with the trust and protection issues that emerge once computation becomes mobile, shared, and service-driven.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4.2 — Cloud computing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The chapter begins with a generic cloud architecture before extending it to mobility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56692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Cloud computing integrates multiple computing technologies; architecture design must exploit that heterogeneity instead of masking it.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presents a high-level architecture with four layers: User Interface, Cloud Resource Manager/Scheduler, Virtual Machine, and Physical Machine.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This baseline helps explain how mobile cloud computing reuses cloud abstractions while adding wireless access and mobile-device constraints.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24281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Design implication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4480560"/>
            <a:ext cx="506577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Architectural awareness can improve performance without necessarily adding more hardware capacity.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98348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ch4_assets/fig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37" y="1527048"/>
            <a:ext cx="4676285" cy="41788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0256" y="5724144"/>
            <a:ext cx="4727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4.1 (cropped from p. 63)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Figure 4.1 decomposed — responsibilities of the four layers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577840" cy="2819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role in the architecture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User Interface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Receives service requests and presents service responses to the cloud user.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Cloud Resource Manager / Scheduler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Classifies services, schedules resources, monitors processes, governs resources, and handles retrieval/response.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Virtual Machine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Represents service contents via virtualized processor, memory, storage, network, and applications.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Physical Machine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Executes the actual computation using processors, memory, storage, networks, and application servers.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79343"/>
            <a:ext cx="5577840" cy="947929"/>
          </a:xfrm>
          <a:prstGeom prst="roundRect">
            <a:avLst>
              <a:gd name="adj" fmla="val 75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850392" y="5111496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" y="5349240"/>
            <a:ext cx="5248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Requests travel downward from user-facing logic toward physical execution; responses travel upward after virtualized services complete.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37960" y="1508760"/>
            <a:ext cx="475488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ch4_assets/fig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83" y="1618488"/>
            <a:ext cx="4471634" cy="3995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65976" y="5632704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4.3 — Architecture of mobile cloud computing (MCC)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3776" y="10267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MCC extends cloud architecture with mobile devices, wireless networks, and Internet-mediated service access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3776" y="12755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4533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15721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Mobile Cloud Computing Architecture is the structure for designing, developing, and implementing MCC solutions.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48640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Deploying MCC requires three supportive aspects: mobile computing, mobile Internet, and cloud computing.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Mobile devices and Internet communication protocols are prerequisites for service access.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Wireless networks provide multiple access paths; central processors and network servers connect requests to remote cloud resources.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" y="5148072"/>
            <a:ext cx="5559552" cy="786384"/>
          </a:xfrm>
          <a:prstGeom prst="roundRect">
            <a:avLst>
              <a:gd name="adj" fmla="val 9231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5340096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Key enabling technologies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5577840"/>
            <a:ext cx="5218176" cy="253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text explicitly names virtualization, the parallel programming model, and mass distributed storage as three technologies that support cloud-side implementation.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8365"/>
            <a:ext cx="5029200" cy="4033156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454C5D-E9EB-485D-BB72-5B899F1AC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851660"/>
            <a:ext cx="4947966" cy="34884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Cloud architecture vs. mobile-cloud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789920" cy="2606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Conventional cloud architecture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Mobile cloud architecture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Primary access point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User interface on a client system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Mobile device over wireless networks and mobile Internet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Additional infrastructure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Cloud scheduler, VMs, physical servers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Mobile networks, central processors, mobile protocols, cloud techniques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Critical dependency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Virtualization and resource scheduling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Wireless connectivity + protocol interoperability + cloud execution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Typical challenge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Efficient allocation of virtualized resources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</a:rPr>
                        <a:t>Latency, connectivity variability, and device constraints</a:t>
                      </a:r>
                      <a:endParaRPr lang="en-US" sz="145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7443" y="4526280"/>
            <a:ext cx="10388237" cy="968284"/>
          </a:xfrm>
          <a:prstGeom prst="roundRect">
            <a:avLst>
              <a:gd name="adj" fmla="val 75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8616" y="4654296"/>
            <a:ext cx="9872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A5B"/>
                </a:solidFill>
              </a:rPr>
              <a:t>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8616" y="5020056"/>
            <a:ext cx="995476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MCC is not a replacement for cloud architecture; it is a deployment architecture that adds mobility-centric access and transport mechanisms to the cloud execution stack.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4.3.2 — Why hybrid cloud architecture?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The chapter frames hybrid deployment as a design response to workload, cost, and scalability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08760"/>
            <a:ext cx="557784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Enterprises use hybrid deployment to balance the benefits and drawbacks of different cloud service deployments.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High performance is a major motivation, but designers also consider Total Cost of Ownership (TCO).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TCO is defined here as the direct and indirect consumption of a system investment.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Selecting design dimensions — for example workload or execution time — becomes part of architecture design.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45262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465429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Two explicit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4892040"/>
            <a:ext cx="5157216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1) Higher-level scalability through flexible combinations of deployment options.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2) Better return on investment through a larger resource pool and adjustable resource configuration.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84632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0256" y="5678424"/>
            <a:ext cx="4590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4.3 (hybrid-cloud model)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A076EB-292D-41CF-9C84-F8E746C6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12" y="2171699"/>
            <a:ext cx="4286576" cy="2890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Figure 4.3 — Dynamic workload as the partitioning signal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48640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ch4_assets/fig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7713"/>
            <a:ext cx="5266944" cy="3128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" y="5495544"/>
            <a:ext cx="5230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model first characterizes workload volume.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Tasks are then forwarded either to remote cloud servers or to local servers.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forwarding decision depends on server capacities, networking performance, infrastructure availability, and related factors.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Conceptually, the model splits the overall workload into at least two parts (Task A and Task B).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46520" y="47091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483717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Design intuition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11112" y="5074920"/>
            <a:ext cx="44714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Hybrid architecture acts as an adaptive routing layer for work placement, not just as a backup arrangement.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Worked example — two servers with different time and cost profiles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77904"/>
              </p:ext>
            </p:extLst>
          </p:nvPr>
        </p:nvGraphicFramePr>
        <p:xfrm>
          <a:off x="777240" y="1645920"/>
          <a:ext cx="4023360" cy="14813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Server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Time per data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Cost per data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Remote cloud server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Local cloud server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Input workload: 10 data items.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Remote server is slower but cheaper.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Local server is faster but more expensive.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Goal: assign the 10 items to satisfy the service request and compare multiple assignment settings.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532120" y="3886200"/>
            <a:ext cx="5577840" cy="1417320"/>
          </a:xfrm>
          <a:prstGeom prst="roundRect">
            <a:avLst>
              <a:gd name="adj" fmla="val 3871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96712" y="4014216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Four settings examined in the chapter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96712" y="4251960"/>
            <a:ext cx="524865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Setting 1: all 10 to remote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Setting 2: all 10 to local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Setting 3: 5 remote + 5 local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Setting 4: minimum cost subject to a timing constraint of 30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Analytical model for the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59"/>
            <a:ext cx="4206240" cy="916021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3677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1874519"/>
            <a:ext cx="3877056" cy="4173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Let x = number of data items assigned to the remote server. Then (10 − x) go to the local server.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659924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75234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Time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3034828"/>
            <a:ext cx="3877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 = 5x + 2(10 − x) = 3x + 20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845379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" y="3955107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Cost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6320" y="4266003"/>
            <a:ext cx="3877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 = 3x + 7(10 − x) = −4x + 70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645920"/>
            <a:ext cx="57150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As x increases, time rises because more work is sent to the slower remote server.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As x increases, cost falls because more work is sent to the cheaper remote server.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timing constraint T ≤ 30 implies 3x + 20 ≤ 30, so x ≤ 10/3.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Hence the cost-minimizing feasible integer assignment is x = 3 remote items and 7 local items, giving T = 29 and C = 58.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71309" y="4596495"/>
            <a:ext cx="5714999" cy="935625"/>
          </a:xfrm>
          <a:prstGeom prst="roundRect">
            <a:avLst>
              <a:gd name="adj" fmla="val 9231"/>
            </a:avLst>
          </a:prstGeom>
          <a:solidFill>
            <a:srgbClr val="FCEDEC"/>
          </a:solidFill>
          <a:ln w="12700">
            <a:solidFill>
              <a:srgbClr val="EAC3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08142" y="4677974"/>
            <a:ext cx="529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08142" y="5085534"/>
            <a:ext cx="5294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Hybrid-cloud optimization here is a constrained trade-off problem, not a one-dimensional minimization.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Figure 4.4 — comparing time and cost across four settings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ch4_assets/fig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4362"/>
            <a:ext cx="5266944" cy="377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5632704"/>
            <a:ext cx="5230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0" y="1691640"/>
            <a:ext cx="49834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Setting 1 (all remote): time 50, cost 30.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Setting 2 (all local): time 20, cost 70.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Setting 3 (5/5 split): time 35, cost 50.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Setting 4 (optimal under T ≤ 30): time 29, cost 58.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46520" y="4389120"/>
            <a:ext cx="4885944" cy="1307592"/>
          </a:xfrm>
          <a:prstGeom prst="roundRect">
            <a:avLst>
              <a:gd name="adj" fmla="val 6000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4448555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Engineering lesson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11112" y="4754879"/>
            <a:ext cx="4647438" cy="62537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“best” deployment depends on the system objective. Cheapest, fastest, and constrained-optimal are not the same operating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4.4 — Management strategies for distributed clouds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5486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introduces an operational architecture for resource management that supports fault-tolerant cloud computing.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Its operating principle uses abstract computational resources from which function blocks are formed.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Management operations are then scheduled or organized using information about those function blocks.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15137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Definition: Function Block (FCB)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4389120"/>
            <a:ext cx="51572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 Function Block is a certain function achieved by a specific cloud resource in distributed cloud computing.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9834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511149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Definition: Cloud Resource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349240"/>
            <a:ext cx="51572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 layer that accomplishes resource information retrieval, task assignment, computation-process display, communication interconnection, and operation surveillance.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0749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0" descr="/mnt/data/ch4_assets/fig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02280"/>
            <a:ext cx="4855464" cy="33189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28816" y="5769864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Resource-management subprocesses identified in the chapter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2821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1. Identify FCBs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65960"/>
            <a:ext cx="31455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Discern each provider’s capacity and service offerings.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2821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2. Observe operating states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3712" y="1965960"/>
            <a:ext cx="31455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Collect information about start, end, query, assignment, and processing states.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2821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3. Expose computation progress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1312" y="1965960"/>
            <a:ext cx="30540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Display process timing and make required/used cloud resources visible for scalability control.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292608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CEDEC"/>
          </a:solidFill>
          <a:ln w="12700">
            <a:solidFill>
              <a:srgbClr val="EAC3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3054096"/>
            <a:ext cx="7351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4. Configure and map resources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59152" y="3291840"/>
            <a:ext cx="7351776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Retrieve information from multiple providers and represent service abstractions to users at the business layer.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050791"/>
            <a:ext cx="10561320" cy="219198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0" descr="/mnt/data/ch4_assets/fig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4050791"/>
            <a:ext cx="5062184" cy="217748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27421" y="4751614"/>
            <a:ext cx="3575958" cy="734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4.5 summarized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4.4.1 — Hybrid Cloud Resource Manager (HCRM)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08760"/>
            <a:ext cx="57150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HCRM is a typical resource manager for a group of different cloud providers that offer similar or related services.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Its general goal is to organize available resources for higher efficiency or minimum resource cost.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uses Amazon EC2 as a contemporary case to illustrate how a hybrid manager maps multiple interfaces into one operational logic.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48056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608576"/>
            <a:ext cx="5202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Core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520293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Organize • Interconnect • Monitor • Facilitate operations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84632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ch4_assets/fig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367" y="1770531"/>
            <a:ext cx="4725457" cy="36004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74536" y="5724144"/>
            <a:ext cx="4590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Amazon EC2 case study — interface mapping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5852160" cy="2423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Interface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the chapter says it is used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EC2 Query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Applies a query string to the URL where the cloud resource manager is deployed; operations are triggered via HTTP GET.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EC2 SOAP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Similar operation to Query, but the actual parameters required by the operations differ.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Private-cloud REST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Assigns a global identifier/URI to each local resource and manipulates resources through HTTP.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Generic Interface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The manager-side manipulative interface to which the other interfaces are mapped.</a:t>
                      </a:r>
                      <a:endParaRPr lang="en-US" sz="13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" y="4983480"/>
            <a:ext cx="5897880" cy="68580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5111496"/>
            <a:ext cx="556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Key architectural idea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7824" y="5349240"/>
            <a:ext cx="55686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Normalize diverse provider interfaces into one generic interface so the resource manager can administer both EC2 and private-cloud resources.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12280" y="1554480"/>
            <a:ext cx="457200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ch4_assets/fig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326809"/>
            <a:ext cx="4352544" cy="25792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0296" y="5586984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4.4.2 — How manipulation improves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54864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Different interfaces have different performance characteristics.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hybrid cloud resource manager can exploit this by selecting the interface that best matches the operation and the business requirement.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This raises Quality of Service (QoS) without adding infrastructure, because the gain comes from better orchestration rather than more hardware.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571999"/>
            <a:ext cx="5486400" cy="1197863"/>
          </a:xfrm>
          <a:prstGeom prst="roundRect">
            <a:avLst>
              <a:gd name="adj" fmla="val 7317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0001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Decision principle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51572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manager does not merely route calls; it chooses among functionally similar interfaces based on responsiveness and operational fit.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498348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ch4_assets/fig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75663"/>
            <a:ext cx="4764024" cy="35730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28816" y="5769864"/>
            <a:ext cx="4727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Figure 4.7 — Query vs. SOAP response 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28216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Experiment in the chapter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65960"/>
            <a:ext cx="4974336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1000 identical management operation commands were sent through both Query and SOAP interfaces, and timestamps were used to measure response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53949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SOAP interface average response time: 905 ms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Query interface average response time: 508 ms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Difference: 397 ms (~44% lower latency for Query in this example)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4709160"/>
            <a:ext cx="5349240" cy="923544"/>
          </a:xfrm>
          <a:prstGeom prst="roundRect">
            <a:avLst>
              <a:gd name="adj" fmla="val 75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3717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171259"/>
            <a:ext cx="50200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When responsiveness matters, interface selection becomes a performance lever inside the resource manager.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0" descr="/mnt/data/ch4_assets/fig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869948"/>
            <a:ext cx="4535424" cy="34015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74536" y="5632704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Figure 4.7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4.5 — Optimization mechanisms of hybrid cloud computing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645920"/>
            <a:ext cx="548640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emphasizes that optimization matters mainly to architecture designers and service providers who aim to deliver higher-level service.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 briefly surveys workload-aware task assignment in IaaS across heterogeneous clouds or data centers.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One example mentioned is dynamic cloud min-min scheduling for preemptable tasks.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manager stores execution parameters and updates them according to execution feedback.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800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492861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Scheduling criteria explicitly named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5166360"/>
            <a:ext cx="51572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Earliest resource available time + earliest finish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5681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65392" y="2194560"/>
            <a:ext cx="447141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Optimization turns heterogeneous infrastructure into a managed system whose performance can improve over time using recorded execution data.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200399"/>
            <a:ext cx="4800600" cy="1005839"/>
          </a:xfrm>
          <a:prstGeom prst="roundRect">
            <a:avLst>
              <a:gd name="adj" fmla="val 7059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332841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Forward link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3566160"/>
            <a:ext cx="44714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chapter signals that later chapters will develop these optimization methods in more detail.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4.6 — Security challenges in mobile clouds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3677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Framing question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874520"/>
            <a:ext cx="506577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Are there security issues in mobile clouds that differ from traditional security concerns?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56692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focuses on the technical perspective while acknowledging both operational and technical threats.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It identifies five main challenge areas: operational abuse on the cloud side, vulnerability caused by non-encryption, trust and multi-tenancy issues, intrusions in wireless networks, and customer loss of control.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These challenges arise because computation, storage, identity management, and network access are no longer fully under the customer’s control.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37960" y="1828799"/>
            <a:ext cx="4572000" cy="1338937"/>
          </a:xfrm>
          <a:prstGeom prst="roundRect">
            <a:avLst>
              <a:gd name="adj" fmla="val 5455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195681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Security lens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02552" y="2194560"/>
            <a:ext cx="424281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MCC inherits classic cloud threats and adds risks linked to mobility, wireless transmission, and provider-mediated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Challenge 1 — Operational abuse on the cloud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658368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Enterprises worry about data security and privacy even when vendors promise security levels comparable to on-premises systems.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Cloud models create a structural problem: data are hosted, processed, or stored remotely, and users may not know where the servers are.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Provider employees can potentially access sensitive information or critical system data, turning privacy concern into a deployment obstacle.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79"/>
            <a:ext cx="6400800" cy="1058091"/>
          </a:xfrm>
          <a:prstGeom prst="roundRect">
            <a:avLst>
              <a:gd name="adj" fmla="val 8000"/>
            </a:avLst>
          </a:prstGeom>
          <a:solidFill>
            <a:srgbClr val="FCEDEC"/>
          </a:solidFill>
          <a:ln w="12700">
            <a:solidFill>
              <a:srgbClr val="EAC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88289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Key 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5120640"/>
            <a:ext cx="607161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Trust in the provider becomes part of the security model, not an optional assumption.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1920239"/>
            <a:ext cx="3840480" cy="1508759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6952" y="204825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Why mobility aggravates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6952" y="2286000"/>
            <a:ext cx="351129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Mobile services often collect, process, and synchronize personal or context-rich data, increasing the sensitivity of provider-side access.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Challenge 2 — Vulnerability caused by non-encryption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585216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Outside the cloud, owners can encrypt data to limit unauthorized use.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 cloud scenarios, many operations are difficult to perform directly on encrypted data.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For processing purposes, cloud-side memory typically needs access to original data, creating exposure.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cites Amazon EC2 as a useful service option but notes that the data themselves are not automatically secure.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571999"/>
            <a:ext cx="5669280" cy="1053193"/>
          </a:xfrm>
          <a:prstGeom prst="roundRect">
            <a:avLst>
              <a:gd name="adj" fmla="val 7500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00016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5340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Operational usefulness often conflicts with confidentiality because computation needs intelligible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96596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09397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Research implication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93992" y="2331720"/>
            <a:ext cx="4242816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This motivates cryptographic approaches that preserve utility while reducing exposure — later represented by Fully Homomorphic Encryption (FHE).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Challenge 3 — Trust issues and multi-tenancy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56692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Multi-tenancy lets multiple customers share the same software application or resource pool, often through virtualization.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main trust challenge is isolating tenants that have opposing goals or risk profiles.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Because multiple independent users may share the same physical infrastructure, an adversary can have legitimate tenant status unless detected.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572000"/>
            <a:ext cx="5577840" cy="1028700"/>
          </a:xfrm>
          <a:prstGeom prst="roundRect">
            <a:avLst>
              <a:gd name="adj" fmla="val 7692"/>
            </a:avLst>
          </a:prstGeom>
          <a:solidFill>
            <a:srgbClr val="FCEDEC"/>
          </a:solidFill>
          <a:ln w="12700">
            <a:solidFill>
              <a:srgbClr val="EAC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00016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Security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5248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Resource sharing improves utilization, but it also makes isolation failure a first-order threat.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13969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Architectural lesson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42428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Virtualization is an efficiency mechanism and a security boundary at the same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370" y="41866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Challenges 4 and 5 — Wireless intrusions and customer loss of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12755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7393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Wireless intrusions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011680"/>
            <a:ext cx="506577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During wireless transmission, adversaries may use jamming, monitoring, DoS, or man-in-the-middle attacks. Many threats emerge specifically when wireless networks are used for cloud applications.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37413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Customer loss of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506577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Identity management and security mechanisms are operated on the cloud side, leaving customers with limited ability to configure access rules and policies.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84632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Availability and security depend heavily on provider mechanisms.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Customers cannot fully control their own data security once services are outsourced.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Mobile settings compound the problem because access often depends on third-party mobile and wireless infrastructure.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4709159"/>
            <a:ext cx="4709160" cy="1079319"/>
          </a:xfrm>
          <a:prstGeom prst="roundRect">
            <a:avLst>
              <a:gd name="adj" fmla="val 8333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4837176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Meta-point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5074920"/>
            <a:ext cx="43799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MCC security is partly a governance problem: who controls identity, policy, and visibility?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4.6.2 — Security solutions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424160" cy="25786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Solution family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How the chapter positions it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Access control methods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Define rules that grant or reject requests; focus on authorization, authentication, approval, and auditing.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Data encryption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Protect data from leakage; must fit cloud requirements and operating constraints.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Trust management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Use trust entities and credentials to support secure decision-making; often linked to access control.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Other solutions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IDS, Cloud Dependability Models, SSL, and SLA are listed as additional approaches.</a:t>
                      </a:r>
                      <a:endParaRPr lang="en-US" sz="15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4663440"/>
            <a:ext cx="10058400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0432" y="4791456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Named examples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0432" y="5029200"/>
            <a:ext cx="97292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MBAC, ABAC, RBAC, IBA, and FHE are explicitly mentioned in the 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Access control and trust management in an MCC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57607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Access control determines whether a user request is granted or rejected for system protection.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chapter emphasizes authorization, authentication, access approval, and auditing as key access-control concerns.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Trust management complements this by using social trust entities and cryptographic credentials to support secure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66344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4791456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Models listed in the chapter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5029200"/>
            <a:ext cx="524865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MBAC • ABAC • RBAC • Identity-Based Authentication (IBA)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209397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Why these matter in mobile clouds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02552" y="2331720"/>
            <a:ext cx="42428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system must decide not only who the user is, but also whether a device, session, tenant, or context should be trusted across distributed infrastructure.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Encryption and supporting security controls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5806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Data encryption is presented as the process of encoding and decoding data to reduce information leakage.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text highlights Fully Homomorphic Encryption (FHE) as an example, although it is described as still being in the exploring stage.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Other practical controls listed are IDS, Cloud Dependability Models (CDM), SSL, and Service Level Agreements (SLA).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4709160"/>
            <a:ext cx="5623560" cy="1111976"/>
          </a:xfrm>
          <a:prstGeom prst="roundRect">
            <a:avLst>
              <a:gd name="adj" fmla="val 7692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4837176"/>
            <a:ext cx="529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Engineering balance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5155421"/>
            <a:ext cx="5294376" cy="5584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Protection must be compatible with cloud operating requirements; otherwise security can block useful computation.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E8F7F6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13969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Layered defense logic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4242816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No single mechanism solves all MCC risks: confidentiality, detection, dependability, transport protection, and contractual assurance all contribute.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4.7 — Chapter synthesis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600200"/>
            <a:ext cx="571500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Architecture design in MCC is influenced by workload, resource pool composition, interface heterogeneity, and security constraints.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Hybrid-cloud resource management is a central optimization problem because it determines how distributed resources are exposed and exploited.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Security is not external to architecture; it shapes deployment decisions, trust boundaries, and what customers can actually control.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4672" y="4649724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7448" y="4736592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One-sentence synthesis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5074920"/>
            <a:ext cx="524865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MCC architecture is the coordinated design of access, computation, allocation, and protection across mobile and cloud layers.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2286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mnt/data/ch4_assets/fig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959" y="1618488"/>
            <a:ext cx="1760002" cy="1572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65976" y="320954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4.1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098280" y="1508760"/>
            <a:ext cx="2286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/mnt/data/ch4_assets/fig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1791047"/>
            <a:ext cx="2066544" cy="122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26296" y="320954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4.3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37960" y="3657600"/>
            <a:ext cx="2286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/mnt/data/ch4_assets/fig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914067"/>
            <a:ext cx="2066544" cy="127928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65976" y="535838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4.5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098280" y="3657600"/>
            <a:ext cx="2286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/mnt/data/ch4_assets/fig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3778758"/>
            <a:ext cx="2066544" cy="15499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6296" y="535838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4.7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4.8 — Exercises for students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00200"/>
            <a:ext cx="6492240" cy="388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What is a general goal of a high-performance hybrid cloud resource manager?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Briefly describe a four-layer cloud computing architecture.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Briefly describe the architecture of mobile cloud computing.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When and why do we need the hybrid cloud computing architecture?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What is operational abuse on the cloud side considering security in mobile clouds?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What are trust and multi-tenancy issues in cloud computing?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What issues can be caused by customer loss of control?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52360" y="201168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AF2FB"/>
          </a:solidFill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6952" y="213969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Applied exercise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6952" y="2377440"/>
            <a:ext cx="351129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Assign 20 data items to a remote and a local server (Table 4.2) to minimize total cost under a timing constraint of 150; explain the steps.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749040"/>
          <a:ext cx="3520440" cy="130759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Server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Time per data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Cost per data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Remote cloud server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Local cloud server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350" dirty="0"/>
                    </a:p>
                  </a:txBody>
                  <a:tcPr marL="45720" marR="45720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Section 4.9 — Glossary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0972800" cy="40568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 in Chapter 4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Cloud Resource Manager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Layer that performs resource retrieval, task assignment, process display, communication interconnection, and surveillance.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Function Block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 certain function achieved by a specific cloud resource in distributed cloud computing.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Generic Interface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The manipulative interface operated by the cloud resource manager.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Hybrid Cloud Resource Manager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Manager that organizes, interconnects, monitors, and facilitates operations for different cloud providers.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Mobile Cloud Computing Architecture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Structure for designing, developing, and implementing MCC solutions.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Total Cost of Ownership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Estimate of direct and indirect consumption of a system investment.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Uniform Resource Identifier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String of characters identifying the resource name that enables network interactions.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A5B"/>
                </a:solidFill>
              </a:rPr>
              <a:t>Master-level discussion prompts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Use these to extend the chapter into seminar discussion or tutorial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0972800" cy="0"/>
          </a:xfrm>
          <a:prstGeom prst="line">
            <a:avLst/>
          </a:prstGeom>
          <a:noFill/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97280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How would you redesign Figure 4.3 if edge computing nodes were added between mobile devices and the remote cloud?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Which risks in Section 4.6 are primarily architectural, and which are primarily operational or policy-driven?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Can interface-aware management decisions (Query vs. SOAP vs. REST) be embedded into a scheduler as a QoS optimization signal?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How would the worked example change if energy, bandwidth, or data locality were added as optimization dimensions?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4846319"/>
            <a:ext cx="10149840" cy="1080951"/>
          </a:xfrm>
          <a:prstGeom prst="roundRect">
            <a:avLst>
              <a:gd name="adj" fmla="val 7500"/>
            </a:avLst>
          </a:prstGeom>
          <a:solidFill>
            <a:srgbClr val="FFF6DF"/>
          </a:solidFill>
          <a:ln w="12700">
            <a:solidFill>
              <a:srgbClr val="E4D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4974336"/>
            <a:ext cx="9820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A5B"/>
                </a:solidFill>
              </a:rPr>
              <a:t>Instructor note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5212080"/>
            <a:ext cx="982065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These prompts are not verbatim chapter content, but they are faithful extensions appropriate for first-year Master’s students in Computer Engineering.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"/>
            <a:ext cx="12191695" cy="6858000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End of Lecture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CE8F5"/>
                </a:solidFill>
              </a:rPr>
              <a:t>MCC Architecture Design, Key Techniques, and Challenges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799" y="2514600"/>
            <a:ext cx="65395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8F5"/>
                </a:solidFill>
              </a:rPr>
              <a:t>Recommended next step: connect these architectural ideas to later chapters on optimization and security.</a:t>
            </a:r>
            <a:endParaRPr lang="en-US" sz="1450" dirty="0"/>
          </a:p>
        </p:txBody>
      </p:sp>
      <p:pic>
        <p:nvPicPr>
          <p:cNvPr id="7" name="Image 0" descr="/mnt/data/ch4_assets/fig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327" y="532710"/>
            <a:ext cx="4226873" cy="2598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74415" y="3197929"/>
            <a:ext cx="3218688" cy="199875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Hybrid-cloud management</a:t>
            </a:r>
          </a:p>
        </p:txBody>
      </p:sp>
      <p:sp>
        <p:nvSpPr>
          <p:cNvPr id="9" name="Shape 6"/>
          <p:cNvSpPr/>
          <p:nvPr/>
        </p:nvSpPr>
        <p:spPr>
          <a:xfrm>
            <a:off x="7260532" y="3447288"/>
            <a:ext cx="4215188" cy="3353562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/mnt/data/ch4_assets/fig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820" y="3613839"/>
            <a:ext cx="3561480" cy="2671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4415" y="6490281"/>
            <a:ext cx="3218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Performance-aware interface selection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5263</Words>
  <Application>Microsoft Office PowerPoint</Application>
  <PresentationFormat>Widescreen</PresentationFormat>
  <Paragraphs>434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MCC Architecture Design, Key Techniques, and Challenges</dc:title>
  <dc:subject>Chapter 4 presentation</dc:subject>
  <dc:creator>OpenAI</dc:creator>
  <cp:lastModifiedBy>CTS</cp:lastModifiedBy>
  <cp:revision>22</cp:revision>
  <dcterms:created xsi:type="dcterms:W3CDTF">2026-03-24T23:03:55Z</dcterms:created>
  <dcterms:modified xsi:type="dcterms:W3CDTF">2026-03-25T09:23:19Z</dcterms:modified>
</cp:coreProperties>
</file>
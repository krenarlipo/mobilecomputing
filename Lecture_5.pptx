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9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1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Algorithm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in Mobile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IaaS Resource Allocation  ·  Scheduling Algorithms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Master in Computer Engineering  ·  Qiu &amp; Gai (2017)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Learning Objectives &amp; Roadmap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347472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914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chapter you will be able to: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preemptable scheduling in IaaS cloud systems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4-step cloud resource allocation mechanism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Advance Reservation (AR) from Best-Effort (BE)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Pull-Push messaging model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EPM and formulate execution time constraints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RR, CLS, and MMSA scheduling algorithms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 performance (time, complexity, transfer overhead)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347472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14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Roadmap: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32588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IaaS &amp; preemption need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132588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16642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Allocation (4 layers, 4 steps)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166420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0253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200253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Pull-Push Messaging Modes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2002536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340864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3408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vs BE Tasks &amp; Preemption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234086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679192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267919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Formulation, EPM, AET/EST/LST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2679192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017520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301752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(RR) Algorithm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301752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355848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33558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List Scheduling (CLS)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335584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69417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369417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Min-Min Scheduling (MMSA)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3694176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31–36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032504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403250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Comparison &amp; Exercises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403250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37–40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Scheduling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IaaS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scheduling fails in heterogeneous cloud environments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IaaS Cloud Systems — Context &amp; Motivation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Infrastructure-as-a-Service (IaaS) delivers computing infrastructure via VMs on demand. But scaling to heterogeneous data centers introduces a critical challenge: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1148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35608"/>
            <a:ext cx="411480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35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Basics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393192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lease VMs provisioned with configurable CPU, memory, disk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 (Amazon EC2): 1.2 GHz Opteron, 1.7 GB RAM, 160 GB disk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select number of VMs based on demand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 on physical hardware are masked by virtualization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Tasks can overflow to other data centers to extend capacity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35608"/>
            <a:ext cx="41148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35608"/>
            <a:ext cx="411480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35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47088"/>
            <a:ext cx="393192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scheduling works in homogeneous, unified environments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Heterogeneous clouds have diverse performance and cost profiles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Forwarding tasks to another data center requires managing resource availability, transfer overhead, and cost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preemptable scheduling algorithm is needed to handle dynamic task priorities in this hybrid environment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8595360" cy="6583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84048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Preemptable Scheduling — tasks can be suspended mid-execution when a higher-priority task arrives, then resumed when the interrupting task finishes.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What is a Preemptable Task?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8412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68680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Preemptable Task is an ongoing task that can be temporarily suspended when another input task having a higher-level priority is inserted, and the task is resumed after the inserted task finishes."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206240" cy="877824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01368"/>
            <a:ext cx="457200" cy="8778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01368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837944"/>
            <a:ext cx="3584448" cy="368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task running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205167"/>
            <a:ext cx="3584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Ti is currently executing on a VM (Best-Effort mode — lower priority).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877824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457200" cy="8778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788920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825496"/>
            <a:ext cx="3584448" cy="368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task arrives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192719"/>
            <a:ext cx="3584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task with higher priority (Advance Reservation mode) is inserted into the queue.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776472"/>
            <a:ext cx="4206240" cy="877824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76472"/>
            <a:ext cx="457200" cy="8778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776472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813048"/>
            <a:ext cx="3584448" cy="368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180271"/>
            <a:ext cx="3584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 suspends Ti. A disk image of Ti's current state is saved to specific disk storage.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1801368"/>
            <a:ext cx="4206240" cy="877824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801368"/>
            <a:ext cx="457200" cy="8778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801368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9512" y="1837944"/>
            <a:ext cx="3584448" cy="368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Higher-priority task executes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9512" y="2205167"/>
            <a:ext cx="3584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 runs the higher-priority AR task from start to completion.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2788920"/>
            <a:ext cx="4206240" cy="877824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788920"/>
            <a:ext cx="457200" cy="8778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788920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39512" y="2825496"/>
            <a:ext cx="3584448" cy="368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Resumption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9512" y="3192719"/>
            <a:ext cx="3584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Ti's disk image is copied back to the VM. Ti resumes from where it was interrupted.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6.2.1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Allocation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structure, Cloud Manager Server, and 4 operational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 Four Layers of Cloud Resource Allocation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structure of the cloud resource allocation mechanism consists of four layers. Each layer has a distinct role: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8595360" cy="8046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081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Cloud 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that request computing resources via VMs. They interact with the system through the Internet, accessing services without knowledge of the underlying physical infrastructure.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95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Internet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64261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backbone connecting cloud users to the manager server. Enables service requests and resource status queries to flow between users and provider infrastructure.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859536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182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Manager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Manager Server — the critical control entity. Abstracts server capacities, performs task assignments, monitors resource availability, and optimizes allocation decisions.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14216"/>
            <a:ext cx="8595360" cy="8046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Physical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416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hardware provided by cloud vendors (CPU, memory, disk, network). This is the execution target for all tasks. Performance diversity here makes the cloud system heterogeneous.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6.2.1.2 The Cloud Manager Server — Role &amp; Targets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Manager Server is the central resource management entity in cloud computing. Its target is threefold: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269748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44168"/>
            <a:ext cx="269748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44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5146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computing resources to tasks. Determine which cloud server is best suited for each incoming task based on availability and performance.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1344168"/>
            <a:ext cx="269748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344168"/>
            <a:ext cx="269748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344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Executions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755648"/>
            <a:ext cx="25146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correct order of task executions using DAG dependencies. Ensure precedence constraints are respected throughout the scheduling process.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344168"/>
            <a:ext cx="269748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344168"/>
            <a:ext cx="269748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344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Overheads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755648"/>
            <a:ext cx="25146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overheads from task preparation, task switching (including preemption save/restore), and task termination.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Server Capabilities: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information retrieval — polls availability from all connected cloud providers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 — maps tasks to servers, with or without forwarding to external clouds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interconnection — coordinates messages between Customer and Producer cloud managers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surveillance — monitors execution progress and handles failures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6.2.1.2 Four Steps of Cloud Resource Allocation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four main steps in the cloud resource allocation mechanism for scheduling preemptable tasks: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206240" cy="15087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206240" cy="43891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258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PARTITION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801368"/>
            <a:ext cx="39776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input application into tasks using the DAG method. Sub-tasks form discrete linked processes. The DAG identifies tasks in order of precedence (entry → exit). Example: Application A → Tasks {A,B,C,D,E}.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15087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4206240" cy="4389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SCHEDULE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3447288"/>
            <a:ext cx="39776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partitioned tasks considering timing constraints and preemptable task priorities. The manager server checks cloud resource availability and selects the best-alternative server for each task. This is the most critical step for optimization.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4206240" cy="15087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25880"/>
            <a:ext cx="420624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3258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ASSIGNMENT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18888" y="1801368"/>
            <a:ext cx="39776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 to cloud servers following the completed schedule. Tasks go either to the local cloud or are forwarded to other cloud servers. They enter a queue awaiting execution on the assigned server.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206240" cy="15087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4206240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971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18888" y="3447288"/>
            <a:ext cx="39776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execute on the physical machines of the assigned cloud. Assignment and Execution simply follow the outcome of the Schedule step. Results are returned to the cloud user via VMs.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Schedule step drives system performance. Assignment and Execution simply execute the schedule's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6.2.2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Pull-Push Messaging Modes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 between cloud customers and service producers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6.2.2 Pull Mode vs Push Mode — Concepts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super-node exists in distributed cloud systems. Two messaging modes handle resource status monitoring: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4114800" cy="338328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44168"/>
            <a:ext cx="411480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44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PULL MODE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792224"/>
            <a:ext cx="3931920" cy="28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Customers query producers to get current computing resource status.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cost stays low if query intervals are properly configured.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availability checks before assigning a new task.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earliest available time of each cloud server — without reservation or occupation — to keep queries lightweight.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44168"/>
            <a:ext cx="4114800" cy="338328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44168"/>
            <a:ext cx="411480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44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PUSH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1792224"/>
            <a:ext cx="3931920" cy="28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Producers send status updates to customers when resource state changes.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— customers always have the latest status when the threshold is well-defined.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notifications — producer pushes completion info to the customer after a task finishes.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ONLY pushes after task/application is accomplished. No premature push signals.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6.2.2 Customer, Producer &amp; Combined Pull-Push Execution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preemptable task scheduling, Pull and Push are combined. The key roles: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39319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manager server that assigns a task/application to another cloud manager server. It initiates Pull requests to check resource availability before assigning.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9319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manager server that receives task assignments from a Customer. It executes the task and uses Push to notify the Customer when the task completes.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7706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essential occasions for status updates: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72968"/>
          <a:ext cx="8595360" cy="12268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task assignment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producer availability; decides whether to forward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task completes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Notifies customer the assigned task/application is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Non-Pull execution: After a task is assigned, the customer does NOT send further pull queries for that task — it waits for the Push notification.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6.2.3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Reservation (AR)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Best-Effort (BE) Tasks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 modes — the foundation of preemptable scheduling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6.2.3.1 AR Tasks vs BE Tasks — Definitions &amp; Properties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infrastructure-leasing modes form the basis of preemptable scheduling in cloud computing: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3545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Reservation (AR)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Best-Effort (BE)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reserves resources in advance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follows As-Soon-As-Possible (ASAP)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Known: either 0 (immediate) or a future time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— starts when resources are free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preempt BE 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SUSPENDED when an AR task arrives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in queue only if another AR is running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until an AR interrupts; then resumes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 req.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at scheduling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estimated at scheduling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batch jobs, SLA-guaranteed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processing, lower-priority workloads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AR tasks always have higher priority. When an AR task arrives, any running BE task is immediately suspended and stored to disk until the AR task completes.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6.2.3.1 The Preemption Procedure — Step-by-Step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AR task arrives during a BE task's execution, a 4-phase preemption procedure is triggered: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011680" cy="338328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01168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1325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task starts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81051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 task begins execution on the VM. It runs under normal conditions using the As-Soon-As-Possible principle.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87168" y="1325880"/>
            <a:ext cx="2011680" cy="3383280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325880"/>
            <a:ext cx="2011680" cy="4389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2487168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44368" y="1325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task in progress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78608" y="181051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continues. The grey (completed) portion grows. The task is partially done — its state is live in VM memory.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0016" y="1325880"/>
            <a:ext cx="2011680" cy="338328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325880"/>
            <a:ext cx="201168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700016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1325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task preempts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181051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 task arrives. The VM immediately copies and stores the BE task's disk image to a specific disk space. The AR task's disk image is loaded into the VM.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12864" y="1325880"/>
            <a:ext cx="2011680" cy="3383280"/>
          </a:xfrm>
          <a:prstGeom prst="rect">
            <a:avLst/>
          </a:prstGeom>
          <a:solidFill>
            <a:srgbClr val="FEF2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325880"/>
            <a:ext cx="2011680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0064" y="1325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task resumes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04304" y="181051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AR task completes, the BE task's disk image is copied back. The remainder of the BE task continues execution from the exact suspension point.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image storage ensures zero data loss — the BE task resumes from the exact interrupted state.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1: Preemption — AR and BE Task Analysis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tasks arrive in the following order on a single VM. Task B is a BE task; Tasks A and C are AR tasks.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16736"/>
          <a:ext cx="6400800" cy="1158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 (ET)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0 (ASAP)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487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880360"/>
            <a:ext cx="8412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At t=0, both Task A and Task B are ready. Which runs first and why?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Task C arrives at t=5. Task B is currently running after Task A completed at t=8. Is Task B preempted? Explain your reasoning.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Sketch a timeline showing when each task runs, is suspended, and completes. What is the total completion time?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How would the schedule change if Task C arrived at t=9 instead of t=5? Discuss the impact on Task B.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6.2.3.2–3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&amp;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Parameters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tuples, capacity constraints, EPM, AET, EST, LST, Critical Node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6.2.3.2 Formulating the Resource Allocation Problem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allocation problems can be formulated using mathematical expressions. Two key tools: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8595360" cy="987552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533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Tuple ⟨n, m, d, b⟩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leased VM is described by a 4-tuple: n = #CPUs, m = memory (MB), d = disk (MB), b = bandwidth (MB/s). Assumption: a task requires the same ⟨n,m,d,b⟩ regardless of which VM type it runs 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8595360" cy="1298448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14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6.1 — Server Capacity Constraint: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77977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 has j tasks T₁…Tⱼ. V(Tᵢ) = VMs required by task Tᵢ. R(S) = remaining workload capacity of server 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2487168"/>
            <a:ext cx="2926080" cy="107899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487168"/>
            <a:ext cx="2743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R(S) ≥ Σ V(Tᵢ)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i=1 to j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1024128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856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Formulation T = (V, E):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set of dependent tasks (vertices); E = precedence relations (edges). Entry Task: no predecessor. Exit Task: no successor. Each task is a node; each edge shows which task must finish first.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6.2.3.3 Execution Performance Matrix (EPM)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Performance Matrix (EPM) characterizes computational capacities across tasks and VM types.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8595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16736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Equation 6.2:   |M| = |T × V|   where ET(tᵢ, vⱼ) = execution time of task tᵢ on VM vⱼ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04825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EPM (3 tasks × 3 VM types):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59193"/>
              </p:ext>
            </p:extLst>
          </p:nvPr>
        </p:nvGraphicFramePr>
        <p:xfrm>
          <a:off x="274320" y="2450592"/>
          <a:ext cx="8595360" cy="1127760"/>
        </p:xfrm>
        <a:graphic>
          <a:graphicData uri="http://schemas.openxmlformats.org/drawingml/2006/table">
            <a:tbl>
              <a:tblPr/>
              <a:tblGrid>
                <a:gridCol w="1507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5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Type \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v₁ (High-end)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ET(t₁,v₁)=3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ET(t₂,v₁)=5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ET(t₃,v₁)=2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CPU VM — fastest for compute 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v₂ (Standard)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ET(t₁,v₂)=7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ET(t₂,v₂)=4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ET(t₃,v₂)=6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 — balanced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v₃ (Budget)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ET(t₁,v₃)=9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ET(t₂,v₃)=8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ET(t₃,v₃)=4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cost but slower 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3913632"/>
            <a:ext cx="8595360" cy="868680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3950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EPM is used in scheduling: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42976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scheduling algorithm uses ET(tᵢ, vⱼ) values to compare task execution costs across servers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uses the EPM in round order; CLS and MMSA use it to find the minimum-cost assignment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6.2.3.3 Execution Time Parameters: AET, EST, LST &amp; Critical 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variables characterize task timing in cloud scheduling. These are used by all three algorithms: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16736"/>
            <a:ext cx="411480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16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 — Average Execution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28216"/>
            <a:ext cx="39319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execution time of a task tᵢ across all VMs. Denoted AET(tᵢ).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baseline time estimate when scheduling tasks for the first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16736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16736"/>
            <a:ext cx="411480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16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Node (CN)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28216"/>
            <a:ext cx="39319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where EST = LST (zero slack).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Nodes are on the critical path — delaying them delays the entire application. Priority scheduling uses CN to build the task list 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4114800" cy="1883664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8437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— Equation 6.3: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2186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EST(tᵢ) = max{ EST(tⱼ) + AET(tⱼ) 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for all tⱼ ∈ Predecessors(tᵢ)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9044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A task can only start after all its predecessors have finished. EST selects the LATEST predecessor finish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07208"/>
            <a:ext cx="4114800" cy="1883664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28437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 — Equation 6.4: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2186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LST(tᵢ) = min{ LST(tⱼ) − AET(tᵢ) 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for all tⱼ ∈ Successors(tᵢ)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39044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The latest a task can start without delaying its successors. Exit task's LST equals its EST (no successors). Selects the MINIMUM value.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6.2.3.3 EST &amp; LST Worked Example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DAG: A (entry) → B, A → C, B → D, C → D (exit). AET: A=3, B=4, C=2, D=5. Compute EST and LST for each task.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1556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Compute EST (forward pass):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676141"/>
              </p:ext>
            </p:extLst>
          </p:nvPr>
        </p:nvGraphicFramePr>
        <p:xfrm>
          <a:off x="347472" y="1489710"/>
          <a:ext cx="8595360" cy="14097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Predecessors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 Calculation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(entry)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 (entry task)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EST(A)+AET(A) = 0+3 =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EST(A)+AET(A) = 0+3 =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(exit)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and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max{EST(B)+AET(B), EST(C)+AET(C)} = max{3+4, 3+2} = max{7,5} = 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64345" y="29050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Compute LST (backward pass):</a:t>
            </a:r>
            <a:endParaRPr lang="en-US" sz="14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31544"/>
              </p:ext>
            </p:extLst>
          </p:nvPr>
        </p:nvGraphicFramePr>
        <p:xfrm>
          <a:off x="347472" y="3163960"/>
          <a:ext cx="859536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 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(exit)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EST(D) = 7 (exit: LST=EST)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LST(D)−AET(B) = 7−4 =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LST(D)−AET(C) = 7−2 =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min{LST(B)−AET(A), LST(C)−AET(A)} = min{3−3, 5−3}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A → B → D. Task C has slack = 5−3 = 2 units.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2: Computing EST and LST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5 tasks with the following DAG and AET values. Entry task: P. Exit task: T.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16736"/>
          <a:ext cx="768096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Predecessors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 = 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 = 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(entry)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Q, 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(exit)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9992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401568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Fill in the EST column using a forward pass (Equation 6.3).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Fill in the LST column using a backward pass (Equation 6.4).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Identify all Critical Nodes and explain what they mean for scheduling.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How much scheduling slack does task R have? What does this mean?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(RR)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fair, circular task assignment — the baseline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6.3.1 Round-Robin Algorithm — Description &amp; Steps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Round-Robin (RR) algorithm assigns tasks to cloud servers in a circular order, treating each server equally. No priorities are considered — it follows First-Come-First-Serve.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114800" cy="315468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Priority List P (for RR input):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874520"/>
            <a:ext cx="393192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 empty list P and stack 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Calculate EST and LST for all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Push Critical Node (CN) tasks into stack S, sorted by decreasing LST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While S is not empty: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a. If top of S has un-stacked immediate predecessors → push them 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b. Otherwise pop top of S → append to list 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Repeat until S is empty. Output list 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35608"/>
            <a:ext cx="4114800" cy="315468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Execution Steps: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74520"/>
            <a:ext cx="393192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Cloud manager server marks all available cloud servers in a sequence (1, 2, 3, …, 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Tasks from list P are assigned to the next server in the circular sequence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When one application's tasks finish, the circular order restarts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static resource allocation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list P from DAG priority method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Ensures: simple, equal-weight assignment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easy to implement, broadly applicable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typically not as fast as CLS or MMSA — ignores performance differences between servers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6.3.1.2 Round-Robin Example — 3 Applications, 15 Tasks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applications: App 1 (BE, arrival=0), App 2 (AR, arrival=2), App 3 (AR, arrival=3). 3 cloud servers. List P from DAGs: App1:{A,B,C,E,D}, App2:{F,G,H,I,J}, App3:{K,L,M,O,N}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7863840" cy="1066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\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5786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Assignment Result (Table 6.2 from book) — circular order Cloud 1→2→3→1→…:</a:t>
            </a:r>
            <a:endParaRPr lang="en-US" sz="125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71800"/>
          <a:ext cx="8183880" cy="777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160520"/>
            <a:ext cx="8595360" cy="62179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8"/>
          <p:cNvSpPr/>
          <p:nvPr/>
        </p:nvSpPr>
        <p:spPr>
          <a:xfrm>
            <a:off x="411480" y="416052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Total execution time = 52 units (ended by task D). Task B is suspended at arrival of App 2 (AR). App 2 and 3 preempt App 1 (BE) tasks.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3: Round-Robin Scheduling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RR algorithm on the following exercise from the textbook (§6.6). Two applications: App 1 (BE, arrival=0), App 2 (AR, arrival=7).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08176"/>
          <a:ext cx="8229600" cy="1036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\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6334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999232"/>
            <a:ext cx="8412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Apply the RR algorithm. Fill in the task-to-cloud assignment table (Table 6.7 from textbook): which cloud is assigned to each task?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Compute the execution timeline for all three clouds. When does each task start and finish?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Which BE task (App 1) gets preempted by the AR task (App 2)? At what time does the preemption occur?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is the total execution time with RR? Compare with the CLS result you will compute in Exercise 4.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List Scheduling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(CLS) Algorithm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Greedy-based scheduling with earliest finish time 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6.3.2 Cloud List Scheduling (CLS) — Description &amp; Steps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uses a Greedy strategy to assign listed tasks. Unlike RR, it always selects the server with the highest value (e.g., shortest execution time), not in circular order.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114800" cy="315468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Algorithm Steps: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list P (priority-based), m cloud servers, and an ETM (Execution Time Matrix)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Ensures: static resource allocation plan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list P is not empty: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Pop the first task T from 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Pull server info — find earliest available time for T on each server (via Pull mode)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Based on earliest available times, find the cloud offering the minimum earliest estimated finish time for 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Assign T to that cloud; remove T from 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resource allocation plan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35608"/>
            <a:ext cx="4114800" cy="315468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vs RR Comparison: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1865376"/>
          <a:ext cx="3977640" cy="2392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finish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awareness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(via list 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counted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counted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(52 units in example)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(36 units — 30.8% better)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6.3.2.2 CLS Example — Same DAGs as RR (Table 6.3)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 applications (15 tasks total) and 3 cloud servers as the RR example. Using CLS's Greedy approach (minimum earliest finish time):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Assignment (Table 6.3):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92224"/>
          <a:ext cx="8183880" cy="8001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65515" y="261518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Comparison: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411151"/>
              </p:ext>
            </p:extLst>
          </p:nvPr>
        </p:nvGraphicFramePr>
        <p:xfrm>
          <a:off x="292608" y="2872741"/>
          <a:ext cx="8595360" cy="1066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Execution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time considered?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 (RR)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List Scheduling (CLS)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units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30.77%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4041648"/>
            <a:ext cx="8595360" cy="7315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04164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CLS considers server performance when assigning tasks, leading to a 30.8% reduction in execution time compared to RR — without adding hardware. However, CLS does NOT account for network transfer time between servers. This is addressed by MMSA.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4: Cloud List Scheduling (CLS)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data from Exercise 3 (§6.6, Table 6.6). Apply CLS to the same 2-application problem.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16736"/>
          <a:ext cx="9098280" cy="1066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\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487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852928"/>
            <a:ext cx="8412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Apply the CLS algorithm to assign each task to a cloud server (always select minimum execution time). Fill in the assignment table (Table 6.7, CLS row).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Build the execution timeline for CLS. Compute start and finish times for each task on each cloud.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is the total execution time using CLS? Compare with your RR result from Exercise 3.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Which tasks get better server assignments under CLS vs RR? Where does CLS make the biggest improvement?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Min-Min Scheduling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(MMSA)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Greedy scheduling with transfer time and dynamic task dependence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6.3.3 MMSA — Description &amp; Estimated Finish Time Formula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MMSA extends CLS by accounting for network transfer time between servers — critical in distributed cloud environments.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8595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16736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Equation 6.5:   EFT(tᵢ) = EATᵢⱼ + TTᵢⱼ + ETᵢⱼ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859536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Equation 6.6:   TTᵢⱼ = S(tᵢ) / NB   (disk image size ÷ network bandwidth)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" y="264261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of EFT: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20486"/>
              </p:ext>
            </p:extLst>
          </p:nvPr>
        </p:nvGraphicFramePr>
        <p:xfrm>
          <a:off x="274997" y="2990088"/>
          <a:ext cx="8595360" cy="1127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 includes?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EATᵢⱼ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Available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when cloud j first becomes available for task tᵢ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TTᵢⱼ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transfer task's disk image to cloud j = S(tᵢ)/NB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ETᵢⱼ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for task tᵢ to execute on cloud 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74320" y="4251960"/>
            <a:ext cx="8595360" cy="47548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2793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MMSA key idea: Assign each task tᵢ to server j that offers the minimum EFT — the sum of all three components. Transfer time TTᵢⱼ ensures network overhead is not neglected.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6.3.3 MMSA — Algorithm Steps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MMSA is a dynamic algorithm — the task list P is continuously updated to respect task dependencies.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206240" cy="10515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57200" cy="10515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258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362456"/>
            <a:ext cx="358444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List 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809598"/>
            <a:ext cx="3584448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initial task list P containing all unassigned tasks (derived from the DAG as in RR and CLS).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4206240" cy="10515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96312"/>
            <a:ext cx="457200" cy="10515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496312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532888"/>
            <a:ext cx="358444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unassigned tasks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980030"/>
            <a:ext cx="3584448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there are tasks awaiting assignment, enter the scheduling loop. For each iteration, find the best assignment for ONE task.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4206240" cy="10515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66744"/>
            <a:ext cx="457200" cy="10515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666744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3703320"/>
            <a:ext cx="358444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earliest EAT + TT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4150462"/>
            <a:ext cx="3584448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resource status from all manager servers. For each task and each server, compute EAT + TT — the time when the server is ready AND the task's data has been transferred.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1325880"/>
            <a:ext cx="4206240" cy="10515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325880"/>
            <a:ext cx="457200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3258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9512" y="1362456"/>
            <a:ext cx="358444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minimum EFT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9512" y="1809598"/>
            <a:ext cx="3584448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task, compute EFT = EAT + TT + ET across all servers. Select the server offering the minimum EFT. Preemptable tasks are NOT considered at this selection step.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2496312"/>
            <a:ext cx="4206240" cy="10515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496312"/>
            <a:ext cx="457200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496312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9512" y="2532888"/>
            <a:ext cx="358444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remove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9512" y="2980030"/>
            <a:ext cx="3584448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task to the selected server. Remove it from list P.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666744"/>
            <a:ext cx="4206240" cy="1051560"/>
          </a:xfrm>
          <a:prstGeom prst="rect">
            <a:avLst/>
          </a:prstGeom>
          <a:solidFill>
            <a:srgbClr val="E8F4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666744"/>
            <a:ext cx="457200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3666744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39512" y="3703320"/>
            <a:ext cx="358444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list 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39512" y="4150462"/>
            <a:ext cx="3584448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assigned task and update successor task availability (a successor becomes schedulable once all its predecessors are assigned).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6.3.3.2 MMSA Example — Step 1: Computing EFT for Tasks A &amp; B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input tasks: Task A (BE, arrival=0) and Task B (AR, arrival=7). 3 cloud servers. Mission: assign using MMSA (minimize EFT).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Table (Table 6.4 from book):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92224"/>
          <a:ext cx="7223760" cy="1447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(BE, arrival=0)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(AR, arrival=7)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31173" y="1318260"/>
            <a:ext cx="38980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 Calculation (Equation 6.5: EFT = EAT + TT + ET):</a:t>
            </a:r>
            <a:endParaRPr lang="en-US" sz="13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604982"/>
              </p:ext>
            </p:extLst>
          </p:nvPr>
        </p:nvGraphicFramePr>
        <p:xfrm>
          <a:off x="274320" y="3410712"/>
          <a:ext cx="8595360" cy="1127760"/>
        </p:xfrm>
        <a:graphic>
          <a:graphicData uri="http://schemas.openxmlformats.org/drawingml/2006/table">
            <a:tbl>
              <a:tblPr/>
              <a:tblGrid>
                <a:gridCol w="1900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A: 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A: Calc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B: 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B: Calc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2+2+12=16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8+2+8=18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3+1+9=13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8+1+6=15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3  ← CHOSEN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5+2+4=11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8+2+4=14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4593336"/>
            <a:ext cx="8595360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Task A and Task B are assigned to Cloud 3 (smallest EFT in both cases).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6.3.3.2 MMSA Example — Step 2: Preemption by Task B (AR interrupts BE)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tasks assigned to Cloud 3. Task A (BE) starts first. Task B (AR) arrives at t=7 and preempts.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689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preemption — ideal timeline for Task A at Cloud 3: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136885"/>
              </p:ext>
            </p:extLst>
          </p:nvPr>
        </p:nvGraphicFramePr>
        <p:xfrm>
          <a:off x="355600" y="1458214"/>
          <a:ext cx="8623808" cy="1127760"/>
        </p:xfrm>
        <a:graphic>
          <a:graphicData uri="http://schemas.openxmlformats.org/drawingml/2006/table">
            <a:tbl>
              <a:tblPr/>
              <a:tblGrid>
                <a:gridCol w="1907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4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 (waiting)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t=0 to t=5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units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waits for Cloud 3 to become available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(transfer)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t=5 to t=7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A's data transferred to Cloud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(execution)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t=7 to t=11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executes — EFT = 11 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263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preemption — actual timeline (Task B AR arrives at t=7):</a:t>
            </a:r>
            <a:endParaRPr lang="en-US" sz="13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04925"/>
              </p:ext>
            </p:extLst>
          </p:nvPr>
        </p:nvGraphicFramePr>
        <p:xfrm>
          <a:off x="274320" y="2926334"/>
          <a:ext cx="8705088" cy="1645920"/>
        </p:xfrm>
        <a:graphic>
          <a:graphicData uri="http://schemas.openxmlformats.org/drawingml/2006/table">
            <a:tbl>
              <a:tblPr/>
              <a:tblGrid>
                <a:gridCol w="192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0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— part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t=7 to t=8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executes (1 unit done before preemption)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arrives. Task A suspended &amp; saved to disk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— 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t=8 to t=10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B's data transferred to Cloud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— 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t=10 to t=14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executes and completes at t=14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resumes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t=14 to t=17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of Task A executes. Task A finishes at t=17.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5336" y="4625340"/>
            <a:ext cx="859536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" y="46253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cost: Task A's total time increased from 11 (ideal) to 17 (actual) — an overhead of 6 units caused by Task B's preemption.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5: Min-Min Scheduling Algorithm (MMSA)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 (Task X: BE, arrival=0) and (Task Y: AR, arrival=5). Three cloud servers. Apply MMSA.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78533"/>
              </p:ext>
            </p:extLst>
          </p:nvPr>
        </p:nvGraphicFramePr>
        <p:xfrm>
          <a:off x="274320" y="1316736"/>
          <a:ext cx="7223760" cy="1447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X (BE, arrival=0)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Y (AR, arrival=5)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828544"/>
            <a:ext cx="8595360" cy="188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063240"/>
            <a:ext cx="8412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Compute EFT = EAT + TT + ET for each task on each cloud. Which cloud is selected for X and Y?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Describe the ideal execution timeline for Task X at its assigned cloud (without preemption).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Task Y (AR) arrives at t=5. Is Task X preempted? If yes, sketch the actual timeline with the preemption. What is the total completion time of X?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Compute the preemption overhead (time lost due to preemption). Why does MMSA incur this cost even though it has the shortest EFT?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vs CLS vs MMSA — when to use which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Three-Algorithm Comparison — RR vs CLS vs MMSA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 (RR)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List Scheduling (CLS)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Min-Min Scheduling (MMSA)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list P from DAG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list P from DAG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— P updated after each 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order (1→2→3→1)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Earliest Finish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EFT with transfer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time (TT)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considered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considered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Explicitly 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(book)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units (30.8% better)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accounts for network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AR/BE preemption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dependence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— updates 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O(n·m)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O(n·m) + network pulls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baselines / uniform environments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 clouds, no transfer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clouds with significant transfer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RR is simple but ignores server performance. CLS is greedy and faster (30.8% improvement). MMSA adds transfer time awareness for realistic distributed cloud deployments.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Summary of Key Concepts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tasks can be suspended mid-execution by higher-priority AR tasks and resumed after the AR task finishes — requires VM disk image save/restore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resource allocation has 4 layers (Users, Internet, Manager Server, Physical Infrastructure) and 4 steps: Partition → Schedule → Assignment → Execution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Manager Server orchestrates everything: resource retrieval, task assignment, operation surveillance, and communication via Pull-Push messaging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tasks have higher priority and a known arrival time; BE tasks run As-Soon-As-Possible but are always preemptable by AR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uses: resource tuple ⟨n,m,d,b⟩, capacity constraint R(S) ≥ Σ V(Tᵢ), DAG T=(V,E), and Execution Performance Matrix (EPM)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EST(tᵢ) = max{ EST(tⱼ) + AET(tⱼ) } for predecessors. LST(tᵢ) = min{ LST(tⱼ) − AET(tᵢ) } for successors. CN: EST = LST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(RR): circular assignment, simple, no server performance consideration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List Scheduling (CLS): Greedy, selects minimum finish time — 30.8% faster than RR in the book's example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Min-Min (MMSA): extends CLS with EFT = EAT + TT + ET, accounting for transfer time — best for distributed heterogeneous clouds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Preemptable Algorithm Execution in Mobile Cloud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preemptable task. What condition triggers preemption and how is the BE task's state preserved?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01168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116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04825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4 layers of cloud resource allocation and explain the role of the Manager Server.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83464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346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287121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4 steps of the allocation mechanism? Which step is most critical for optimization?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65760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576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" y="369417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Pull Mode vs Push Mode. When is each used in preemptable task scheduling?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18872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118872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1887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21224" y="122529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AR from BE tasks? Give a real-world example of each.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01168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01168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0116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21224" y="204825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AET(A)=5, AET(B)=3. DAG: A→B. Compute EST(B) and LST(B) if AET(C)=4, C→B→D.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83464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83464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8346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21224" y="287121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CLS algorithm. Why is it faster than RR?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657600"/>
            <a:ext cx="4160520" cy="74980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3657600"/>
            <a:ext cx="34747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21224" y="369417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Equation 6.5 (EFT) and 6.6 (TT). What additional cost does MMSA account for vs CLS?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Chapter 6  ·  MSc Computer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6489</Words>
  <Application>Microsoft Office PowerPoint</Application>
  <PresentationFormat>On-screen Show (16:9)</PresentationFormat>
  <Paragraphs>1068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— Preemptable Algorithm Execution in MCC</dc:title>
  <dc:subject>PptxGenJS Presentation</dc:subject>
  <dc:creator>PptxGenJS</dc:creator>
  <cp:lastModifiedBy>CTS</cp:lastModifiedBy>
  <cp:revision>7</cp:revision>
  <dcterms:created xsi:type="dcterms:W3CDTF">2026-04-15T11:01:49Z</dcterms:created>
  <dcterms:modified xsi:type="dcterms:W3CDTF">2026-04-15T11:28:19Z</dcterms:modified>
</cp:coreProperties>
</file>
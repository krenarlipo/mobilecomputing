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Slides/_rels/notesSlide2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0BA11A6-8ED7-4AEA-8DF6-D88276ECD64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3DE52A-CEA5-4629-AE4F-6B1968FF41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91635D-69AE-4AEB-B855-E0412C93EC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8EC102-8AE9-447C-BD71-6CA5661DD0D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C36ABE-0928-4F54-913E-DDD2B93778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3179E1-FD5D-4974-A298-9A62AE6C84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D42CB1-4F64-4C25-A1FE-AD7A392F1A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72006E-FDB9-49B0-95AD-9F12B4E3D5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295FE3-9734-42A6-8C79-451EFE28425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707A88-3B98-4F4B-A905-6CA361F54E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D231C0-AD64-4111-BB0C-E12D460038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6B8F93-C081-4C1C-ACB4-B81CB457AD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8B42DD-32EE-4289-951A-B566D51181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B090AB-4247-40F8-AE51-69D61B56F0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B7866-43F7-42D8-8D5E-439B3D101A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E9146A-873B-4D64-B690-6A59210573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0A6610-21EA-4BCF-A49A-905670804F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983800-2356-409E-9B1E-D61341F196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AA1738-2B40-492E-AB44-BDAB3FD506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A77E87-C174-4195-BA26-3F06902620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D1CC0F-079F-4054-9FF5-41E45C87833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44C213-E438-4F16-ABD7-AF4EAE1830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3333A8-2AC7-4AB8-9CC0-6D3DAFD12B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DBF053-FBFD-45A7-8E73-FF21188FC6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AE0528-5904-4AE0-B3D2-9EA3B2D7D9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9597DD-E5A7-4250-BAFD-15F06286A2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F1EA72-48C0-4429-8DD8-43B612C463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86E7DB-C21F-472F-A7B5-385A77E484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F17ACF-3F7F-43B4-951D-E399F35966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C8564A-8050-422F-9F3A-BD79B0663C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07E0AC-2D7E-48D6-A312-DD926D32CC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91CA1C-E38F-4790-99C1-3E1F50F2B4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02EC02-98E8-41B1-8473-438AE37A05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3D818B-AC57-419D-AC3C-FA84351489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ADBA06-8ADF-4DE4-A435-56D1F104DA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544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438840"/>
            <a:ext cx="8228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596" strike="noStrike">
                <a:solidFill>
                  <a:srgbClr val="10b981"/>
                </a:solidFill>
                <a:latin typeface="Calibri"/>
                <a:ea typeface="Calibri"/>
              </a:rPr>
              <a:t>MOBILE CLOUD COMPUTING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1005840"/>
            <a:ext cx="82288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Big Data &amp;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Service Computing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  <a:ea typeface="Calibri"/>
              </a:rPr>
              <a:t>in Cloud Computing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3401640"/>
            <a:ext cx="82288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Chapter 7  ·  V3s · MapReduce · Shuffle Optimization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Scientific Master in Computer Engineering  ·  Qiu &amp; Gai (2017)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Chapter 7 — Learning Objectives &amp; Roadmap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274320" y="914400"/>
            <a:ext cx="4114080" cy="3519720"/>
          </a:xfrm>
          <a:prstGeom prst="rect">
            <a:avLst/>
          </a:prstGeom>
          <a:solidFill>
            <a:srgbClr val="fef3c7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11480" y="9601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d97706"/>
                </a:solidFill>
                <a:latin typeface="Calibri"/>
                <a:ea typeface="Calibri"/>
              </a:rPr>
              <a:t>After this chapter you will be able to: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11480" y="1371600"/>
            <a:ext cx="38854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Define Big Data and explain the V3s standard (Volume, Velocity, Variety)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Describe the two main steps of Big Data processing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Explain the operating mechanism of Hadoop MapReduce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Describe the Shuffle phase and why it is a performance bottleneck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Explain Map functions and the IR grouping process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Describe the Reduce-side merge and Network transfer steps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d97706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Understand Phase-Reconfigurable Shuffle Optimization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754880" y="914400"/>
            <a:ext cx="4114080" cy="3519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892040" y="9601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f46"/>
                </a:solidFill>
                <a:latin typeface="Calibri"/>
                <a:ea typeface="Calibri"/>
              </a:rPr>
              <a:t>Chapter Roadmap: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846320" y="137160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577840" y="137160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Introduction — Big Data Context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8275320" y="137160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3–4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4846320" y="171000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7.2.1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5577840" y="171000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Concepts of Big Data &amp; the 3 Vs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8275320" y="171000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5–9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4846320" y="204840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7.2.2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5577840" y="204840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Big Data Processing Pipeline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8275320" y="204840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10–12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4846320" y="238644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5577840" y="23864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Phase-Reconfigurable Shuffle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8275320" y="238644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13–15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4846320" y="272484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7.3.1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3"/>
          <p:cNvSpPr/>
          <p:nvPr/>
        </p:nvSpPr>
        <p:spPr>
          <a:xfrm>
            <a:off x="5577840" y="27248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Spilling &amp; Network in Shuffle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8275320" y="272484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16–20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4846320" y="306324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7.3.1.1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5577840" y="30632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Map Functions in Distributed System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7"/>
          <p:cNvSpPr/>
          <p:nvPr/>
        </p:nvSpPr>
        <p:spPr>
          <a:xfrm>
            <a:off x="8275320" y="306324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21–24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8"/>
          <p:cNvSpPr/>
          <p:nvPr/>
        </p:nvSpPr>
        <p:spPr>
          <a:xfrm>
            <a:off x="4846320" y="340164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7.3.1.2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9"/>
          <p:cNvSpPr/>
          <p:nvPr/>
        </p:nvSpPr>
        <p:spPr>
          <a:xfrm>
            <a:off x="5577840" y="34016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Networks in Shuffle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0"/>
          <p:cNvSpPr/>
          <p:nvPr/>
        </p:nvSpPr>
        <p:spPr>
          <a:xfrm>
            <a:off x="8275320" y="340164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25–26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1"/>
          <p:cNvSpPr/>
          <p:nvPr/>
        </p:nvSpPr>
        <p:spPr>
          <a:xfrm>
            <a:off x="4846320" y="374004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7.3.1.3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2"/>
          <p:cNvSpPr/>
          <p:nvPr/>
        </p:nvSpPr>
        <p:spPr>
          <a:xfrm>
            <a:off x="5577840" y="374004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Reduce Side Operations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3"/>
          <p:cNvSpPr/>
          <p:nvPr/>
        </p:nvSpPr>
        <p:spPr>
          <a:xfrm>
            <a:off x="8275320" y="374004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27–29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4"/>
          <p:cNvSpPr/>
          <p:nvPr/>
        </p:nvSpPr>
        <p:spPr>
          <a:xfrm>
            <a:off x="4846320" y="4078080"/>
            <a:ext cx="685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97706"/>
                </a:solidFill>
                <a:latin typeface="Calibri"/>
                <a:ea typeface="Calibri"/>
              </a:rPr>
              <a:t>—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5"/>
          <p:cNvSpPr/>
          <p:nvPr/>
        </p:nvSpPr>
        <p:spPr>
          <a:xfrm>
            <a:off x="5577840" y="4078080"/>
            <a:ext cx="2651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Summary, Glossary &amp; Review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36"/>
          <p:cNvSpPr/>
          <p:nvPr/>
        </p:nvSpPr>
        <p:spPr>
          <a:xfrm>
            <a:off x="8275320" y="4078080"/>
            <a:ext cx="5479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6257"/>
                </a:solidFill>
                <a:latin typeface="Calibri"/>
                <a:ea typeface="Calibri"/>
              </a:rPr>
              <a:t>30–34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 to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Big Data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Why big data matters and its two core challenges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7.1 Introduction — What Is Big Data?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274320" y="914400"/>
            <a:ext cx="8594640" cy="8038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411480" y="914400"/>
            <a:ext cx="83203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"Big Data is a technical term describing the techniques for retrieving information from large-sized data, usually used for generating value from large volumes of data storage or processing."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274320" y="1828800"/>
            <a:ext cx="4114080" cy="1443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274320" y="1828800"/>
            <a:ext cx="411408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274320" y="18288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Challenge 1 — Speed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84120" y="2249280"/>
            <a:ext cx="38944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Processing huge volumes of data is extremely slow using traditional methods. Distributed parallel processing is required to achieve acceptable data retrieval speeds.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4754880" y="1828800"/>
            <a:ext cx="4114080" cy="1443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4754880" y="1828800"/>
            <a:ext cx="4114080" cy="36504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4754880" y="18288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Challenge 2 — Noise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4864680" y="2249280"/>
            <a:ext cx="38944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Data mining on massive datasets produces large amounts of unexpected or irrelevant information ("Noise"). Filtering noise while maximising accuracy is a major technical problem.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274320" y="3364920"/>
            <a:ext cx="8594640" cy="1169640"/>
          </a:xfrm>
          <a:prstGeom prst="rect">
            <a:avLst/>
          </a:prstGeom>
          <a:solidFill>
            <a:srgbClr val="e8f5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411480" y="341064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f46"/>
                </a:solidFill>
                <a:latin typeface="Calibri"/>
                <a:ea typeface="Calibri"/>
              </a:rPr>
              <a:t>Two Core Tasks Big Data Must Solve: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11480" y="3785760"/>
            <a:ext cx="8320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① </a:t>
            </a: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Speed up computations when data size is huge — distributed parallel computing (Hadoop MapReduce)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② </a:t>
            </a: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Increase accuracy of information retrieval — remove Noise so discovered information is meaningful and valuable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7.2.1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Concepts of Big Data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— </a:t>
            </a: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The V3s Standard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Volume · Velocity · Variety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7.2.1 The V3s — Volume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274320" y="914400"/>
            <a:ext cx="1828080" cy="36568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274320" y="914400"/>
            <a:ext cx="1828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10b981"/>
                </a:solidFill>
                <a:latin typeface="Calibri"/>
                <a:ea typeface="Calibri"/>
              </a:rPr>
              <a:t>V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274320" y="260604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a7f3d0"/>
                </a:solidFill>
                <a:latin typeface="Calibri"/>
                <a:ea typeface="Calibri"/>
              </a:rPr>
              <a:t>OLUME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274320" y="3364920"/>
            <a:ext cx="1828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a7f3d0"/>
                </a:solidFill>
                <a:latin typeface="Calibri"/>
                <a:ea typeface="Calibri"/>
              </a:rPr>
              <a:t>#1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2377440" y="914400"/>
            <a:ext cx="6491520" cy="36568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2514600" y="98748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f46"/>
                </a:solidFill>
                <a:latin typeface="Calibri"/>
                <a:ea typeface="Calibri"/>
              </a:rPr>
              <a:t>Definition: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2514600" y="1371600"/>
            <a:ext cx="62172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Volume refers to the giant quantity of data being generated and stored.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Data is produced at every moment — from human activity, sensors, transactions, and social media.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2514600" y="2148840"/>
            <a:ext cx="6034320" cy="72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2514600" y="233172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Real-World Example: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2514600" y="2715840"/>
            <a:ext cx="6217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Twitter alone generates more than 12 TB of data from over 500 million tweets every single day.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2514600" y="3282840"/>
            <a:ext cx="6034320" cy="72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2514600" y="340164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f46"/>
                </a:solidFill>
                <a:latin typeface="Calibri"/>
                <a:ea typeface="Calibri"/>
              </a:rPr>
              <a:t>Why it matters: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2514600" y="3785760"/>
            <a:ext cx="6217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Traditional databases cannot handle petabyte-scale datasets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Distributed storage (HDFS) and parallel processing (MapReduce) are required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7.2.1 The V3s — Velocity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274320" y="914400"/>
            <a:ext cx="1828080" cy="3656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274320" y="914400"/>
            <a:ext cx="1828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ccfbf1"/>
                </a:solidFill>
                <a:latin typeface="Calibri"/>
                <a:ea typeface="Calibri"/>
              </a:rPr>
              <a:t>V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274320" y="260604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cfbf1"/>
                </a:solidFill>
                <a:latin typeface="Calibri"/>
                <a:ea typeface="Calibri"/>
              </a:rPr>
              <a:t>ELOCITY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274320" y="3364920"/>
            <a:ext cx="1828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cfbf1"/>
                </a:solidFill>
                <a:latin typeface="Calibri"/>
                <a:ea typeface="Calibri"/>
              </a:rPr>
              <a:t>#2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2377440" y="914400"/>
            <a:ext cx="6491520" cy="36568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2514600" y="98748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9488"/>
                </a:solidFill>
                <a:latin typeface="Calibri"/>
                <a:ea typeface="Calibri"/>
              </a:rPr>
              <a:t>Definition: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514600" y="1371600"/>
            <a:ext cx="6217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Velocity refers to the high computational speed required to process data. It relates to how fast data is generated and how quickly it must be processed.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2514600" y="2103120"/>
            <a:ext cx="6034320" cy="72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2514600" y="226764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Real-World Example: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2514600" y="2651760"/>
            <a:ext cx="6217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Machine-to-machine data exchange occurs among billions of IoT devices simultaneously. Data exchange efficiency is critical for satisfying real-time service demands.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2514600" y="3255120"/>
            <a:ext cx="6034320" cy="72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2514600" y="338328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9488"/>
                </a:solidFill>
                <a:latin typeface="Calibri"/>
                <a:ea typeface="Calibri"/>
              </a:rPr>
              <a:t>Why it matters: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2514600" y="3767400"/>
            <a:ext cx="62172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Users care about both accuracy AND processing efficiency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Real-time applications (streaming, autonomous vehicles) require near-instant response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7.2.1 The V3s — Variety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274320" y="914400"/>
            <a:ext cx="1828080" cy="365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274320" y="914400"/>
            <a:ext cx="18280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ede9fe"/>
                </a:solidFill>
                <a:latin typeface="Calibri"/>
                <a:ea typeface="Calibri"/>
              </a:rPr>
              <a:t>V</a:t>
            </a:r>
            <a:endParaRPr b="0" lang="en-US" sz="9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274320" y="260604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de9fe"/>
                </a:solidFill>
                <a:latin typeface="Calibri"/>
                <a:ea typeface="Calibri"/>
              </a:rPr>
              <a:t>ARIETY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274320" y="3364920"/>
            <a:ext cx="1828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de9fe"/>
                </a:solidFill>
                <a:latin typeface="Calibri"/>
                <a:ea typeface="Calibri"/>
              </a:rPr>
              <a:t>#3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2377440" y="914400"/>
            <a:ext cx="6491520" cy="36568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2514600" y="987480"/>
            <a:ext cx="6217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7c3aed"/>
                </a:solidFill>
                <a:latin typeface="Calibri"/>
                <a:ea typeface="Calibri"/>
              </a:rPr>
              <a:t>Definition: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514600" y="1371600"/>
            <a:ext cx="6217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Variety refers to the dramatic diversity of data types. Data can be structured, semi-structured, or unstructured — from numbers to text, images, and video.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9" name="Table 0"/>
          <p:cNvGraphicFramePr/>
          <p:nvPr/>
        </p:nvGraphicFramePr>
        <p:xfrm>
          <a:off x="2377440" y="2057400"/>
          <a:ext cx="6491880" cy="181872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19456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Data Type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Examples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Challenge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Structured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SQL databases, spreadsheets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Easy to process — traditional DBs handle this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Semi-structured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JSON, XML, CSV, emails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Requires parsing and schema inference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Unstructured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Images, video, social media 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Hardest — no predefined schema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0" name="Shape 12"/>
          <p:cNvSpPr/>
          <p:nvPr/>
        </p:nvSpPr>
        <p:spPr>
          <a:xfrm>
            <a:off x="2652120" y="1298880"/>
            <a:ext cx="6034320" cy="72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2514600" y="3584520"/>
            <a:ext cx="6217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7c3aed"/>
                </a:solidFill>
                <a:latin typeface="Calibri"/>
                <a:ea typeface="Calibri"/>
              </a:rPr>
              <a:t>Why it matters: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2514600" y="3931920"/>
            <a:ext cx="617220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Traditional databases were built for limited volumes of structured data with predictable schemas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Big Data frameworks must handle a broad mixture of many types simultaneously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7.2.1 The V3s Standard — Why Cloud Computing is Essential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8" name="Table 0"/>
          <p:cNvGraphicFramePr/>
          <p:nvPr/>
        </p:nvGraphicFramePr>
        <p:xfrm>
          <a:off x="274320" y="785880"/>
          <a:ext cx="8595000" cy="2419200"/>
        </p:xfrm>
        <a:graphic>
          <a:graphicData uri="http://schemas.openxmlformats.org/drawingml/2006/table">
            <a:tbl>
              <a:tblPr/>
              <a:tblGrid>
                <a:gridCol w="1920240"/>
                <a:gridCol w="633600"/>
                <a:gridCol w="2932560"/>
                <a:gridCol w="3108960"/>
              </a:tblGrid>
              <a:tr h="329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Characteristic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Key Question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Cloud Solution</a:t>
                      </a:r>
                      <a:endParaRPr b="0" lang="en-US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</a:tr>
              <a:tr h="792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Volume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How MUCH?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Can we store and access petabytes of data?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HDFS — Hadoop Distributed File System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6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Velocity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How FAST?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Can we process data as fast as it arrives?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MapReduce — parallel distributed processing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592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Variety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How DIVERSE?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Can we process structured and unstructured data?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Flexible cloud data pipelines</a:t>
                      </a:r>
                      <a:endParaRPr b="0" lang="en-US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9" name="Shape 5"/>
          <p:cNvSpPr/>
          <p:nvPr/>
        </p:nvSpPr>
        <p:spPr>
          <a:xfrm>
            <a:off x="228600" y="4727880"/>
            <a:ext cx="8594640" cy="72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274320" y="2743200"/>
            <a:ext cx="8594640" cy="35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274320" y="3182040"/>
            <a:ext cx="2696760" cy="1480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274320" y="3204720"/>
            <a:ext cx="269676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365760" y="31820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On-Demand Scalability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365760" y="3584520"/>
            <a:ext cx="251388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Cloud resources can be scaled up or down elastically as data volumes fluctuate — no pre-purchasing of hardware.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1"/>
          <p:cNvSpPr/>
          <p:nvPr/>
        </p:nvSpPr>
        <p:spPr>
          <a:xfrm>
            <a:off x="3154680" y="3182040"/>
            <a:ext cx="2696760" cy="1480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2"/>
          <p:cNvSpPr/>
          <p:nvPr/>
        </p:nvSpPr>
        <p:spPr>
          <a:xfrm>
            <a:off x="3154680" y="3182040"/>
            <a:ext cx="269676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3246120" y="31820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Cost Efficiency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3246120" y="3584520"/>
            <a:ext cx="251388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Pay-per-use model prevents over-provisioning. Unused capacity can be released immediately.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6035040" y="3182040"/>
            <a:ext cx="2696760" cy="1480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6035040" y="3182040"/>
            <a:ext cx="269676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6126480" y="3182040"/>
            <a:ext cx="2513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Distributed 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6126480" y="3584520"/>
            <a:ext cx="251388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MapReduce jobs can span hundreds or thousands of cloud VMs in parallel, drastically reducing processing time.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7.2.2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Big Data Processing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Pipeline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Integrating Data + Hadoop MapReduce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7.2.2 Big Data Processing — Two Main Steps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274320" y="914400"/>
            <a:ext cx="8594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Big data processing follows two main sequential steps. The output of Step 1 directly feeds into Step 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274320" y="1389960"/>
            <a:ext cx="4114080" cy="32727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274320" y="1389960"/>
            <a:ext cx="4114080" cy="41976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384120" y="1389960"/>
            <a:ext cx="3894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Step 1 — Integrating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384120" y="1865520"/>
            <a:ext cx="3858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Prepares raw data for MapReduce processing.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384120" y="2267640"/>
            <a:ext cx="3858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Sub-step A: Map the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384120" y="2587680"/>
            <a:ext cx="385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Extract data features, find connections between data sources. Identify structure and relationships.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384120" y="3127320"/>
            <a:ext cx="3858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97706"/>
                </a:solidFill>
                <a:latin typeface="Calibri"/>
                <a:ea typeface="Calibri"/>
              </a:rPr>
              <a:t>Sub-step B: Transform the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384120" y="3456360"/>
            <a:ext cx="385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Convert mapped data into a processable format. Subdivide data into chunks suitable for Hadoop MapReduce.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384120" y="3986640"/>
            <a:ext cx="3858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4a6257"/>
                </a:solidFill>
                <a:latin typeface="Calibri"/>
                <a:ea typeface="Calibri"/>
              </a:rPr>
              <a:t>Output: formatted data chunks ready for MapReduce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4242600" y="2560320"/>
            <a:ext cx="6487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65f46"/>
                </a:solidFill>
                <a:latin typeface="Calibri"/>
                <a:ea typeface="Calibri"/>
              </a:rPr>
              <a:t>→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6"/>
          <p:cNvSpPr/>
          <p:nvPr/>
        </p:nvSpPr>
        <p:spPr>
          <a:xfrm>
            <a:off x="4800960" y="1389960"/>
            <a:ext cx="4114080" cy="32727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7"/>
          <p:cNvSpPr/>
          <p:nvPr/>
        </p:nvSpPr>
        <p:spPr>
          <a:xfrm>
            <a:off x="4754880" y="1389960"/>
            <a:ext cx="4114080" cy="4197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4864680" y="1389960"/>
            <a:ext cx="3894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Step 2 — Hadoop MapReduce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9"/>
          <p:cNvSpPr/>
          <p:nvPr/>
        </p:nvSpPr>
        <p:spPr>
          <a:xfrm>
            <a:off x="4864680" y="1865520"/>
            <a:ext cx="3858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The core data processing engine for big data.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4864680" y="2267640"/>
            <a:ext cx="3858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Sub-step A: Create MapReduce jobs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4864680" y="2587680"/>
            <a:ext cx="385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Build Hadoop MapReduce jobs from the outputs of the Integrating Data step. Each job defines Map and Reduce tasks.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4864680" y="3127320"/>
            <a:ext cx="38581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Sub-step B: Execute and generate output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4864680" y="3456360"/>
            <a:ext cx="385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Run Hadoop MapReduce jobs across distributed nodes. Generate final ordered output from multiple data sources.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4864680" y="3986640"/>
            <a:ext cx="38581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4a6257"/>
                </a:solidFill>
                <a:latin typeface="Calibri"/>
                <a:ea typeface="Calibri"/>
              </a:rPr>
              <a:t>Output: ordered, processed data ready for analysis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7.2.2 MapReduce — Operating Mechanism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274320" y="914400"/>
            <a:ext cx="8594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Hadoop MapReduce processes data through three sequential phases. Each phase is parallelised across distributed nodes.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274320" y="1389960"/>
            <a:ext cx="2696760" cy="32180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274320" y="1389960"/>
            <a:ext cx="2696760" cy="4564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365760" y="1389960"/>
            <a:ext cx="2513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MAP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384120" y="1892880"/>
            <a:ext cx="24865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Reads input data chunks from HDFS. Applies mapping function to each record.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Outputs key-value pairs as Intermediate Results (IR) into memory buffer.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When buffer is full: sorts IR data → splits into files → stores on local disk.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2971800" y="2423160"/>
            <a:ext cx="182160" cy="200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2980800" y="2395800"/>
            <a:ext cx="163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alibri"/>
                <a:ea typeface="Calibri"/>
              </a:rPr>
              <a:t>▶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2"/>
          <p:cNvSpPr/>
          <p:nvPr/>
        </p:nvSpPr>
        <p:spPr>
          <a:xfrm>
            <a:off x="3154680" y="1389960"/>
            <a:ext cx="2696760" cy="32180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3154680" y="1389960"/>
            <a:ext cx="2696760" cy="4564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3246120" y="1389960"/>
            <a:ext cx="2513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SHUFFLE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3264480" y="1892880"/>
            <a:ext cx="24865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Operates between Map and Reduce.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Includes: sorting, grouping, and HTTP transferring.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Groups all IR data with the same key value together.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Transfers grouped files to remote ReduceTrackers over the network.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6"/>
          <p:cNvSpPr/>
          <p:nvPr/>
        </p:nvSpPr>
        <p:spPr>
          <a:xfrm>
            <a:off x="5852160" y="2423160"/>
            <a:ext cx="182160" cy="200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5861160" y="2395800"/>
            <a:ext cx="163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alibri"/>
                <a:ea typeface="Calibri"/>
              </a:rPr>
              <a:t>▶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6035040" y="1389960"/>
            <a:ext cx="2696760" cy="32180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6035040" y="1389960"/>
            <a:ext cx="2696760" cy="456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6126480" y="1389960"/>
            <a:ext cx="2513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REDUCE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6144840" y="1892880"/>
            <a:ext cx="248652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Receives grouped IR data from multiple MapTrackers.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Merges multiple grouped files into a single sequence.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Applies the reduce function to each group.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80" spc="-1" strike="noStrike">
                <a:solidFill>
                  <a:srgbClr val="1a2e27"/>
                </a:solidFill>
                <a:latin typeface="Calibri"/>
                <a:ea typeface="Calibri"/>
              </a:rPr>
              <a:t>Outputs the final processed result.</a:t>
            </a:r>
            <a:endParaRPr b="0" lang="en-US" sz="11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274320" y="4681800"/>
            <a:ext cx="8594640" cy="20052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3"/>
          <p:cNvSpPr/>
          <p:nvPr/>
        </p:nvSpPr>
        <p:spPr>
          <a:xfrm>
            <a:off x="320040" y="4681800"/>
            <a:ext cx="8503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Input: multiple heterogeneous data sources  →  Output: single ordered, processed dataset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Phase-Reconfigurable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Shuffle Optimization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Why the Shuffle is the key bottleneck in Hadoop MapReduce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 The Shuffle Phase — Definition &amp; Bottleneck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274320" y="914400"/>
            <a:ext cx="8594640" cy="730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402480" y="914400"/>
            <a:ext cx="8338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onsolas"/>
                <a:ea typeface="Consolas"/>
              </a:rPr>
              <a:t>Shuffle: a group of procedures operated between Map and Reduce, including sorting, grouping, and HTTP transferring of Intermediate Results (IR)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274320" y="1755720"/>
            <a:ext cx="8594640" cy="38340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411480" y="175572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c2626"/>
                </a:solidFill>
                <a:latin typeface="Calibri"/>
                <a:ea typeface="Calibri"/>
              </a:rPr>
              <a:t>Why Shuffle is the bottleneck: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274320" y="2231280"/>
            <a:ext cx="4205520" cy="11332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274320" y="2231280"/>
            <a:ext cx="72360" cy="11332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457200" y="2286000"/>
            <a:ext cx="3912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Disk I/O Intensive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457200" y="2633400"/>
            <a:ext cx="39128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IR files must be written to local disks, read back, sorted, and then re-written. This disk I/O is slow and time-consuming — it consumes ~1/3 of total MapReduce execution time.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274320" y="3493080"/>
            <a:ext cx="4205520" cy="11332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274320" y="3493080"/>
            <a:ext cx="72360" cy="11332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457200" y="3547800"/>
            <a:ext cx="3912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Network Transfer Overhead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457200" y="3895200"/>
            <a:ext cx="39128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MapTrackers and ReduceTrackers are on distributed nodes. IR data must be transferred across the network via HTTP, causing delays — especially for heavy workloads communicating long-distance.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7"/>
          <p:cNvSpPr/>
          <p:nvPr/>
        </p:nvSpPr>
        <p:spPr>
          <a:xfrm>
            <a:off x="4709160" y="2231280"/>
            <a:ext cx="4205520" cy="11332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8"/>
          <p:cNvSpPr/>
          <p:nvPr/>
        </p:nvSpPr>
        <p:spPr>
          <a:xfrm>
            <a:off x="4709160" y="2231280"/>
            <a:ext cx="72360" cy="11332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892040" y="2286000"/>
            <a:ext cx="3912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Blocking Dependencies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4892040" y="2633400"/>
            <a:ext cx="39128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Copying large amounts of data to remote nodes causes those nodes to stop and wait for data retrieval. This blocking stalls the entire pipeline.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1"/>
          <p:cNvSpPr/>
          <p:nvPr/>
        </p:nvSpPr>
        <p:spPr>
          <a:xfrm>
            <a:off x="4709160" y="3493080"/>
            <a:ext cx="4205520" cy="11332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2"/>
          <p:cNvSpPr/>
          <p:nvPr/>
        </p:nvSpPr>
        <p:spPr>
          <a:xfrm>
            <a:off x="4709160" y="3493080"/>
            <a:ext cx="72360" cy="11332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4892040" y="3547800"/>
            <a:ext cx="3912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Poor Locality Awareness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4"/>
          <p:cNvSpPr/>
          <p:nvPr/>
        </p:nvSpPr>
        <p:spPr>
          <a:xfrm>
            <a:off x="4892040" y="3895200"/>
            <a:ext cx="391284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Current MapReduce barely considers node positions. Heavy workloads may end up at distant nodes while nearby nodes handle lighter tasks — resulting in inefficient network utilisation.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16"/>
          <p:cNvSpPr/>
          <p:nvPr/>
        </p:nvSpPr>
        <p:spPr>
          <a:xfrm>
            <a:off x="72720" y="3816720"/>
            <a:ext cx="8594640" cy="9140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 Three Steps in a Typical Shuffle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274320" y="914400"/>
            <a:ext cx="8594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A typical Shuffle operation consists of three major steps, executed sequentially across the distributed cluster: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274320" y="1298160"/>
            <a:ext cx="8594640" cy="11336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274320" y="1389960"/>
            <a:ext cx="474840" cy="10418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274320" y="1389960"/>
            <a:ext cx="47484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5715000" y="2057400"/>
            <a:ext cx="793620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Map-Side Shuffle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841320" y="1371600"/>
            <a:ext cx="7936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Executed on the MapTracker nodes after the Map phase completes. Involves: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Sort the IR data in memory by key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Spill sorted data to local disk when buffer is full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Group split files by key value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Create output files ready for transfer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274320" y="2560320"/>
            <a:ext cx="8594640" cy="1041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274320" y="2560320"/>
            <a:ext cx="474840" cy="10418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3"/>
          <p:cNvSpPr/>
          <p:nvPr/>
        </p:nvSpPr>
        <p:spPr>
          <a:xfrm>
            <a:off x="274320" y="2560320"/>
            <a:ext cx="47484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841320" y="2615040"/>
            <a:ext cx="793620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Networking (Transfer)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841320" y="3081600"/>
            <a:ext cx="793620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Transfers the grouped IR output files from MapTrackers to the appropriate ReduceTrackers. Uses HTTP connections over tree-type network topology. Most time-consuming part due to distributed node positions.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7"/>
          <p:cNvSpPr/>
          <p:nvPr/>
        </p:nvSpPr>
        <p:spPr>
          <a:xfrm>
            <a:off x="274320" y="3730680"/>
            <a:ext cx="474840" cy="1041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8"/>
          <p:cNvSpPr/>
          <p:nvPr/>
        </p:nvSpPr>
        <p:spPr>
          <a:xfrm>
            <a:off x="274320" y="3730680"/>
            <a:ext cx="474840" cy="10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2971800" y="3657600"/>
            <a:ext cx="205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Reduce-Side Shuffle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0"/>
          <p:cNvSpPr/>
          <p:nvPr/>
        </p:nvSpPr>
        <p:spPr>
          <a:xfrm>
            <a:off x="841320" y="3886200"/>
            <a:ext cx="830232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Executed on the ReduceTracker nodes before the Reduce phase begins. Involves: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Receive IR files from multiple MapTrackers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Merge all IR data with the same key into a single sorted sequence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Pass merged data to the Reduce function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1"/>
          <p:cNvSpPr/>
          <p:nvPr/>
        </p:nvSpPr>
        <p:spPr>
          <a:xfrm>
            <a:off x="274320" y="4681800"/>
            <a:ext cx="8594640" cy="20052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320040" y="4681800"/>
            <a:ext cx="8503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Two main operations across all steps: (1) Split or merge IR data  (2) Fetch IR data from different remote nodes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 HDFS &amp; the Data Split-Send Process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5"/>
          <p:cNvSpPr/>
          <p:nvPr/>
        </p:nvSpPr>
        <p:spPr>
          <a:xfrm>
            <a:off x="274320" y="914400"/>
            <a:ext cx="8594640" cy="6210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6"/>
          <p:cNvSpPr/>
          <p:nvPr/>
        </p:nvSpPr>
        <p:spPr>
          <a:xfrm>
            <a:off x="411480" y="914400"/>
            <a:ext cx="83203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Hadoop Distributed File System (HDFS): provides two functions in MapReduce — (1) Data Supplication and (2) Intermediate Result (IR) Caching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7"/>
          <p:cNvSpPr/>
          <p:nvPr/>
        </p:nvSpPr>
        <p:spPr>
          <a:xfrm>
            <a:off x="274320" y="162756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27"/>
                </a:solidFill>
                <a:latin typeface="Calibri"/>
                <a:ea typeface="Calibri"/>
              </a:rPr>
              <a:t>The Data Split-Send Process — 3 Steps: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8"/>
          <p:cNvSpPr/>
          <p:nvPr/>
        </p:nvSpPr>
        <p:spPr>
          <a:xfrm>
            <a:off x="274320" y="2084760"/>
            <a:ext cx="8594640" cy="8222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9"/>
          <p:cNvSpPr/>
          <p:nvPr/>
        </p:nvSpPr>
        <p:spPr>
          <a:xfrm>
            <a:off x="274320" y="2084760"/>
            <a:ext cx="474840" cy="8222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0"/>
          <p:cNvSpPr/>
          <p:nvPr/>
        </p:nvSpPr>
        <p:spPr>
          <a:xfrm>
            <a:off x="274320" y="2084760"/>
            <a:ext cx="474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11"/>
          <p:cNvSpPr/>
          <p:nvPr/>
        </p:nvSpPr>
        <p:spPr>
          <a:xfrm>
            <a:off x="841320" y="2139840"/>
            <a:ext cx="7936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List data block locations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2"/>
          <p:cNvSpPr/>
          <p:nvPr/>
        </p:nvSpPr>
        <p:spPr>
          <a:xfrm>
            <a:off x="841320" y="2496240"/>
            <a:ext cx="7936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Send a file inquiry to the NameNode. Receive a list of all data block locations. The NameNode knows where every chunk of data resides in the distributed cluster.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3"/>
          <p:cNvSpPr/>
          <p:nvPr/>
        </p:nvSpPr>
        <p:spPr>
          <a:xfrm>
            <a:off x="274320" y="3017520"/>
            <a:ext cx="8594640" cy="8222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4"/>
          <p:cNvSpPr/>
          <p:nvPr/>
        </p:nvSpPr>
        <p:spPr>
          <a:xfrm>
            <a:off x="274320" y="3017520"/>
            <a:ext cx="474840" cy="8222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5"/>
          <p:cNvSpPr/>
          <p:nvPr/>
        </p:nvSpPr>
        <p:spPr>
          <a:xfrm>
            <a:off x="274320" y="3017520"/>
            <a:ext cx="474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6"/>
          <p:cNvSpPr/>
          <p:nvPr/>
        </p:nvSpPr>
        <p:spPr>
          <a:xfrm>
            <a:off x="841320" y="3072240"/>
            <a:ext cx="7936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Divide into chunks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17"/>
          <p:cNvSpPr/>
          <p:nvPr/>
        </p:nvSpPr>
        <p:spPr>
          <a:xfrm>
            <a:off x="841320" y="3429000"/>
            <a:ext cx="79362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Divide data blocks into smaller-sized chunks. Each MapTracker receives its assigned chunk. The local Map function iteration begins when MapReducers receive the divided data block chunks.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8"/>
          <p:cNvSpPr/>
          <p:nvPr/>
        </p:nvSpPr>
        <p:spPr>
          <a:xfrm>
            <a:off x="274320" y="3950280"/>
            <a:ext cx="8594640" cy="8222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19"/>
          <p:cNvSpPr/>
          <p:nvPr/>
        </p:nvSpPr>
        <p:spPr>
          <a:xfrm>
            <a:off x="274320" y="3950280"/>
            <a:ext cx="474840" cy="8222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20"/>
          <p:cNvSpPr/>
          <p:nvPr/>
        </p:nvSpPr>
        <p:spPr>
          <a:xfrm>
            <a:off x="274320" y="3950280"/>
            <a:ext cx="474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21"/>
          <p:cNvSpPr/>
          <p:nvPr/>
        </p:nvSpPr>
        <p:spPr>
          <a:xfrm>
            <a:off x="2514600" y="3950280"/>
            <a:ext cx="7936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Buffer → Disk (Spill)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2"/>
          <p:cNvSpPr/>
          <p:nvPr/>
        </p:nvSpPr>
        <p:spPr>
          <a:xfrm>
            <a:off x="914400" y="4114800"/>
            <a:ext cx="786312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As the Map function executes, IR data is concurrently added to a memory buffer. If the buffer fills up, the buffer contents are temporarily spilled (written) to local disk as split files awaiting transfer to remote ReduceTrackers.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3"/>
          <p:cNvSpPr/>
          <p:nvPr/>
        </p:nvSpPr>
        <p:spPr>
          <a:xfrm>
            <a:off x="274320" y="4681800"/>
            <a:ext cx="8594640" cy="20052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24"/>
          <p:cNvSpPr/>
          <p:nvPr/>
        </p:nvSpPr>
        <p:spPr>
          <a:xfrm>
            <a:off x="320040" y="4681800"/>
            <a:ext cx="8503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Key insight: The buffer-spill mechanism is the primary cause of disk I/O overhead in the Map-Side Shuffle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7.3.1.1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Map Functions in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Distributed System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The detailed steps of Map: buffer → sort → split → group → output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7.3.1.1 Map Functions — Step-by-Step Algorithm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274320" y="914400"/>
            <a:ext cx="8594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The Map phase is the first procedure of MapReduce. It transforms raw input records into sorted, grouped Intermediate Result (IR) files ready for the Reduce phase.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6"/>
          <p:cNvSpPr/>
          <p:nvPr/>
        </p:nvSpPr>
        <p:spPr>
          <a:xfrm>
            <a:off x="274320" y="1508760"/>
            <a:ext cx="4205520" cy="913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274320" y="1508760"/>
            <a:ext cx="474840" cy="9136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274320" y="1508760"/>
            <a:ext cx="474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①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841320" y="1416600"/>
            <a:ext cx="3528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Read &amp; Map to buffer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841320" y="1901880"/>
            <a:ext cx="3528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Map function reads input data records. For each record, applies the mapping function and produces key-value pairs. IR data is added to a memory buffer concurrently as processing occurs.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1"/>
          <p:cNvSpPr/>
          <p:nvPr/>
        </p:nvSpPr>
        <p:spPr>
          <a:xfrm>
            <a:off x="274320" y="2551320"/>
            <a:ext cx="4205520" cy="913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2"/>
          <p:cNvSpPr/>
          <p:nvPr/>
        </p:nvSpPr>
        <p:spPr>
          <a:xfrm>
            <a:off x="274320" y="2551320"/>
            <a:ext cx="474840" cy="9136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274320" y="2551320"/>
            <a:ext cx="474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②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4"/>
          <p:cNvSpPr/>
          <p:nvPr/>
        </p:nvSpPr>
        <p:spPr>
          <a:xfrm>
            <a:off x="841320" y="2606040"/>
            <a:ext cx="3528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Buffer full → Sort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5"/>
          <p:cNvSpPr/>
          <p:nvPr/>
        </p:nvSpPr>
        <p:spPr>
          <a:xfrm>
            <a:off x="841320" y="2944440"/>
            <a:ext cx="3528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When the memory buffer is full, a background thread executes a sorting operation on the buffered data. IR data is sorted by key value within the buffer.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6"/>
          <p:cNvSpPr/>
          <p:nvPr/>
        </p:nvSpPr>
        <p:spPr>
          <a:xfrm>
            <a:off x="274320" y="3593520"/>
            <a:ext cx="4205520" cy="913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7"/>
          <p:cNvSpPr/>
          <p:nvPr/>
        </p:nvSpPr>
        <p:spPr>
          <a:xfrm>
            <a:off x="274320" y="3593520"/>
            <a:ext cx="474840" cy="913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8"/>
          <p:cNvSpPr/>
          <p:nvPr/>
        </p:nvSpPr>
        <p:spPr>
          <a:xfrm>
            <a:off x="274320" y="3593520"/>
            <a:ext cx="474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③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19"/>
          <p:cNvSpPr/>
          <p:nvPr/>
        </p:nvSpPr>
        <p:spPr>
          <a:xfrm>
            <a:off x="841320" y="3648600"/>
            <a:ext cx="3528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97706"/>
                </a:solidFill>
                <a:latin typeface="Calibri"/>
                <a:ea typeface="Calibri"/>
              </a:rPr>
              <a:t>Spill to local disk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0"/>
          <p:cNvSpPr/>
          <p:nvPr/>
        </p:nvSpPr>
        <p:spPr>
          <a:xfrm>
            <a:off x="841320" y="3986640"/>
            <a:ext cx="3528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Sorted data is written (spilled) from the buffer to local disk as split files. Multiple split files may accumulate on disk as mapping continues on large datasets.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1"/>
          <p:cNvSpPr/>
          <p:nvPr/>
        </p:nvSpPr>
        <p:spPr>
          <a:xfrm>
            <a:off x="4709160" y="1508760"/>
            <a:ext cx="4205520" cy="1005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2"/>
          <p:cNvSpPr/>
          <p:nvPr/>
        </p:nvSpPr>
        <p:spPr>
          <a:xfrm>
            <a:off x="4709160" y="1508760"/>
            <a:ext cx="474840" cy="91368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3"/>
          <p:cNvSpPr/>
          <p:nvPr/>
        </p:nvSpPr>
        <p:spPr>
          <a:xfrm>
            <a:off x="4709160" y="1508760"/>
            <a:ext cx="474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④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4"/>
          <p:cNvSpPr/>
          <p:nvPr/>
        </p:nvSpPr>
        <p:spPr>
          <a:xfrm>
            <a:off x="5340240" y="1416600"/>
            <a:ext cx="3528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a580c"/>
                </a:solidFill>
                <a:latin typeface="Calibri"/>
                <a:ea typeface="Calibri"/>
              </a:rPr>
              <a:t>Group split files by key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5"/>
          <p:cNvSpPr/>
          <p:nvPr/>
        </p:nvSpPr>
        <p:spPr>
          <a:xfrm>
            <a:off x="5276160" y="1901880"/>
            <a:ext cx="35287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After mapping finishes, a Group operation combines all split files. IR data with the same key value across all split files are grouped together. This enables a specific order of all IR in each group.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6"/>
          <p:cNvSpPr/>
          <p:nvPr/>
        </p:nvSpPr>
        <p:spPr>
          <a:xfrm>
            <a:off x="4709160" y="2743200"/>
            <a:ext cx="4205520" cy="11430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7"/>
          <p:cNvSpPr/>
          <p:nvPr/>
        </p:nvSpPr>
        <p:spPr>
          <a:xfrm>
            <a:off x="4709160" y="2743200"/>
            <a:ext cx="474840" cy="914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8"/>
          <p:cNvSpPr/>
          <p:nvPr/>
        </p:nvSpPr>
        <p:spPr>
          <a:xfrm>
            <a:off x="4709160" y="2551320"/>
            <a:ext cx="4748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⑤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9"/>
          <p:cNvSpPr/>
          <p:nvPr/>
        </p:nvSpPr>
        <p:spPr>
          <a:xfrm>
            <a:off x="5276880" y="2514600"/>
            <a:ext cx="363852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alibri"/>
                <a:ea typeface="Calibri"/>
              </a:rPr>
              <a:t>Send output to ReduceTracker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0"/>
          <p:cNvSpPr/>
          <p:nvPr/>
        </p:nvSpPr>
        <p:spPr>
          <a:xfrm>
            <a:off x="5276160" y="2944440"/>
            <a:ext cx="352872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Grouped output files are sent from the MapTracker to the remote ReduceTracker nodes over the network. Each ReduceTracker receives the IR data for the keys it is responsible for processing.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7.3.1.1 Map Functions — Key Concepts &amp; Definitions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274320" y="91440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6"/>
          <p:cNvSpPr/>
          <p:nvPr/>
        </p:nvSpPr>
        <p:spPr>
          <a:xfrm>
            <a:off x="274320" y="914400"/>
            <a:ext cx="420552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384120" y="91440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MapTracker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384120" y="131688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The worker node that executes the Map function. Each MapTracker processes one data chunk. Multiple MapTrackers run in parallel across the cluster.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9"/>
          <p:cNvSpPr/>
          <p:nvPr/>
        </p:nvSpPr>
        <p:spPr>
          <a:xfrm>
            <a:off x="274320" y="226764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0"/>
          <p:cNvSpPr/>
          <p:nvPr/>
        </p:nvSpPr>
        <p:spPr>
          <a:xfrm>
            <a:off x="274320" y="2267640"/>
            <a:ext cx="4205520" cy="3650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1"/>
          <p:cNvSpPr/>
          <p:nvPr/>
        </p:nvSpPr>
        <p:spPr>
          <a:xfrm>
            <a:off x="384120" y="226764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Intermediate Result (IR)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2"/>
          <p:cNvSpPr/>
          <p:nvPr/>
        </p:nvSpPr>
        <p:spPr>
          <a:xfrm>
            <a:off x="384120" y="267012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Data produced by the Map function. IR files are first written to local disks and then made available for the Reduce phase. Format: key-value pairs.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3"/>
          <p:cNvSpPr/>
          <p:nvPr/>
        </p:nvSpPr>
        <p:spPr>
          <a:xfrm>
            <a:off x="274320" y="362088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4"/>
          <p:cNvSpPr/>
          <p:nvPr/>
        </p:nvSpPr>
        <p:spPr>
          <a:xfrm>
            <a:off x="274320" y="3620880"/>
            <a:ext cx="4205520" cy="3650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384120" y="362088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Memory Buffer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384120" y="402336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A temporary in-memory storage area where IR data is held during mapping. When the buffer reaches capacity, its contents are sorted and spilled to disk.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7"/>
          <p:cNvSpPr/>
          <p:nvPr/>
        </p:nvSpPr>
        <p:spPr>
          <a:xfrm>
            <a:off x="4709160" y="91440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8"/>
          <p:cNvSpPr/>
          <p:nvPr/>
        </p:nvSpPr>
        <p:spPr>
          <a:xfrm>
            <a:off x="4709160" y="914400"/>
            <a:ext cx="4205520" cy="36504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9"/>
          <p:cNvSpPr/>
          <p:nvPr/>
        </p:nvSpPr>
        <p:spPr>
          <a:xfrm>
            <a:off x="4818960" y="91440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Spilling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0"/>
          <p:cNvSpPr/>
          <p:nvPr/>
        </p:nvSpPr>
        <p:spPr>
          <a:xfrm>
            <a:off x="4818960" y="131688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The process of writing buffer contents to local disk when the buffer is full. Creates split files on disk. Repeated spilling means multiple split files accumulate.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1"/>
          <p:cNvSpPr/>
          <p:nvPr/>
        </p:nvSpPr>
        <p:spPr>
          <a:xfrm>
            <a:off x="4709160" y="226764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22"/>
          <p:cNvSpPr/>
          <p:nvPr/>
        </p:nvSpPr>
        <p:spPr>
          <a:xfrm>
            <a:off x="4709160" y="2267640"/>
            <a:ext cx="4205520" cy="3650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23"/>
          <p:cNvSpPr/>
          <p:nvPr/>
        </p:nvSpPr>
        <p:spPr>
          <a:xfrm>
            <a:off x="4818960" y="226764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Group Operation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4"/>
          <p:cNvSpPr/>
          <p:nvPr/>
        </p:nvSpPr>
        <p:spPr>
          <a:xfrm>
            <a:off x="4818960" y="267012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Combines all split files after mapping. Groups IR data so that all entries with the same key value are collected together, enabling ordered processing in Reduce.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5"/>
          <p:cNvSpPr/>
          <p:nvPr/>
        </p:nvSpPr>
        <p:spPr>
          <a:xfrm>
            <a:off x="4709160" y="3620880"/>
            <a:ext cx="4205520" cy="122472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6"/>
          <p:cNvSpPr/>
          <p:nvPr/>
        </p:nvSpPr>
        <p:spPr>
          <a:xfrm>
            <a:off x="4709160" y="3620880"/>
            <a:ext cx="420552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27"/>
          <p:cNvSpPr/>
          <p:nvPr/>
        </p:nvSpPr>
        <p:spPr>
          <a:xfrm>
            <a:off x="4818960" y="3620880"/>
            <a:ext cx="398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Background Thread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8"/>
          <p:cNvSpPr/>
          <p:nvPr/>
        </p:nvSpPr>
        <p:spPr>
          <a:xfrm>
            <a:off x="4818960" y="4023360"/>
            <a:ext cx="39859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A separate execution thread that handles sorting of the memory buffer without blocking the ongoing Map function. Enables concurrent mapping and sorting.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7.3.1.1 Map Function Example — G0, G1, G2 with Keys K0, K1, K2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274320" y="914400"/>
            <a:ext cx="8594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The MapTracker processes 3 split files: G0, G1, G2. Each file contains IR data with keys K0, K1, K2. The Group operation combines them by key.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274320" y="1417320"/>
            <a:ext cx="2605320" cy="31266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274320" y="1417320"/>
            <a:ext cx="2605320" cy="3466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274320" y="1417320"/>
            <a:ext cx="2605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Sorted Split Files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384120" y="1847160"/>
            <a:ext cx="346680" cy="749160"/>
          </a:xfrm>
          <a:prstGeom prst="rect">
            <a:avLst/>
          </a:prstGeom>
          <a:solidFill>
            <a:srgbClr val="0369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10"/>
          <p:cNvSpPr/>
          <p:nvPr/>
        </p:nvSpPr>
        <p:spPr>
          <a:xfrm>
            <a:off x="384120" y="1847160"/>
            <a:ext cx="34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1"/>
          <p:cNvSpPr/>
          <p:nvPr/>
        </p:nvSpPr>
        <p:spPr>
          <a:xfrm>
            <a:off x="804600" y="187452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G0(K0)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2"/>
          <p:cNvSpPr/>
          <p:nvPr/>
        </p:nvSpPr>
        <p:spPr>
          <a:xfrm>
            <a:off x="804600" y="211212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G0(K1)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3"/>
          <p:cNvSpPr/>
          <p:nvPr/>
        </p:nvSpPr>
        <p:spPr>
          <a:xfrm>
            <a:off x="804600" y="235008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G0(K2)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384120" y="2743200"/>
            <a:ext cx="346680" cy="7491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15"/>
          <p:cNvSpPr/>
          <p:nvPr/>
        </p:nvSpPr>
        <p:spPr>
          <a:xfrm>
            <a:off x="384120" y="2743200"/>
            <a:ext cx="34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16"/>
          <p:cNvSpPr/>
          <p:nvPr/>
        </p:nvSpPr>
        <p:spPr>
          <a:xfrm>
            <a:off x="804600" y="27705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G1(K0)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804600" y="300852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G1(K1)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8"/>
          <p:cNvSpPr/>
          <p:nvPr/>
        </p:nvSpPr>
        <p:spPr>
          <a:xfrm>
            <a:off x="804600" y="324612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G1(K2)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384120" y="3639240"/>
            <a:ext cx="346680" cy="7491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20"/>
          <p:cNvSpPr/>
          <p:nvPr/>
        </p:nvSpPr>
        <p:spPr>
          <a:xfrm>
            <a:off x="384120" y="3639240"/>
            <a:ext cx="3466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804600" y="366660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G2(K0)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2"/>
          <p:cNvSpPr/>
          <p:nvPr/>
        </p:nvSpPr>
        <p:spPr>
          <a:xfrm>
            <a:off x="804600" y="39045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G2(K1)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23"/>
          <p:cNvSpPr/>
          <p:nvPr/>
        </p:nvSpPr>
        <p:spPr>
          <a:xfrm>
            <a:off x="804600" y="4142160"/>
            <a:ext cx="1937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G2(K2)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24"/>
          <p:cNvSpPr/>
          <p:nvPr/>
        </p:nvSpPr>
        <p:spPr>
          <a:xfrm>
            <a:off x="2944440" y="2057400"/>
            <a:ext cx="10965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Sort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+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Group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97706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5"/>
          <p:cNvSpPr/>
          <p:nvPr/>
        </p:nvSpPr>
        <p:spPr>
          <a:xfrm>
            <a:off x="4114800" y="1417320"/>
            <a:ext cx="4754160" cy="31266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6"/>
          <p:cNvSpPr/>
          <p:nvPr/>
        </p:nvSpPr>
        <p:spPr>
          <a:xfrm>
            <a:off x="4114800" y="1417320"/>
            <a:ext cx="4754160" cy="346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27"/>
          <p:cNvSpPr/>
          <p:nvPr/>
        </p:nvSpPr>
        <p:spPr>
          <a:xfrm>
            <a:off x="4114800" y="1417320"/>
            <a:ext cx="4754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Grouped Output File (by Key)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8"/>
          <p:cNvSpPr/>
          <p:nvPr/>
        </p:nvSpPr>
        <p:spPr>
          <a:xfrm>
            <a:off x="4224600" y="1883520"/>
            <a:ext cx="4534560" cy="749160"/>
          </a:xfrm>
          <a:prstGeom prst="rect">
            <a:avLst/>
          </a:prstGeom>
          <a:solidFill>
            <a:srgbClr val="f4f9f5"/>
          </a:solidFill>
          <a:ln w="12700">
            <a:solidFill>
              <a:srgbClr val="0369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29"/>
          <p:cNvSpPr/>
          <p:nvPr/>
        </p:nvSpPr>
        <p:spPr>
          <a:xfrm>
            <a:off x="4316040" y="1956960"/>
            <a:ext cx="776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369a1"/>
                </a:solidFill>
                <a:latin typeface="Calibri"/>
                <a:ea typeface="Calibri"/>
              </a:rPr>
              <a:t>Key K0: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30"/>
          <p:cNvSpPr/>
          <p:nvPr/>
        </p:nvSpPr>
        <p:spPr>
          <a:xfrm>
            <a:off x="5139000" y="195696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onsolas"/>
                <a:ea typeface="Consolas"/>
              </a:rPr>
              <a:t>G0(K0), G1(K0), G2(K0)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31"/>
          <p:cNvSpPr/>
          <p:nvPr/>
        </p:nvSpPr>
        <p:spPr>
          <a:xfrm>
            <a:off x="4316040" y="2304360"/>
            <a:ext cx="431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← </a:t>
            </a: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all IR with same key grouped together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2"/>
          <p:cNvSpPr/>
          <p:nvPr/>
        </p:nvSpPr>
        <p:spPr>
          <a:xfrm>
            <a:off x="4224600" y="2743200"/>
            <a:ext cx="4534560" cy="749160"/>
          </a:xfrm>
          <a:prstGeom prst="rect">
            <a:avLst/>
          </a:prstGeom>
          <a:solidFill>
            <a:srgbClr val="f4f9f5"/>
          </a:solidFill>
          <a:ln w="12700">
            <a:solidFill>
              <a:srgbClr val="065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33"/>
          <p:cNvSpPr/>
          <p:nvPr/>
        </p:nvSpPr>
        <p:spPr>
          <a:xfrm>
            <a:off x="4316040" y="2816280"/>
            <a:ext cx="776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Key K1: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34"/>
          <p:cNvSpPr/>
          <p:nvPr/>
        </p:nvSpPr>
        <p:spPr>
          <a:xfrm>
            <a:off x="5139000" y="28162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onsolas"/>
                <a:ea typeface="Consolas"/>
              </a:rPr>
              <a:t>G0(K1), G1(K1), G2(K1)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35"/>
          <p:cNvSpPr/>
          <p:nvPr/>
        </p:nvSpPr>
        <p:spPr>
          <a:xfrm>
            <a:off x="4316040" y="3163680"/>
            <a:ext cx="431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← </a:t>
            </a: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all IR with same key grouped together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6"/>
          <p:cNvSpPr/>
          <p:nvPr/>
        </p:nvSpPr>
        <p:spPr>
          <a:xfrm>
            <a:off x="4224600" y="3602880"/>
            <a:ext cx="4534560" cy="749160"/>
          </a:xfrm>
          <a:prstGeom prst="rect">
            <a:avLst/>
          </a:prstGeom>
          <a:solidFill>
            <a:srgbClr val="f4f9f5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37"/>
          <p:cNvSpPr/>
          <p:nvPr/>
        </p:nvSpPr>
        <p:spPr>
          <a:xfrm>
            <a:off x="4316040" y="3675960"/>
            <a:ext cx="776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c3aed"/>
                </a:solidFill>
                <a:latin typeface="Calibri"/>
                <a:ea typeface="Calibri"/>
              </a:rPr>
              <a:t>Key K2: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38"/>
          <p:cNvSpPr/>
          <p:nvPr/>
        </p:nvSpPr>
        <p:spPr>
          <a:xfrm>
            <a:off x="5139000" y="367596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onsolas"/>
                <a:ea typeface="Consolas"/>
              </a:rPr>
              <a:t>G0(K2), G1(K2), G2(K2)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39"/>
          <p:cNvSpPr/>
          <p:nvPr/>
        </p:nvSpPr>
        <p:spPr>
          <a:xfrm>
            <a:off x="4316040" y="4023360"/>
            <a:ext cx="4315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← </a:t>
            </a:r>
            <a:r>
              <a:rPr b="0" i="1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all IR with same key grouped together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7.3.1.1 Map Function — Algorithm Summary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274320" y="91440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Formal description of the Map function's processing logic in a distributed MapReduce system: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6"/>
          <p:cNvSpPr/>
          <p:nvPr/>
        </p:nvSpPr>
        <p:spPr>
          <a:xfrm>
            <a:off x="274320" y="1353240"/>
            <a:ext cx="4845600" cy="33094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384120" y="1417320"/>
            <a:ext cx="4626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ALGORITHM: Map Function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402480" y="175572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1. Receive data chunk from HDFS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402480" y="193860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2. FOR each record in chunk: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0"/>
          <p:cNvSpPr/>
          <p:nvPr/>
        </p:nvSpPr>
        <p:spPr>
          <a:xfrm>
            <a:off x="402480" y="212148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Apply mapping function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402480" y="230436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Produce IR(key, value)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2"/>
          <p:cNvSpPr/>
          <p:nvPr/>
        </p:nvSpPr>
        <p:spPr>
          <a:xfrm>
            <a:off x="402480" y="248724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Add IR to memory buffer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402480" y="267012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3. IF buffer is full THEN: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4"/>
          <p:cNvSpPr/>
          <p:nvPr/>
        </p:nvSpPr>
        <p:spPr>
          <a:xfrm>
            <a:off x="402480" y="285300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Sort buffer by key (bg thread)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402480" y="303588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Spill sorted data to disk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6"/>
          <p:cNvSpPr/>
          <p:nvPr/>
        </p:nvSpPr>
        <p:spPr>
          <a:xfrm>
            <a:off x="402480" y="321876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(create split file)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7"/>
          <p:cNvSpPr/>
          <p:nvPr/>
        </p:nvSpPr>
        <p:spPr>
          <a:xfrm>
            <a:off x="402480" y="340164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4. AFTER all records processed: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402480" y="358452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Merge all split files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402480" y="376740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Group IR by key value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20"/>
          <p:cNvSpPr/>
          <p:nvPr/>
        </p:nvSpPr>
        <p:spPr>
          <a:xfrm>
            <a:off x="402480" y="395028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→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Each group = same-key IRs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21"/>
          <p:cNvSpPr/>
          <p:nvPr/>
        </p:nvSpPr>
        <p:spPr>
          <a:xfrm>
            <a:off x="402480" y="413316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0b981"/>
                </a:solidFill>
                <a:latin typeface="Consolas"/>
                <a:ea typeface="Consolas"/>
              </a:rPr>
              <a:t>5. Send output groups to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22"/>
          <p:cNvSpPr/>
          <p:nvPr/>
        </p:nvSpPr>
        <p:spPr>
          <a:xfrm>
            <a:off x="402480" y="4316040"/>
            <a:ext cx="4571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     </a:t>
            </a:r>
            <a:r>
              <a:rPr b="0" lang="en-US" sz="1100" spc="-1" strike="noStrike">
                <a:solidFill>
                  <a:srgbClr val="94a3b8"/>
                </a:solidFill>
                <a:latin typeface="Consolas"/>
                <a:ea typeface="Consolas"/>
              </a:rPr>
              <a:t>ReduceTracker nodes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3"/>
          <p:cNvSpPr/>
          <p:nvPr/>
        </p:nvSpPr>
        <p:spPr>
          <a:xfrm>
            <a:off x="5303520" y="1353240"/>
            <a:ext cx="3565440" cy="33094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5303520" y="1353240"/>
            <a:ext cx="356544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25"/>
          <p:cNvSpPr/>
          <p:nvPr/>
        </p:nvSpPr>
        <p:spPr>
          <a:xfrm>
            <a:off x="5413320" y="135324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 Properties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5413320" y="1783080"/>
            <a:ext cx="3336840" cy="28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Runs in parallel: each MapTracker handles a different chunk simultaneously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Background sorting: sort happens concurrently while Map continues reading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Spill is triggered by buffer capacity — not by record count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Grouping is mandatory: Reduce can only begin after all IR with the same key are collocated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Output format: each group contains all values for one key from all map tasks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7.3.1.2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Networks in Shuffle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Transferring grouped IR files from MapTrackers to ReduceTrackers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7.3.1.2 Networks in Shuffle — Transfer Mechanism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274320" y="914400"/>
            <a:ext cx="85946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After Map output files are generated, they must be delivered to ReduceTracker nodes. This network transfer step is a major source of latency.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6"/>
          <p:cNvSpPr/>
          <p:nvPr/>
        </p:nvSpPr>
        <p:spPr>
          <a:xfrm>
            <a:off x="274320" y="1417320"/>
            <a:ext cx="4114080" cy="153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274320" y="1325160"/>
            <a:ext cx="4114080" cy="27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8"/>
          <p:cNvSpPr/>
          <p:nvPr/>
        </p:nvSpPr>
        <p:spPr>
          <a:xfrm>
            <a:off x="274320" y="1325160"/>
            <a:ext cx="411408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Transfer Mechanism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9"/>
          <p:cNvSpPr/>
          <p:nvPr/>
        </p:nvSpPr>
        <p:spPr>
          <a:xfrm>
            <a:off x="384120" y="1600200"/>
            <a:ext cx="3894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Uses tree-type network topology and HTTP connections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Each Kᵢ's IR data is gathered from all MapTrackers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Sent to the corresponding ReduceTracker responsible for key Kᵢ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Transfer time depends heavily on network bandwidth and latency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4754880" y="1417320"/>
            <a:ext cx="4114080" cy="1535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1"/>
          <p:cNvSpPr/>
          <p:nvPr/>
        </p:nvSpPr>
        <p:spPr>
          <a:xfrm>
            <a:off x="4754880" y="1235160"/>
            <a:ext cx="4114080" cy="3650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12"/>
          <p:cNvSpPr/>
          <p:nvPr/>
        </p:nvSpPr>
        <p:spPr>
          <a:xfrm>
            <a:off x="4754880" y="12351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Impact (WordCount)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13"/>
          <p:cNvSpPr/>
          <p:nvPr/>
        </p:nvSpPr>
        <p:spPr>
          <a:xfrm>
            <a:off x="4864680" y="1600200"/>
            <a:ext cx="3894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Experiment: 280 MapTracker virtual nodes with WordCount benchmark measured: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Finishing time per node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Network response (ping delay)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Result: Network latency directly correlates with total job completion time — not just compute speed.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>
            <a:off x="274320" y="3044880"/>
            <a:ext cx="8594640" cy="36504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5"/>
          <p:cNvSpPr/>
          <p:nvPr/>
        </p:nvSpPr>
        <p:spPr>
          <a:xfrm>
            <a:off x="274320" y="3044880"/>
            <a:ext cx="8594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dc2626"/>
                </a:solidFill>
                <a:latin typeface="Calibri"/>
                <a:ea typeface="Calibri"/>
              </a:rPr>
              <a:t>Why network transfer is the critical path: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6"/>
          <p:cNvSpPr/>
          <p:nvPr/>
        </p:nvSpPr>
        <p:spPr>
          <a:xfrm>
            <a:off x="274320" y="3502080"/>
            <a:ext cx="2696760" cy="11880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7"/>
          <p:cNvSpPr/>
          <p:nvPr/>
        </p:nvSpPr>
        <p:spPr>
          <a:xfrm>
            <a:off x="274320" y="3502080"/>
            <a:ext cx="63360" cy="11880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18"/>
          <p:cNvSpPr/>
          <p:nvPr/>
        </p:nvSpPr>
        <p:spPr>
          <a:xfrm>
            <a:off x="438840" y="3502080"/>
            <a:ext cx="2532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Blocking Wait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19"/>
          <p:cNvSpPr/>
          <p:nvPr/>
        </p:nvSpPr>
        <p:spPr>
          <a:xfrm>
            <a:off x="438840" y="3657600"/>
            <a:ext cx="25322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Nodes stop and wait for data that is still being transferred from distant MapTrackers, stalling the entire Reduce phase.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0"/>
          <p:cNvSpPr/>
          <p:nvPr/>
        </p:nvSpPr>
        <p:spPr>
          <a:xfrm>
            <a:off x="3154680" y="3502080"/>
            <a:ext cx="2696760" cy="11880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21"/>
          <p:cNvSpPr/>
          <p:nvPr/>
        </p:nvSpPr>
        <p:spPr>
          <a:xfrm>
            <a:off x="3154680" y="3502080"/>
            <a:ext cx="63360" cy="11880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22"/>
          <p:cNvSpPr/>
          <p:nvPr/>
        </p:nvSpPr>
        <p:spPr>
          <a:xfrm>
            <a:off x="3319200" y="3502080"/>
            <a:ext cx="2422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No Locality Awareness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23"/>
          <p:cNvSpPr/>
          <p:nvPr/>
        </p:nvSpPr>
        <p:spPr>
          <a:xfrm>
            <a:off x="3319200" y="3657600"/>
            <a:ext cx="25322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MapReduce does not consider node proximity. Heavy workloads may send data across the entire cluster unnecessarily.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4"/>
          <p:cNvSpPr/>
          <p:nvPr/>
        </p:nvSpPr>
        <p:spPr>
          <a:xfrm>
            <a:off x="6035040" y="3502080"/>
            <a:ext cx="2696760" cy="118800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5"/>
          <p:cNvSpPr/>
          <p:nvPr/>
        </p:nvSpPr>
        <p:spPr>
          <a:xfrm>
            <a:off x="6035040" y="3502080"/>
            <a:ext cx="63360" cy="118800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6"/>
          <p:cNvSpPr/>
          <p:nvPr/>
        </p:nvSpPr>
        <p:spPr>
          <a:xfrm>
            <a:off x="6199560" y="3502080"/>
            <a:ext cx="2532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c2626"/>
                </a:solidFill>
                <a:latin typeface="Calibri"/>
                <a:ea typeface="Calibri"/>
              </a:rPr>
              <a:t>Competing Traffic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27"/>
          <p:cNvSpPr/>
          <p:nvPr/>
        </p:nvSpPr>
        <p:spPr>
          <a:xfrm>
            <a:off x="6199560" y="3657600"/>
            <a:ext cx="24872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All MapTrackers transfer data simultaneously, causing network congestion during the Shuffle phase.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7.3.1.3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Reduce Side Operations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Merging grouped IR files into a single sorted sequence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7.3.1.3 Reduce Side — Structure &amp; Merging Process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274320" y="914400"/>
            <a:ext cx="8594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The Reduce side receives grouped IR files from multiple MapTrackers. Its goal is to produce a single merged sequence per key for the Reduce function.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6"/>
          <p:cNvSpPr/>
          <p:nvPr/>
        </p:nvSpPr>
        <p:spPr>
          <a:xfrm>
            <a:off x="274320" y="1417320"/>
            <a:ext cx="3474000" cy="3199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7"/>
          <p:cNvSpPr/>
          <p:nvPr/>
        </p:nvSpPr>
        <p:spPr>
          <a:xfrm>
            <a:off x="274320" y="1417320"/>
            <a:ext cx="3474000" cy="3650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8"/>
          <p:cNvSpPr/>
          <p:nvPr/>
        </p:nvSpPr>
        <p:spPr>
          <a:xfrm>
            <a:off x="384120" y="1417320"/>
            <a:ext cx="3254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Inputs: N Output Files from Map Phase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384120" y="1865520"/>
            <a:ext cx="3254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alibri"/>
                <a:ea typeface="Calibri"/>
              </a:rPr>
              <a:t>Example with Key K0: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0"/>
          <p:cNvSpPr/>
          <p:nvPr/>
        </p:nvSpPr>
        <p:spPr>
          <a:xfrm>
            <a:off x="475560" y="223128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11"/>
          <p:cNvSpPr/>
          <p:nvPr/>
        </p:nvSpPr>
        <p:spPr>
          <a:xfrm>
            <a:off x="475560" y="223128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G0(K0)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2"/>
          <p:cNvSpPr/>
          <p:nvPr/>
        </p:nvSpPr>
        <p:spPr>
          <a:xfrm>
            <a:off x="475560" y="255132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13"/>
          <p:cNvSpPr/>
          <p:nvPr/>
        </p:nvSpPr>
        <p:spPr>
          <a:xfrm>
            <a:off x="475560" y="255132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G1(K0)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14"/>
          <p:cNvSpPr/>
          <p:nvPr/>
        </p:nvSpPr>
        <p:spPr>
          <a:xfrm>
            <a:off x="475560" y="287136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15"/>
          <p:cNvSpPr/>
          <p:nvPr/>
        </p:nvSpPr>
        <p:spPr>
          <a:xfrm>
            <a:off x="475560" y="287136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G2(K0)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6"/>
          <p:cNvSpPr/>
          <p:nvPr/>
        </p:nvSpPr>
        <p:spPr>
          <a:xfrm>
            <a:off x="475560" y="319140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17"/>
          <p:cNvSpPr/>
          <p:nvPr/>
        </p:nvSpPr>
        <p:spPr>
          <a:xfrm>
            <a:off x="475560" y="319140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G3(K0)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8"/>
          <p:cNvSpPr/>
          <p:nvPr/>
        </p:nvSpPr>
        <p:spPr>
          <a:xfrm>
            <a:off x="475560" y="351144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475560" y="351144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G4(K0)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0"/>
          <p:cNvSpPr/>
          <p:nvPr/>
        </p:nvSpPr>
        <p:spPr>
          <a:xfrm>
            <a:off x="475560" y="383148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475560" y="383148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G5(K0)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2"/>
          <p:cNvSpPr/>
          <p:nvPr/>
        </p:nvSpPr>
        <p:spPr>
          <a:xfrm>
            <a:off x="2121480" y="223128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23"/>
          <p:cNvSpPr/>
          <p:nvPr/>
        </p:nvSpPr>
        <p:spPr>
          <a:xfrm>
            <a:off x="2121480" y="223128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G6(K0)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24"/>
          <p:cNvSpPr/>
          <p:nvPr/>
        </p:nvSpPr>
        <p:spPr>
          <a:xfrm>
            <a:off x="2121480" y="255132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25"/>
          <p:cNvSpPr/>
          <p:nvPr/>
        </p:nvSpPr>
        <p:spPr>
          <a:xfrm>
            <a:off x="2121480" y="255132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G7(K0)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6"/>
          <p:cNvSpPr/>
          <p:nvPr/>
        </p:nvSpPr>
        <p:spPr>
          <a:xfrm>
            <a:off x="2121480" y="287136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27"/>
          <p:cNvSpPr/>
          <p:nvPr/>
        </p:nvSpPr>
        <p:spPr>
          <a:xfrm>
            <a:off x="2121480" y="287136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G8(K0)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8"/>
          <p:cNvSpPr/>
          <p:nvPr/>
        </p:nvSpPr>
        <p:spPr>
          <a:xfrm>
            <a:off x="2121480" y="319140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29"/>
          <p:cNvSpPr/>
          <p:nvPr/>
        </p:nvSpPr>
        <p:spPr>
          <a:xfrm>
            <a:off x="2121480" y="319140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G9(K0)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30"/>
          <p:cNvSpPr/>
          <p:nvPr/>
        </p:nvSpPr>
        <p:spPr>
          <a:xfrm>
            <a:off x="2121480" y="351144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31"/>
          <p:cNvSpPr/>
          <p:nvPr/>
        </p:nvSpPr>
        <p:spPr>
          <a:xfrm>
            <a:off x="2121480" y="351144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G10(K0)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2"/>
          <p:cNvSpPr/>
          <p:nvPr/>
        </p:nvSpPr>
        <p:spPr>
          <a:xfrm>
            <a:off x="2121480" y="3831480"/>
            <a:ext cx="1462320" cy="25524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33"/>
          <p:cNvSpPr/>
          <p:nvPr/>
        </p:nvSpPr>
        <p:spPr>
          <a:xfrm>
            <a:off x="2121480" y="3831480"/>
            <a:ext cx="1462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0d9488"/>
                </a:solidFill>
                <a:latin typeface="Consolas"/>
                <a:ea typeface="Consolas"/>
              </a:rPr>
              <a:t>G11(K0)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34"/>
          <p:cNvSpPr/>
          <p:nvPr/>
        </p:nvSpPr>
        <p:spPr>
          <a:xfrm>
            <a:off x="3840480" y="2286000"/>
            <a:ext cx="13708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f46"/>
                </a:solidFill>
                <a:latin typeface="Calibri"/>
                <a:ea typeface="Calibri"/>
              </a:rPr>
              <a:t>MERGE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f46"/>
                </a:solidFill>
                <a:latin typeface="Calibri"/>
                <a:ea typeface="Calibri"/>
              </a:rPr>
              <a:t>↓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35"/>
          <p:cNvSpPr/>
          <p:nvPr/>
        </p:nvSpPr>
        <p:spPr>
          <a:xfrm>
            <a:off x="5303520" y="1417320"/>
            <a:ext cx="3565440" cy="31996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36"/>
          <p:cNvSpPr/>
          <p:nvPr/>
        </p:nvSpPr>
        <p:spPr>
          <a:xfrm>
            <a:off x="5303520" y="1417320"/>
            <a:ext cx="3565440" cy="365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37"/>
          <p:cNvSpPr/>
          <p:nvPr/>
        </p:nvSpPr>
        <p:spPr>
          <a:xfrm>
            <a:off x="5413320" y="1417320"/>
            <a:ext cx="3345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Output: Single Sorted Sequence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38"/>
          <p:cNvSpPr/>
          <p:nvPr/>
        </p:nvSpPr>
        <p:spPr>
          <a:xfrm>
            <a:off x="5413320" y="1865520"/>
            <a:ext cx="3345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f46"/>
                </a:solidFill>
                <a:latin typeface="Calibri"/>
                <a:ea typeface="Calibri"/>
              </a:rPr>
              <a:t>Reduce Task 1 — Key K0: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39"/>
          <p:cNvSpPr/>
          <p:nvPr/>
        </p:nvSpPr>
        <p:spPr>
          <a:xfrm>
            <a:off x="5413320" y="2231280"/>
            <a:ext cx="3345840" cy="2266920"/>
          </a:xfrm>
          <a:prstGeom prst="rect">
            <a:avLst/>
          </a:prstGeom>
          <a:solidFill>
            <a:srgbClr val="f4f9f5"/>
          </a:solidFill>
          <a:ln w="12700">
            <a:solidFill>
              <a:srgbClr val="065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40"/>
          <p:cNvSpPr/>
          <p:nvPr/>
        </p:nvSpPr>
        <p:spPr>
          <a:xfrm>
            <a:off x="5504760" y="2304360"/>
            <a:ext cx="3162960" cy="21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[ G0(K0), G1(K0), G2(K0),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G3(K0), G4(K0), G5(K0),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G6(K0), G7(K0), G8(K0),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G9(K0), G10(K0), G11(K0) ]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→ </a:t>
            </a: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Passed to Reduce function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  </a:t>
            </a:r>
            <a:r>
              <a:rPr b="0" lang="en-US" sz="1150" spc="-1" strike="noStrike">
                <a:solidFill>
                  <a:srgbClr val="1a2e27"/>
                </a:solidFill>
                <a:latin typeface="Consolas"/>
                <a:ea typeface="Consolas"/>
              </a:rPr>
              <a:t>as a single sorted sequence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 Complete MapReduce Shuffle Pipeline — Summary View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5"/>
          <p:cNvSpPr/>
          <p:nvPr/>
        </p:nvSpPr>
        <p:spPr>
          <a:xfrm>
            <a:off x="274320" y="91440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End-to-end data flow from raw input through Map, Shuffle, and Reduce to final output: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6"/>
          <p:cNvSpPr/>
          <p:nvPr/>
        </p:nvSpPr>
        <p:spPr>
          <a:xfrm>
            <a:off x="274320" y="1389960"/>
            <a:ext cx="1096560" cy="208404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7"/>
          <p:cNvSpPr/>
          <p:nvPr/>
        </p:nvSpPr>
        <p:spPr>
          <a:xfrm>
            <a:off x="27432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INPUT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Data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8"/>
          <p:cNvSpPr/>
          <p:nvPr/>
        </p:nvSpPr>
        <p:spPr>
          <a:xfrm>
            <a:off x="137160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9"/>
          <p:cNvSpPr/>
          <p:nvPr/>
        </p:nvSpPr>
        <p:spPr>
          <a:xfrm>
            <a:off x="1508760" y="1389960"/>
            <a:ext cx="1096560" cy="2084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150876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MAP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Function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11"/>
          <p:cNvSpPr/>
          <p:nvPr/>
        </p:nvSpPr>
        <p:spPr>
          <a:xfrm>
            <a:off x="260604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2"/>
          <p:cNvSpPr/>
          <p:nvPr/>
        </p:nvSpPr>
        <p:spPr>
          <a:xfrm>
            <a:off x="2743200" y="1389960"/>
            <a:ext cx="1096560" cy="208404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3"/>
          <p:cNvSpPr/>
          <p:nvPr/>
        </p:nvSpPr>
        <p:spPr>
          <a:xfrm>
            <a:off x="274320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7c2d12"/>
                </a:solidFill>
                <a:latin typeface="Calibri"/>
                <a:ea typeface="Calibri"/>
              </a:rPr>
              <a:t>BUFFER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7c2d12"/>
                </a:solidFill>
                <a:latin typeface="Calibri"/>
                <a:ea typeface="Calibri"/>
              </a:rPr>
              <a:t>→ </a:t>
            </a:r>
            <a:r>
              <a:rPr b="1" lang="en-US" sz="1150" spc="-1" strike="noStrike">
                <a:solidFill>
                  <a:srgbClr val="7c2d12"/>
                </a:solidFill>
                <a:latin typeface="Calibri"/>
                <a:ea typeface="Calibri"/>
              </a:rPr>
              <a:t>SORT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7c2d12"/>
                </a:solidFill>
                <a:latin typeface="Calibri"/>
                <a:ea typeface="Calibri"/>
              </a:rPr>
              <a:t>→ </a:t>
            </a:r>
            <a:r>
              <a:rPr b="1" lang="en-US" sz="1150" spc="-1" strike="noStrike">
                <a:solidFill>
                  <a:srgbClr val="7c2d12"/>
                </a:solidFill>
                <a:latin typeface="Calibri"/>
                <a:ea typeface="Calibri"/>
              </a:rPr>
              <a:t>SPILL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4"/>
          <p:cNvSpPr/>
          <p:nvPr/>
        </p:nvSpPr>
        <p:spPr>
          <a:xfrm>
            <a:off x="384048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5"/>
          <p:cNvSpPr/>
          <p:nvPr/>
        </p:nvSpPr>
        <p:spPr>
          <a:xfrm>
            <a:off x="3977640" y="1389960"/>
            <a:ext cx="1096560" cy="20840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16"/>
          <p:cNvSpPr/>
          <p:nvPr/>
        </p:nvSpPr>
        <p:spPr>
          <a:xfrm>
            <a:off x="397764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GROUP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by Key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17"/>
          <p:cNvSpPr/>
          <p:nvPr/>
        </p:nvSpPr>
        <p:spPr>
          <a:xfrm>
            <a:off x="507492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8"/>
          <p:cNvSpPr/>
          <p:nvPr/>
        </p:nvSpPr>
        <p:spPr>
          <a:xfrm>
            <a:off x="5212080" y="1389960"/>
            <a:ext cx="1096560" cy="208404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9"/>
          <p:cNvSpPr/>
          <p:nvPr/>
        </p:nvSpPr>
        <p:spPr>
          <a:xfrm>
            <a:off x="521208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NETWORK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Transfer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20"/>
          <p:cNvSpPr/>
          <p:nvPr/>
        </p:nvSpPr>
        <p:spPr>
          <a:xfrm>
            <a:off x="630936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1"/>
          <p:cNvSpPr/>
          <p:nvPr/>
        </p:nvSpPr>
        <p:spPr>
          <a:xfrm>
            <a:off x="6446520" y="1389960"/>
            <a:ext cx="1096560" cy="208404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22"/>
          <p:cNvSpPr/>
          <p:nvPr/>
        </p:nvSpPr>
        <p:spPr>
          <a:xfrm>
            <a:off x="644652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REDUCE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Merge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23"/>
          <p:cNvSpPr/>
          <p:nvPr/>
        </p:nvSpPr>
        <p:spPr>
          <a:xfrm>
            <a:off x="7543800" y="2176200"/>
            <a:ext cx="13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4a6257"/>
                </a:solidFill>
                <a:latin typeface="Calibri"/>
                <a:ea typeface="Calibri"/>
              </a:rPr>
              <a:t>→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4"/>
          <p:cNvSpPr/>
          <p:nvPr/>
        </p:nvSpPr>
        <p:spPr>
          <a:xfrm>
            <a:off x="7680960" y="1389960"/>
            <a:ext cx="1096560" cy="208404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5"/>
          <p:cNvSpPr/>
          <p:nvPr/>
        </p:nvSpPr>
        <p:spPr>
          <a:xfrm>
            <a:off x="7680960" y="1389960"/>
            <a:ext cx="1096560" cy="20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FINAL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OUTPUT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6"/>
          <p:cNvSpPr/>
          <p:nvPr/>
        </p:nvSpPr>
        <p:spPr>
          <a:xfrm>
            <a:off x="1508760" y="3584520"/>
            <a:ext cx="2010960" cy="593640"/>
          </a:xfrm>
          <a:prstGeom prst="rect">
            <a:avLst/>
          </a:prstGeom>
          <a:solidFill>
            <a:srgbClr val="f4f9f5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27"/>
          <p:cNvSpPr/>
          <p:nvPr/>
        </p:nvSpPr>
        <p:spPr>
          <a:xfrm>
            <a:off x="1600200" y="361188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~1/3 of total time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28"/>
          <p:cNvSpPr/>
          <p:nvPr/>
        </p:nvSpPr>
        <p:spPr>
          <a:xfrm>
            <a:off x="1600200" y="38772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Shuffle is the biggest time cost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29"/>
          <p:cNvSpPr/>
          <p:nvPr/>
        </p:nvSpPr>
        <p:spPr>
          <a:xfrm>
            <a:off x="5943600" y="3584520"/>
            <a:ext cx="2010960" cy="593640"/>
          </a:xfrm>
          <a:prstGeom prst="rect">
            <a:avLst/>
          </a:prstGeom>
          <a:solidFill>
            <a:srgbClr val="f4f9f5"/>
          </a:solidFill>
          <a:ln w="12700">
            <a:solidFill>
              <a:srgbClr val="ea58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30"/>
          <p:cNvSpPr/>
          <p:nvPr/>
        </p:nvSpPr>
        <p:spPr>
          <a:xfrm>
            <a:off x="6172200" y="358452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a580c"/>
                </a:solidFill>
                <a:latin typeface="Calibri"/>
                <a:ea typeface="Calibri"/>
              </a:rPr>
              <a:t>HTTP + tree topology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31"/>
          <p:cNvSpPr/>
          <p:nvPr/>
        </p:nvSpPr>
        <p:spPr>
          <a:xfrm>
            <a:off x="6172920" y="38595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Network transfer mechanism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32"/>
          <p:cNvSpPr/>
          <p:nvPr/>
        </p:nvSpPr>
        <p:spPr>
          <a:xfrm>
            <a:off x="3704040" y="3621960"/>
            <a:ext cx="2010960" cy="547920"/>
          </a:xfrm>
          <a:prstGeom prst="rect">
            <a:avLst/>
          </a:prstGeom>
          <a:solidFill>
            <a:srgbClr val="f4f9f5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33"/>
          <p:cNvSpPr/>
          <p:nvPr/>
        </p:nvSpPr>
        <p:spPr>
          <a:xfrm>
            <a:off x="3886200" y="36219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Calibri"/>
              </a:rPr>
              <a:t>Key grouping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34"/>
          <p:cNvSpPr/>
          <p:nvPr/>
        </p:nvSpPr>
        <p:spPr>
          <a:xfrm>
            <a:off x="3886200" y="387720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6257"/>
                </a:solidFill>
                <a:latin typeface="Calibri"/>
                <a:ea typeface="Calibri"/>
              </a:rPr>
              <a:t>Core of correctness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35"/>
          <p:cNvSpPr/>
          <p:nvPr/>
        </p:nvSpPr>
        <p:spPr>
          <a:xfrm>
            <a:off x="274320" y="4279320"/>
            <a:ext cx="8594640" cy="5022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36"/>
          <p:cNvSpPr/>
          <p:nvPr/>
        </p:nvSpPr>
        <p:spPr>
          <a:xfrm>
            <a:off x="411480" y="4279320"/>
            <a:ext cx="8320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Optimization target: Reduce Shuffle time by improving locality awareness, minimising spill frequency, and overlapping network transfers with computation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7.3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Phase-Reconfigurable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Shuffle Optimization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The advanced algorithm for optimising Hadoop MapReduce performance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 Phase-Reconfigurable Shuffle — The Core Idea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5"/>
          <p:cNvSpPr/>
          <p:nvPr/>
        </p:nvSpPr>
        <p:spPr>
          <a:xfrm>
            <a:off x="274320" y="914400"/>
            <a:ext cx="8594640" cy="7308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6"/>
          <p:cNvSpPr/>
          <p:nvPr/>
        </p:nvSpPr>
        <p:spPr>
          <a:xfrm>
            <a:off x="411480" y="914400"/>
            <a:ext cx="8320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Phase-Reconfigurable Shuffle: an optimisation that dynamically reconfigures the Shuffle phase parameters to reduce total execution time by minimising disk I/O and improving network locality.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7"/>
          <p:cNvSpPr/>
          <p:nvPr/>
        </p:nvSpPr>
        <p:spPr>
          <a:xfrm>
            <a:off x="274320" y="175572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f46"/>
                </a:solidFill>
                <a:latin typeface="Calibri"/>
                <a:ea typeface="Calibri"/>
              </a:rPr>
              <a:t>What gets reconfigured: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8"/>
          <p:cNvSpPr/>
          <p:nvPr/>
        </p:nvSpPr>
        <p:spPr>
          <a:xfrm>
            <a:off x="274320" y="2212920"/>
            <a:ext cx="2696760" cy="2468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9"/>
          <p:cNvSpPr/>
          <p:nvPr/>
        </p:nvSpPr>
        <p:spPr>
          <a:xfrm>
            <a:off x="274320" y="2212920"/>
            <a:ext cx="2696760" cy="3834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10"/>
          <p:cNvSpPr/>
          <p:nvPr/>
        </p:nvSpPr>
        <p:spPr>
          <a:xfrm>
            <a:off x="365760" y="221292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Map-Side Shuffle Phase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11"/>
          <p:cNvSpPr/>
          <p:nvPr/>
        </p:nvSpPr>
        <p:spPr>
          <a:xfrm>
            <a:off x="384120" y="2633400"/>
            <a:ext cx="2486520" cy="19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Reconfigure buffer size and spill threshold to reduce the number of spill operations. Fewer spills = less disk I/O = faster Map completion.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2"/>
          <p:cNvSpPr/>
          <p:nvPr/>
        </p:nvSpPr>
        <p:spPr>
          <a:xfrm>
            <a:off x="3154680" y="2212920"/>
            <a:ext cx="2696760" cy="2468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13"/>
          <p:cNvSpPr/>
          <p:nvPr/>
        </p:nvSpPr>
        <p:spPr>
          <a:xfrm>
            <a:off x="3154680" y="2212920"/>
            <a:ext cx="2696760" cy="3834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4"/>
          <p:cNvSpPr/>
          <p:nvPr/>
        </p:nvSpPr>
        <p:spPr>
          <a:xfrm>
            <a:off x="3246120" y="221292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Networking Phase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15"/>
          <p:cNvSpPr/>
          <p:nvPr/>
        </p:nvSpPr>
        <p:spPr>
          <a:xfrm>
            <a:off x="3264480" y="2633400"/>
            <a:ext cx="2486520" cy="19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Optimise data transfer scheduling by considering node proximity (locality). Assign tasks to nodes closer to the data source to reduce transfer latency.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6"/>
          <p:cNvSpPr/>
          <p:nvPr/>
        </p:nvSpPr>
        <p:spPr>
          <a:xfrm>
            <a:off x="6035040" y="2212920"/>
            <a:ext cx="2696760" cy="2468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17"/>
          <p:cNvSpPr/>
          <p:nvPr/>
        </p:nvSpPr>
        <p:spPr>
          <a:xfrm>
            <a:off x="6035040" y="2212920"/>
            <a:ext cx="2696760" cy="383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8"/>
          <p:cNvSpPr/>
          <p:nvPr/>
        </p:nvSpPr>
        <p:spPr>
          <a:xfrm>
            <a:off x="6126480" y="221292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Reduce-Side Shuffle Phase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9"/>
          <p:cNvSpPr/>
          <p:nvPr/>
        </p:nvSpPr>
        <p:spPr>
          <a:xfrm>
            <a:off x="6144840" y="2633400"/>
            <a:ext cx="2486520" cy="19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Reconfigure merge parameters to overlap receiving and merging operations. Begin partial merges before all MapTracker transfers complete.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7.3 Phase-Reconfigurable Shuffle — Optimization Goals &amp; Impact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274320" y="91440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The optimization targets the three most time-consuming components of the Shuffle phase: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0" name="Table 0"/>
          <p:cNvGraphicFramePr/>
          <p:nvPr/>
        </p:nvGraphicFramePr>
        <p:xfrm>
          <a:off x="274320" y="1325880"/>
          <a:ext cx="8595000" cy="20260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926080"/>
                <a:gridCol w="128016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Component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Problem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Phase-Reconfigurable Solution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Expected Gain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065f46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Map-Side Spilling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Frequent buffer spills cause excessive disk I/O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Dynamically adjust buffer size &amp; spill threshold based on available memory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↓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Disk I/O, ↓ Spill frequency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Network Transfer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No locality awareness — data travels long distances unnecessarily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Schedule transfers preferring closer nodes; overlap transfers with processing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↓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Transfer latency, ↑ Throughput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Reduce-Side Merge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Reduce must wait for ALL data before beginning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Begin incremental merges as IR files arrive; pipeline the merge and receive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↓ </a:t>
                      </a: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Wait time, ↑ CPU utilisation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1" name="Shape 6"/>
          <p:cNvSpPr/>
          <p:nvPr/>
        </p:nvSpPr>
        <p:spPr>
          <a:xfrm>
            <a:off x="274320" y="3401640"/>
            <a:ext cx="8594640" cy="383400"/>
          </a:xfrm>
          <a:prstGeom prst="rect">
            <a:avLst/>
          </a:prstGeom>
          <a:solidFill>
            <a:srgbClr val="f4f9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7"/>
          <p:cNvSpPr/>
          <p:nvPr/>
        </p:nvSpPr>
        <p:spPr>
          <a:xfrm>
            <a:off x="411480" y="3401640"/>
            <a:ext cx="8320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5f46"/>
                </a:solidFill>
                <a:latin typeface="Calibri"/>
                <a:ea typeface="Calibri"/>
              </a:rPr>
              <a:t>Experimental basis (Wang et al., IEEE Transactions on Cloud Computing, 2015):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8"/>
          <p:cNvSpPr/>
          <p:nvPr/>
        </p:nvSpPr>
        <p:spPr>
          <a:xfrm>
            <a:off x="274320" y="3840480"/>
            <a:ext cx="8594640" cy="93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Evaluation used 280 MapTracker virtual nodes with WordCount benchmark — a standard big data workload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Measured finishing time and network response (ping delay) to quantify bottleneck effects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Results show that Shuffle time is approximately 1/3 of total MapReduce execution time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1a2e27"/>
                </a:solidFill>
                <a:latin typeface="Calibri"/>
                <a:ea typeface="Calibri"/>
              </a:rPr>
              <a:t>Phase-Reconfigurable Shuffle reduces total execution time by optimising all three sub-phases simultaneously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0"/>
          <p:cNvSpPr/>
          <p:nvPr/>
        </p:nvSpPr>
        <p:spPr>
          <a:xfrm>
            <a:off x="0" y="0"/>
            <a:ext cx="9143280" cy="383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1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2"/>
          <p:cNvSpPr/>
          <p:nvPr/>
        </p:nvSpPr>
        <p:spPr>
          <a:xfrm>
            <a:off x="457200" y="53028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4" strike="noStrike">
                <a:solidFill>
                  <a:srgbClr val="10b981"/>
                </a:solidFill>
                <a:latin typeface="Calibri"/>
                <a:ea typeface="Calibri"/>
              </a:rPr>
              <a:t>SECTION Summary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3"/>
          <p:cNvSpPr/>
          <p:nvPr/>
        </p:nvSpPr>
        <p:spPr>
          <a:xfrm>
            <a:off x="457200" y="1078920"/>
            <a:ext cx="822888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Chapter Summary,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Calibri"/>
              </a:rPr>
              <a:t>Glossary &amp; Review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4"/>
          <p:cNvSpPr/>
          <p:nvPr/>
        </p:nvSpPr>
        <p:spPr>
          <a:xfrm>
            <a:off x="457200" y="28530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7f3d0"/>
                </a:solidFill>
                <a:latin typeface="Calibri"/>
                <a:ea typeface="Calibri"/>
              </a:rPr>
              <a:t>Bringing it all together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5"/>
          <p:cNvSpPr/>
          <p:nvPr/>
        </p:nvSpPr>
        <p:spPr>
          <a:xfrm>
            <a:off x="0" y="4773240"/>
            <a:ext cx="9143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Chapter 7 — Summary of Key Concepts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5"/>
          <p:cNvSpPr/>
          <p:nvPr/>
        </p:nvSpPr>
        <p:spPr>
          <a:xfrm>
            <a:off x="274320" y="91440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f46"/>
                </a:solidFill>
                <a:latin typeface="Calibri"/>
                <a:ea typeface="Calibri"/>
              </a:rPr>
              <a:t>The three main knowledge areas of Chapter 7: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6"/>
          <p:cNvSpPr/>
          <p:nvPr/>
        </p:nvSpPr>
        <p:spPr>
          <a:xfrm>
            <a:off x="274320" y="1353240"/>
            <a:ext cx="2696760" cy="33094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7"/>
          <p:cNvSpPr/>
          <p:nvPr/>
        </p:nvSpPr>
        <p:spPr>
          <a:xfrm>
            <a:off x="274320" y="1353240"/>
            <a:ext cx="2696760" cy="3834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8"/>
          <p:cNvSpPr/>
          <p:nvPr/>
        </p:nvSpPr>
        <p:spPr>
          <a:xfrm>
            <a:off x="365760" y="135324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1. Big Data &amp; V3s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9"/>
          <p:cNvSpPr/>
          <p:nvPr/>
        </p:nvSpPr>
        <p:spPr>
          <a:xfrm>
            <a:off x="365760" y="1774080"/>
            <a:ext cx="25138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Big Data = techniques for retrieving value from large, fast, diverse datasets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Volume: giant data quantity (Twitter: 12 TB/day from 500M+ tweets)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Velocity: high computational speed required for real-time processing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Variety: diverse data types — structured, semi-structured, unstructured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V3s standard = the three widely accepted characteristics of big data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0"/>
          <p:cNvSpPr/>
          <p:nvPr/>
        </p:nvSpPr>
        <p:spPr>
          <a:xfrm>
            <a:off x="3154680" y="1353240"/>
            <a:ext cx="2696760" cy="33094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1"/>
          <p:cNvSpPr/>
          <p:nvPr/>
        </p:nvSpPr>
        <p:spPr>
          <a:xfrm>
            <a:off x="3154680" y="1353240"/>
            <a:ext cx="2696760" cy="3834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2"/>
          <p:cNvSpPr/>
          <p:nvPr/>
        </p:nvSpPr>
        <p:spPr>
          <a:xfrm>
            <a:off x="3246120" y="135324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2. MapReduce Processing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13"/>
          <p:cNvSpPr/>
          <p:nvPr/>
        </p:nvSpPr>
        <p:spPr>
          <a:xfrm>
            <a:off x="3246120" y="1774080"/>
            <a:ext cx="25138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Two-step big data processing: (1) Integrating Data → (2) Hadoop MapReduce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MapReduce has three phases: Map → Shuffle → 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Map: buffer, sort, spill, group IR by key → send to ReduceTracker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Shuffle: ~1/3 of total execution time — the critical bottleneck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Reduce: merge all IR with same key into single sequence → apply reduce function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4"/>
          <p:cNvSpPr/>
          <p:nvPr/>
        </p:nvSpPr>
        <p:spPr>
          <a:xfrm>
            <a:off x="6035040" y="1353240"/>
            <a:ext cx="2696760" cy="330948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5"/>
          <p:cNvSpPr/>
          <p:nvPr/>
        </p:nvSpPr>
        <p:spPr>
          <a:xfrm>
            <a:off x="6035040" y="1353240"/>
            <a:ext cx="2696760" cy="383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6"/>
          <p:cNvSpPr/>
          <p:nvPr/>
        </p:nvSpPr>
        <p:spPr>
          <a:xfrm>
            <a:off x="6126480" y="1353240"/>
            <a:ext cx="2513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3. Shuffle Optimisation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Text 17"/>
          <p:cNvSpPr/>
          <p:nvPr/>
        </p:nvSpPr>
        <p:spPr>
          <a:xfrm>
            <a:off x="6126480" y="1774080"/>
            <a:ext cx="25138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Shuffle = sorting, grouping, HTTP transferring of IR between Map and Reduce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Three steps: Map-Side Shuffle → Networking → Reduce-Side Shuffle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HDFS provides data supplication and IR caching across distributed nodes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Phase-Reconfigurable Shuffle optimises all three sub-phases dynamically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e27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1a2e27"/>
                </a:solidFill>
                <a:latin typeface="Calibri"/>
                <a:ea typeface="Calibri"/>
              </a:rPr>
              <a:t>Key improvements: reduce disk I/O, improve locality, pipeline merge/receive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Chapter 7 — Glossary of Key Terms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5"/>
          <p:cNvSpPr/>
          <p:nvPr/>
        </p:nvSpPr>
        <p:spPr>
          <a:xfrm>
            <a:off x="274320" y="914400"/>
            <a:ext cx="4205520" cy="749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6"/>
          <p:cNvSpPr/>
          <p:nvPr/>
        </p:nvSpPr>
        <p:spPr>
          <a:xfrm>
            <a:off x="384120" y="96912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Big Data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7"/>
          <p:cNvSpPr/>
          <p:nvPr/>
        </p:nvSpPr>
        <p:spPr>
          <a:xfrm>
            <a:off x="384120" y="124344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Techniques for retrieving information from large-sized data; generates value from high-volume storage or processing.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8"/>
          <p:cNvSpPr/>
          <p:nvPr/>
        </p:nvSpPr>
        <p:spPr>
          <a:xfrm>
            <a:off x="274320" y="1737360"/>
            <a:ext cx="4205520" cy="749160"/>
          </a:xfrm>
          <a:prstGeom prst="rect">
            <a:avLst/>
          </a:prstGeom>
          <a:solidFill>
            <a:srgbClr val="f4f9f5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9"/>
          <p:cNvSpPr/>
          <p:nvPr/>
        </p:nvSpPr>
        <p:spPr>
          <a:xfrm>
            <a:off x="384120" y="179208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V3s Standard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10"/>
          <p:cNvSpPr/>
          <p:nvPr/>
        </p:nvSpPr>
        <p:spPr>
          <a:xfrm>
            <a:off x="384120" y="206640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Volume, Velocity, Variety — the three widely accepted characteristics of big data.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1"/>
          <p:cNvSpPr/>
          <p:nvPr/>
        </p:nvSpPr>
        <p:spPr>
          <a:xfrm>
            <a:off x="274320" y="2560320"/>
            <a:ext cx="4205520" cy="749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12"/>
          <p:cNvSpPr/>
          <p:nvPr/>
        </p:nvSpPr>
        <p:spPr>
          <a:xfrm>
            <a:off x="384120" y="261504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Hadoop MapReduce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13"/>
          <p:cNvSpPr/>
          <p:nvPr/>
        </p:nvSpPr>
        <p:spPr>
          <a:xfrm>
            <a:off x="384120" y="288936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Leading open-source framework for big data processing using distributed parallel computation.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4"/>
          <p:cNvSpPr/>
          <p:nvPr/>
        </p:nvSpPr>
        <p:spPr>
          <a:xfrm>
            <a:off x="274320" y="3383280"/>
            <a:ext cx="4205520" cy="749160"/>
          </a:xfrm>
          <a:prstGeom prst="rect">
            <a:avLst/>
          </a:prstGeom>
          <a:solidFill>
            <a:srgbClr val="f4f9f5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15"/>
          <p:cNvSpPr/>
          <p:nvPr/>
        </p:nvSpPr>
        <p:spPr>
          <a:xfrm>
            <a:off x="384120" y="343800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Intermediate Result (IR)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16"/>
          <p:cNvSpPr/>
          <p:nvPr/>
        </p:nvSpPr>
        <p:spPr>
          <a:xfrm>
            <a:off x="384120" y="371232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Data produced by the Map function, first written to local disk, available for Reduce execution.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7"/>
          <p:cNvSpPr/>
          <p:nvPr/>
        </p:nvSpPr>
        <p:spPr>
          <a:xfrm>
            <a:off x="274320" y="4206240"/>
            <a:ext cx="4205520" cy="749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8"/>
          <p:cNvSpPr/>
          <p:nvPr/>
        </p:nvSpPr>
        <p:spPr>
          <a:xfrm>
            <a:off x="384120" y="426096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Shuffle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9"/>
          <p:cNvSpPr/>
          <p:nvPr/>
        </p:nvSpPr>
        <p:spPr>
          <a:xfrm>
            <a:off x="384120" y="453528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Group of procedures between Map and Reduce: sorting, grouping, and HTTP transferring of IR files.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0"/>
          <p:cNvSpPr/>
          <p:nvPr/>
        </p:nvSpPr>
        <p:spPr>
          <a:xfrm>
            <a:off x="4709160" y="914400"/>
            <a:ext cx="4205520" cy="749160"/>
          </a:xfrm>
          <a:prstGeom prst="rect">
            <a:avLst/>
          </a:prstGeom>
          <a:solidFill>
            <a:srgbClr val="f4f9f5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21"/>
          <p:cNvSpPr/>
          <p:nvPr/>
        </p:nvSpPr>
        <p:spPr>
          <a:xfrm>
            <a:off x="4818960" y="96912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MapTracker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22"/>
          <p:cNvSpPr/>
          <p:nvPr/>
        </p:nvSpPr>
        <p:spPr>
          <a:xfrm>
            <a:off x="4818960" y="124344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Worker node that executes the Map function and manages IR buffer, spilling, and grouping.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3"/>
          <p:cNvSpPr/>
          <p:nvPr/>
        </p:nvSpPr>
        <p:spPr>
          <a:xfrm>
            <a:off x="4709160" y="1737360"/>
            <a:ext cx="4205520" cy="749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4"/>
          <p:cNvSpPr/>
          <p:nvPr/>
        </p:nvSpPr>
        <p:spPr>
          <a:xfrm>
            <a:off x="4818960" y="179208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ReduceTracker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5"/>
          <p:cNvSpPr/>
          <p:nvPr/>
        </p:nvSpPr>
        <p:spPr>
          <a:xfrm>
            <a:off x="4818960" y="206640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Worker node that receives grouped IR files and applies the Reduce function to produce final output.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6"/>
          <p:cNvSpPr/>
          <p:nvPr/>
        </p:nvSpPr>
        <p:spPr>
          <a:xfrm>
            <a:off x="4709160" y="2560320"/>
            <a:ext cx="4205520" cy="749160"/>
          </a:xfrm>
          <a:prstGeom prst="rect">
            <a:avLst/>
          </a:prstGeom>
          <a:solidFill>
            <a:srgbClr val="f4f9f5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27"/>
          <p:cNvSpPr/>
          <p:nvPr/>
        </p:nvSpPr>
        <p:spPr>
          <a:xfrm>
            <a:off x="4818960" y="261504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Spilling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28"/>
          <p:cNvSpPr/>
          <p:nvPr/>
        </p:nvSpPr>
        <p:spPr>
          <a:xfrm>
            <a:off x="4818960" y="288936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Writing buffer contents to local disk when the buffer is full during the Map phase.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9"/>
          <p:cNvSpPr/>
          <p:nvPr/>
        </p:nvSpPr>
        <p:spPr>
          <a:xfrm>
            <a:off x="4709160" y="3383280"/>
            <a:ext cx="4205520" cy="74916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30"/>
          <p:cNvSpPr/>
          <p:nvPr/>
        </p:nvSpPr>
        <p:spPr>
          <a:xfrm>
            <a:off x="4818960" y="343800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HDFS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31"/>
          <p:cNvSpPr/>
          <p:nvPr/>
        </p:nvSpPr>
        <p:spPr>
          <a:xfrm>
            <a:off x="4818960" y="371232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Hadoop Distributed File System — provides data supplication and IR caching across distributed nodes.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2"/>
          <p:cNvSpPr/>
          <p:nvPr/>
        </p:nvSpPr>
        <p:spPr>
          <a:xfrm>
            <a:off x="4709160" y="4206240"/>
            <a:ext cx="4205520" cy="749160"/>
          </a:xfrm>
          <a:prstGeom prst="rect">
            <a:avLst/>
          </a:prstGeom>
          <a:solidFill>
            <a:srgbClr val="f4f9f5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33"/>
          <p:cNvSpPr/>
          <p:nvPr/>
        </p:nvSpPr>
        <p:spPr>
          <a:xfrm>
            <a:off x="4818960" y="4260960"/>
            <a:ext cx="3976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  <a:ea typeface="Calibri"/>
              </a:rPr>
              <a:t>Phase-Reconfigurable Shuffle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34"/>
          <p:cNvSpPr/>
          <p:nvPr/>
        </p:nvSpPr>
        <p:spPr>
          <a:xfrm>
            <a:off x="4818960" y="453528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e27"/>
                </a:solidFill>
                <a:latin typeface="Calibri"/>
                <a:ea typeface="Calibri"/>
              </a:rPr>
              <a:t>Advanced optimization algorithm that dynamically reconfigures Shuffle parameters to reduce total execution time.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0"/>
          <p:cNvSpPr/>
          <p:nvPr/>
        </p:nvSpPr>
        <p:spPr>
          <a:xfrm>
            <a:off x="0" y="0"/>
            <a:ext cx="9143280" cy="785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Text 2"/>
          <p:cNvSpPr/>
          <p:nvPr/>
        </p:nvSpPr>
        <p:spPr>
          <a:xfrm>
            <a:off x="201240" y="0"/>
            <a:ext cx="877752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Chapter 7 — Exercises (§7.6)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4"/>
          <p:cNvSpPr/>
          <p:nvPr/>
        </p:nvSpPr>
        <p:spPr>
          <a:xfrm>
            <a:off x="0" y="4864680"/>
            <a:ext cx="91432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5"/>
          <p:cNvSpPr/>
          <p:nvPr/>
        </p:nvSpPr>
        <p:spPr>
          <a:xfrm>
            <a:off x="274320" y="91440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27"/>
                </a:solidFill>
                <a:latin typeface="Calibri"/>
                <a:ea typeface="Calibri"/>
              </a:rPr>
              <a:t>Practice questions from the textbook — test your understanding of all three topic areas: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6"/>
          <p:cNvSpPr/>
          <p:nvPr/>
        </p:nvSpPr>
        <p:spPr>
          <a:xfrm>
            <a:off x="274320" y="135324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7"/>
          <p:cNvSpPr/>
          <p:nvPr/>
        </p:nvSpPr>
        <p:spPr>
          <a:xfrm>
            <a:off x="274320" y="1353240"/>
            <a:ext cx="4205520" cy="346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8"/>
          <p:cNvSpPr/>
          <p:nvPr/>
        </p:nvSpPr>
        <p:spPr>
          <a:xfrm>
            <a:off x="365760" y="135324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Q1  [V3s]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9"/>
          <p:cNvSpPr/>
          <p:nvPr/>
        </p:nvSpPr>
        <p:spPr>
          <a:xfrm>
            <a:off x="384120" y="173736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What are the meanings of Volume, Velocity, and Variety in the concept of big data?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0"/>
          <p:cNvSpPr/>
          <p:nvPr/>
        </p:nvSpPr>
        <p:spPr>
          <a:xfrm>
            <a:off x="274320" y="252360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1"/>
          <p:cNvSpPr/>
          <p:nvPr/>
        </p:nvSpPr>
        <p:spPr>
          <a:xfrm>
            <a:off x="274320" y="2523600"/>
            <a:ext cx="4205520" cy="3466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12"/>
          <p:cNvSpPr/>
          <p:nvPr/>
        </p:nvSpPr>
        <p:spPr>
          <a:xfrm>
            <a:off x="365760" y="25236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Q2  [Processing]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13"/>
          <p:cNvSpPr/>
          <p:nvPr/>
        </p:nvSpPr>
        <p:spPr>
          <a:xfrm>
            <a:off x="384120" y="290772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Briefly describe the two steps of big data processing.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4"/>
          <p:cNvSpPr/>
          <p:nvPr/>
        </p:nvSpPr>
        <p:spPr>
          <a:xfrm>
            <a:off x="274320" y="369432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5"/>
          <p:cNvSpPr/>
          <p:nvPr/>
        </p:nvSpPr>
        <p:spPr>
          <a:xfrm>
            <a:off x="274320" y="3694320"/>
            <a:ext cx="420552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16"/>
          <p:cNvSpPr/>
          <p:nvPr/>
        </p:nvSpPr>
        <p:spPr>
          <a:xfrm>
            <a:off x="365760" y="3694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Q3  [Shuffle]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17"/>
          <p:cNvSpPr/>
          <p:nvPr/>
        </p:nvSpPr>
        <p:spPr>
          <a:xfrm>
            <a:off x="384120" y="407808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Briefly describe the mechanism of phase-reconfigurable shuffle optimisation. Explain the operating principle of the optimisations.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8"/>
          <p:cNvSpPr/>
          <p:nvPr/>
        </p:nvSpPr>
        <p:spPr>
          <a:xfrm>
            <a:off x="4709160" y="135324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9"/>
          <p:cNvSpPr/>
          <p:nvPr/>
        </p:nvSpPr>
        <p:spPr>
          <a:xfrm>
            <a:off x="4709160" y="1353240"/>
            <a:ext cx="4205520" cy="346680"/>
          </a:xfrm>
          <a:prstGeom prst="rect">
            <a:avLst/>
          </a:prstGeom>
          <a:solidFill>
            <a:srgbClr val="ea58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20"/>
          <p:cNvSpPr/>
          <p:nvPr/>
        </p:nvSpPr>
        <p:spPr>
          <a:xfrm>
            <a:off x="4800600" y="135324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Q4  [IR]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Text 21"/>
          <p:cNvSpPr/>
          <p:nvPr/>
        </p:nvSpPr>
        <p:spPr>
          <a:xfrm>
            <a:off x="4818960" y="173736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What is an Intermediate Result (IR) in Hadoop? Where is it stored and what is its purpose?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2"/>
          <p:cNvSpPr/>
          <p:nvPr/>
        </p:nvSpPr>
        <p:spPr>
          <a:xfrm>
            <a:off x="4709160" y="252360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3"/>
          <p:cNvSpPr/>
          <p:nvPr/>
        </p:nvSpPr>
        <p:spPr>
          <a:xfrm>
            <a:off x="4709160" y="2523600"/>
            <a:ext cx="420552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24"/>
          <p:cNvSpPr/>
          <p:nvPr/>
        </p:nvSpPr>
        <p:spPr>
          <a:xfrm>
            <a:off x="4800600" y="25236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Q5  [Shuffle]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25"/>
          <p:cNvSpPr/>
          <p:nvPr/>
        </p:nvSpPr>
        <p:spPr>
          <a:xfrm>
            <a:off x="4818960" y="290772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Give a presentation on the spilling and network in shuffle. What are the two main operations?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6"/>
          <p:cNvSpPr/>
          <p:nvPr/>
        </p:nvSpPr>
        <p:spPr>
          <a:xfrm>
            <a:off x="4709160" y="3694320"/>
            <a:ext cx="4205520" cy="1059840"/>
          </a:xfrm>
          <a:prstGeom prst="rect">
            <a:avLst/>
          </a:prstGeom>
          <a:solidFill>
            <a:srgbClr val="e8f5e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7"/>
          <p:cNvSpPr/>
          <p:nvPr/>
        </p:nvSpPr>
        <p:spPr>
          <a:xfrm>
            <a:off x="4709160" y="3694320"/>
            <a:ext cx="4205520" cy="34668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28"/>
          <p:cNvSpPr/>
          <p:nvPr/>
        </p:nvSpPr>
        <p:spPr>
          <a:xfrm>
            <a:off x="4800600" y="3694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Q6  [Map]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Text 29"/>
          <p:cNvSpPr/>
          <p:nvPr/>
        </p:nvSpPr>
        <p:spPr>
          <a:xfrm>
            <a:off x="4818960" y="4078080"/>
            <a:ext cx="39859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27"/>
                </a:solidFill>
                <a:latin typeface="Calibri"/>
                <a:ea typeface="Calibri"/>
              </a:rPr>
              <a:t>How does a Map function work in a distributed system? Describe each step from receiving data to producing output.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0"/>
          <p:cNvSpPr/>
          <p:nvPr/>
        </p:nvSpPr>
        <p:spPr>
          <a:xfrm>
            <a:off x="0" y="0"/>
            <a:ext cx="127440" cy="5142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1"/>
          <p:cNvSpPr/>
          <p:nvPr/>
        </p:nvSpPr>
        <p:spPr>
          <a:xfrm>
            <a:off x="0" y="4663440"/>
            <a:ext cx="9143280" cy="47952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2"/>
          <p:cNvSpPr/>
          <p:nvPr/>
        </p:nvSpPr>
        <p:spPr>
          <a:xfrm>
            <a:off x="365760" y="320040"/>
            <a:ext cx="8411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395" strike="noStrike">
                <a:solidFill>
                  <a:srgbClr val="10b981"/>
                </a:solidFill>
                <a:latin typeface="Calibri"/>
                <a:ea typeface="Calibri"/>
              </a:rPr>
              <a:t>REVIEW QUESTIONS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3"/>
          <p:cNvSpPr/>
          <p:nvPr/>
        </p:nvSpPr>
        <p:spPr>
          <a:xfrm>
            <a:off x="365760" y="731520"/>
            <a:ext cx="8411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a7f3d0"/>
                </a:solidFill>
                <a:latin typeface="Calibri"/>
                <a:ea typeface="Calibri"/>
              </a:rPr>
              <a:t>Chapter 7 — Big Data and Service Computing in Cloud Computing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4"/>
          <p:cNvSpPr/>
          <p:nvPr/>
        </p:nvSpPr>
        <p:spPr>
          <a:xfrm>
            <a:off x="365760" y="117036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5"/>
          <p:cNvSpPr/>
          <p:nvPr/>
        </p:nvSpPr>
        <p:spPr>
          <a:xfrm>
            <a:off x="365760" y="117036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6"/>
          <p:cNvSpPr/>
          <p:nvPr/>
        </p:nvSpPr>
        <p:spPr>
          <a:xfrm>
            <a:off x="365760" y="117036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 7"/>
          <p:cNvSpPr/>
          <p:nvPr/>
        </p:nvSpPr>
        <p:spPr>
          <a:xfrm>
            <a:off x="786240" y="120708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Define Big Data. Why can traditional database systems not handle it?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Shape 8"/>
          <p:cNvSpPr/>
          <p:nvPr/>
        </p:nvSpPr>
        <p:spPr>
          <a:xfrm>
            <a:off x="365760" y="199332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Shape 9"/>
          <p:cNvSpPr/>
          <p:nvPr/>
        </p:nvSpPr>
        <p:spPr>
          <a:xfrm>
            <a:off x="365760" y="199332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10"/>
          <p:cNvSpPr/>
          <p:nvPr/>
        </p:nvSpPr>
        <p:spPr>
          <a:xfrm>
            <a:off x="365760" y="199332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11"/>
          <p:cNvSpPr/>
          <p:nvPr/>
        </p:nvSpPr>
        <p:spPr>
          <a:xfrm>
            <a:off x="786240" y="203004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Distinguish Velocity from Volume. Give a real-world example of each.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Shape 12"/>
          <p:cNvSpPr/>
          <p:nvPr/>
        </p:nvSpPr>
        <p:spPr>
          <a:xfrm>
            <a:off x="365760" y="281628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13"/>
          <p:cNvSpPr/>
          <p:nvPr/>
        </p:nvSpPr>
        <p:spPr>
          <a:xfrm>
            <a:off x="365760" y="281628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14"/>
          <p:cNvSpPr/>
          <p:nvPr/>
        </p:nvSpPr>
        <p:spPr>
          <a:xfrm>
            <a:off x="365760" y="281628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 15"/>
          <p:cNvSpPr/>
          <p:nvPr/>
        </p:nvSpPr>
        <p:spPr>
          <a:xfrm>
            <a:off x="786240" y="285300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What is Variety and why is unstructured data the hardest to process?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16"/>
          <p:cNvSpPr/>
          <p:nvPr/>
        </p:nvSpPr>
        <p:spPr>
          <a:xfrm>
            <a:off x="365760" y="363924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Shape 17"/>
          <p:cNvSpPr/>
          <p:nvPr/>
        </p:nvSpPr>
        <p:spPr>
          <a:xfrm>
            <a:off x="365760" y="363924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18"/>
          <p:cNvSpPr/>
          <p:nvPr/>
        </p:nvSpPr>
        <p:spPr>
          <a:xfrm>
            <a:off x="365760" y="363924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19"/>
          <p:cNvSpPr/>
          <p:nvPr/>
        </p:nvSpPr>
        <p:spPr>
          <a:xfrm>
            <a:off x="786240" y="367596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Why does the Shuffle phase consume ~1/3 of MapReduce execution time?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20"/>
          <p:cNvSpPr/>
          <p:nvPr/>
        </p:nvSpPr>
        <p:spPr>
          <a:xfrm>
            <a:off x="4800600" y="117036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21"/>
          <p:cNvSpPr/>
          <p:nvPr/>
        </p:nvSpPr>
        <p:spPr>
          <a:xfrm>
            <a:off x="4800600" y="117036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22"/>
          <p:cNvSpPr/>
          <p:nvPr/>
        </p:nvSpPr>
        <p:spPr>
          <a:xfrm>
            <a:off x="4800600" y="117036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23"/>
          <p:cNvSpPr/>
          <p:nvPr/>
        </p:nvSpPr>
        <p:spPr>
          <a:xfrm>
            <a:off x="5221080" y="120708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Explain the Map-Side Shuffle. What triggers a buffer spill?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Shape 24"/>
          <p:cNvSpPr/>
          <p:nvPr/>
        </p:nvSpPr>
        <p:spPr>
          <a:xfrm>
            <a:off x="4800600" y="199332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Shape 25"/>
          <p:cNvSpPr/>
          <p:nvPr/>
        </p:nvSpPr>
        <p:spPr>
          <a:xfrm>
            <a:off x="4800600" y="199332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26"/>
          <p:cNvSpPr/>
          <p:nvPr/>
        </p:nvSpPr>
        <p:spPr>
          <a:xfrm>
            <a:off x="4800600" y="199332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27"/>
          <p:cNvSpPr/>
          <p:nvPr/>
        </p:nvSpPr>
        <p:spPr>
          <a:xfrm>
            <a:off x="5221080" y="203004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What is an IR file? Trace its lifecycle from Map to Reduce.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Shape 28"/>
          <p:cNvSpPr/>
          <p:nvPr/>
        </p:nvSpPr>
        <p:spPr>
          <a:xfrm>
            <a:off x="4800600" y="281628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29"/>
          <p:cNvSpPr/>
          <p:nvPr/>
        </p:nvSpPr>
        <p:spPr>
          <a:xfrm>
            <a:off x="4800600" y="281628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30"/>
          <p:cNvSpPr/>
          <p:nvPr/>
        </p:nvSpPr>
        <p:spPr>
          <a:xfrm>
            <a:off x="4800600" y="281628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31"/>
          <p:cNvSpPr/>
          <p:nvPr/>
        </p:nvSpPr>
        <p:spPr>
          <a:xfrm>
            <a:off x="5221080" y="285300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Why does current MapReduce lack locality awareness? What is the cost?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Shape 32"/>
          <p:cNvSpPr/>
          <p:nvPr/>
        </p:nvSpPr>
        <p:spPr>
          <a:xfrm>
            <a:off x="4800600" y="3639240"/>
            <a:ext cx="4159800" cy="730800"/>
          </a:xfrm>
          <a:prstGeom prst="rect">
            <a:avLst/>
          </a:prstGeom>
          <a:solidFill>
            <a:srgbClr val="1a3a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33"/>
          <p:cNvSpPr/>
          <p:nvPr/>
        </p:nvSpPr>
        <p:spPr>
          <a:xfrm>
            <a:off x="4800600" y="3639240"/>
            <a:ext cx="346680" cy="730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34"/>
          <p:cNvSpPr/>
          <p:nvPr/>
        </p:nvSpPr>
        <p:spPr>
          <a:xfrm>
            <a:off x="4800600" y="3639240"/>
            <a:ext cx="346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35"/>
          <p:cNvSpPr/>
          <p:nvPr/>
        </p:nvSpPr>
        <p:spPr>
          <a:xfrm>
            <a:off x="5221080" y="3675960"/>
            <a:ext cx="3656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7f3d0"/>
                </a:solidFill>
                <a:latin typeface="Calibri"/>
                <a:ea typeface="Calibri"/>
              </a:rPr>
              <a:t>Describe the Phase-Reconfigurable Shuffle. Which sub-phase does it optimise most?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36"/>
          <p:cNvSpPr/>
          <p:nvPr/>
        </p:nvSpPr>
        <p:spPr>
          <a:xfrm>
            <a:off x="0" y="4663440"/>
            <a:ext cx="914328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Mobile Cloud Computing — Qiu &amp; Gai (2017)  ·  Chapter 7  ·  MSc Computer Engineering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2026-04-16T06:12:50Z</dcterms:created>
  <dc:creator>PptxGenJS</dc:creator>
  <dc:description/>
  <dc:language>en-US</dc:language>
  <cp:lastModifiedBy/>
  <dcterms:modified xsi:type="dcterms:W3CDTF">2026-04-16T13:32:41Z</dcterms:modified>
  <cp:revision>9</cp:revision>
  <dc:subject>PptxGenJS Presentation</dc:subject>
  <dc:title>Chapter 7 — Big Data and Service Computing in Cloud Computing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34</vt:i4>
  </property>
  <property fmtid="{D5CDD505-2E9C-101B-9397-08002B2CF9AE}" pid="3" name="PresentationFormat">
    <vt:lpwstr>On-screen Show (16:9)</vt:lpwstr>
  </property>
  <property fmtid="{D5CDD505-2E9C-101B-9397-08002B2CF9AE}" pid="4" name="Slides">
    <vt:i4>34</vt:i4>
  </property>
</Properties>
</file>
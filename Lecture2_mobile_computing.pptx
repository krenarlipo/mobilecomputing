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9" d="100"/>
          <a:sy n="89" d="100"/>
        </p:scale>
        <p:origin x="437"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GSMA, “The Mobile Economy 2026,” https://www.gsma.com/solutions-and-impact/connectivity-for-good/mobile-economy/ (economic framing and global sector context).,- 3GPP, “Release 18,” https://www.3gpp.org/specifications-technologies/releases/release-18 (current standards context for 5G-Advanced).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Lecture structure synthesized by the author; standards context from GSMA and 3GPP sources used across the deck.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NIST SP 800-124 Rev. 2, https://csrc.nist.gov/pubs/sp/800/124/r2/final (enterprise framing of mobile devices as critical computing endpoints).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GSMA, “The Mobile Economy 2026,” https://www.gsma.com/solutions-and-impact/connectivity-for-good/mobile-economy/ (global economic impact and adoption context).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Architecture synthesis by the author; platform and standards concepts aligned with Android Developers, Apple Core ML platform docs, NIST guidance, and 3GPP Release 18.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Android Developers, “Excessive partial wake locks,” https://developer.android.com/topic/performance/vitals/excessive-wakelock.,- Android Developers, “Excessive wakeups,” https://developer.android.com/topic/performance/vitals/wakeup.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NIST SP 800-124 Rev. 2 on management/security controls for mobile endpoints.,- Android performance and background work guidance from developer.android.com.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[Sources],- 3GPP Release 18 materials for current cellular capabilities.,- General radio taxonomy synthesized by the author using standard mobile networking practice.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[Sources],- 3GPP, “Release 18,” https://www.3gpp.org/specifications-technologies/releases/release-18.,- 3GPP, “AI/ML for NG-RAN &amp; 5G-Advanced towards 6G,” https://www.3gpp.org/technologies/ai-ml-ngran.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Mobile systems/distributed-systems synthesis by the author; no singular external numeric claim on this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Platform model descriptions synthesized by the author using established software-architecture practice.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Distributed/offline sync concepts synthesized by the author.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Context-aware computing concepts synthesized by the author.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NIST mobile security guidance is relevant to health-related device management and risk framing.,- Use-case framing synthesized by the author.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OWASP MASVS, https://mas.owasp.org/MASVS/ and related OWASP Mobile Application Security materials for secure mobile app design standards.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Use-case framing synthesized by the author.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[Sources],- 3GPP Release 18 feature material for XR/media relevance in modern mobile networks.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Android Developers, “Baseline Profiles overview,” https://developer.android.com/topic/performance/baselineprofiles/overview.,- Android Developers, “Create Startup Profiles / DEX layout optimizations,” https://developer.android.com/topic/performance/startupprofiles/dex-layout-optimizations.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Android Developers wake lock and wakeup guidance: https://developer.android.com/topic/performance/vitals/excessive-wakelock and https://developer.android.com/topic/performance/vitals/wakeup.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QoS/QoE framing synthesized by the author.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OWASP MASVS, https://mas.owasp.org/MASVS/.,- NIST SP 800-124 Rev. 2, https://csrc.nist.gov/pubs/sp/800/124/r2/final.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OWASP Mobile Application Security project materials and NIST mobile guidance inform privacy/security controls framing.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OWASP MASVS / MASTG materials for secure mobile testing and verification structure.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ETSI standards ecosystem provides context for edge computing in telecom environments: https://www.etsi.org/.,- Architectural synthesis by the author.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Apple Developer, “Core ML,” https://developer.apple.com/machine-learning/core-ml/ and https://developer.apple.com/documentation/coreml.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Case study synthesized by the author from established mobile systems principles.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Research themes synthesized by the author and aligned with current standards/platform trajectories in Android, Apple, 3GPP, OWASP, and NIST materials.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Summary synthesized from the full lecture and the cited standards/platform sources above.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GSMA: https://www.gsma.com/solutions-and-impact/connectivity-for-good/mobile-economy/,- 3GPP Release 18: https://www.3gpp.org/specifications-technologies/releases/release-18,- NIST SP 800-124 Rev. 2: https://csrc.nist.gov/pubs/sp/800/124/r2/final,- Android Developers: https://developer.android.com/topic/performance/baselineprofiles/overview ; https://developer.android.com/topic/performance/startupprofiles/dex-layout-optimizations ; https://developer.android.com/topic/performance/vitals/excessive-wakelock,- OWASP MASVS: https://mas.owasp.org/MASVS/,- Apple Core ML: https://developer.apple.com/machine-learning/core-ml/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183153"/>
          </a:solidFill>
          <a:ln w="12700">
            <a:solidFill>
              <a:srgbClr val="183153"/>
            </a:solidFill>
            <a:prstDash val="solid"/>
          </a:ln>
        </p:spPr>
      </p:sp>
      <p:sp>
        <p:nvSpPr>
          <p:cNvPr id="3" name="Shape 1"/>
          <p:cNvSpPr/>
          <p:nvPr/>
        </p:nvSpPr>
        <p:spPr>
          <a:xfrm>
            <a:off x="0" y="6565392"/>
            <a:ext cx="12191695" cy="292608"/>
          </a:xfrm>
          <a:prstGeom prst="rect">
            <a:avLst/>
          </a:prstGeom>
          <a:solidFill>
            <a:srgbClr val="183153"/>
          </a:solidFill>
          <a:ln w="12700">
            <a:solidFill>
              <a:srgbClr val="183153"/>
            </a:solidFill>
            <a:prstDash val="solid"/>
          </a:ln>
        </p:spPr>
      </p:sp>
      <p:sp>
        <p:nvSpPr>
          <p:cNvPr id="4" name="Text 2"/>
          <p:cNvSpPr/>
          <p:nvPr/>
        </p:nvSpPr>
        <p:spPr>
          <a:xfrm>
            <a:off x="320040" y="6601968"/>
            <a:ext cx="4754880" cy="146304"/>
          </a:xfrm>
          <a:prstGeom prst="rect">
            <a:avLst/>
          </a:prstGeom>
          <a:noFill/>
          <a:ln/>
        </p:spPr>
        <p:txBody>
          <a:bodyPr wrap="square" rtlCol="0" anchor="ctr"/>
          <a:lstStyle/>
          <a:p>
            <a:pPr marL="0" indent="0">
              <a:buNone/>
            </a:pPr>
            <a:r>
              <a:rPr lang="en-US" sz="900" dirty="0">
                <a:solidFill>
                  <a:srgbClr val="FFFFFF"/>
                </a:solidFill>
                <a:latin typeface="Aptos" pitchFamily="34" charset="0"/>
                <a:ea typeface="Aptos" pitchFamily="34" charset="-122"/>
                <a:cs typeface="Aptos" pitchFamily="34" charset="-120"/>
              </a:rPr>
              <a:t>Mobile Computing — Graduate Lecture Deck</a:t>
            </a:r>
            <a:endParaRPr lang="en-US" sz="900" dirty="0"/>
          </a:p>
        </p:txBody>
      </p:sp>
      <p:sp>
        <p:nvSpPr>
          <p:cNvPr id="5" name="Text 3"/>
          <p:cNvSpPr/>
          <p:nvPr/>
        </p:nvSpPr>
        <p:spPr>
          <a:xfrm>
            <a:off x="8412480" y="6601968"/>
            <a:ext cx="3383280" cy="146304"/>
          </a:xfrm>
          <a:prstGeom prst="rect">
            <a:avLst/>
          </a:prstGeom>
          <a:noFill/>
          <a:ln/>
        </p:spPr>
        <p:txBody>
          <a:bodyPr wrap="square" rtlCol="0" anchor="ctr"/>
          <a:lstStyle/>
          <a:p>
            <a:pPr marL="0" indent="0" algn="r">
              <a:buNone/>
            </a:pPr>
            <a:r>
              <a:rPr lang="en-US" sz="900" dirty="0">
                <a:solidFill>
                  <a:srgbClr val="DDE7F4"/>
                </a:solidFill>
                <a:latin typeface="Aptos" pitchFamily="34" charset="0"/>
                <a:ea typeface="Aptos" pitchFamily="34" charset="-122"/>
                <a:cs typeface="Aptos" pitchFamily="34" charset="-120"/>
              </a:rPr>
              <a:t>Krenar Lipo / CS Master Level</a:t>
            </a:r>
            <a:endParaRPr lang="en-US" sz="900" dirty="0"/>
          </a:p>
        </p:txBody>
      </p:sp>
      <p:sp>
        <p:nvSpPr>
          <p:cNvPr id="25" name="Slide Number Placeholder 0"/>
          <p:cNvSpPr>
            <a:spLocks noGrp="1"/>
          </p:cNvSpPr>
          <p:nvPr>
            <p:ph type="sldNum" sz="quarter" idx="4294967295"/>
          </p:nvPr>
        </p:nvSpPr>
        <p:spPr>
          <a:xfrm>
            <a:off x="11658600" y="6601968"/>
            <a:ext cx="228600" cy="146304"/>
          </a:xfrm>
          <a:prstGeom prst="rect">
            <a:avLst/>
          </a:prstGeom>
          <a:extLst>
            <a:ext uri="{C572A759-6A51-4108-AA02-DFA0A04FC94B}">
              <ma14:wrappingTextBoxFlag xmlns:ma14="http://schemas.microsoft.com/office/mac/drawingml/2011/main" xmlns="" val="0"/>
            </a:ext>
          </a:extLst>
        </p:spPr>
        <p:txBody>
          <a:bodyPr/>
          <a:lstStyle>
            <a:lvl1pPr>
              <a:defRPr sz="900">
                <a:solidFill>
                  <a:srgbClr val="FFFFFF"/>
                </a:solidFill>
              </a:defRPr>
            </a:lvl1pPr>
          </a:lstStyle>
          <a:p>
            <a:pPr algn="ct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601968"/>
            <a:ext cx="228600" cy="146304"/>
          </a:xfrm>
          <a:prstGeom prst="rect">
            <a:avLst/>
          </a:prstGeom>
          <a:extLst>
            <a:ext uri="{C572A759-6A51-4108-AA02-DFA0A04FC94B}">
              <ma14:wrappingTextBoxFlag xmlns:ma14="http://schemas.microsoft.com/office/mac/drawingml/2011/main" xmlns="" val="0"/>
            </a:ext>
          </a:extLst>
        </p:spPr>
        <p:txBody>
          <a:bodyPr/>
          <a:lstStyle>
            <a:lvl1pPr>
              <a:defRPr sz="900">
                <a:solidFill>
                  <a:srgbClr val="FFFFFF"/>
                </a:solidFill>
              </a:defRPr>
            </a:lvl1pPr>
          </a:lstStyle>
          <a:p>
            <a:pPr algn="ct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C"/>
          </a:solidFill>
          <a:ln w="12700">
            <a:solidFill>
              <a:srgbClr val="F7F9FC"/>
            </a:solidFill>
            <a:prstDash val="solid"/>
          </a:ln>
        </p:spPr>
      </p:sp>
      <p:sp>
        <p:nvSpPr>
          <p:cNvPr id="3" name="Shape 1"/>
          <p:cNvSpPr/>
          <p:nvPr/>
        </p:nvSpPr>
        <p:spPr>
          <a:xfrm>
            <a:off x="0" y="0"/>
            <a:ext cx="12191695" cy="914400"/>
          </a:xfrm>
          <a:prstGeom prst="rect">
            <a:avLst/>
          </a:prstGeom>
          <a:solidFill>
            <a:srgbClr val="183153"/>
          </a:solidFill>
          <a:ln w="12700">
            <a:solidFill>
              <a:srgbClr val="183153"/>
            </a:solidFill>
            <a:prstDash val="solid"/>
          </a:ln>
        </p:spPr>
      </p:sp>
      <p:sp>
        <p:nvSpPr>
          <p:cNvPr id="4" name="Text 2"/>
          <p:cNvSpPr/>
          <p:nvPr/>
        </p:nvSpPr>
        <p:spPr>
          <a:xfrm>
            <a:off x="640080" y="1097280"/>
            <a:ext cx="8046720" cy="640080"/>
          </a:xfrm>
          <a:prstGeom prst="rect">
            <a:avLst/>
          </a:prstGeom>
          <a:noFill/>
          <a:ln/>
        </p:spPr>
        <p:txBody>
          <a:bodyPr wrap="square" rtlCol="0" anchor="ctr"/>
          <a:lstStyle/>
          <a:p>
            <a:pPr marL="0" indent="0">
              <a:buNone/>
            </a:pPr>
            <a:r>
              <a:rPr lang="en-US" sz="2800" b="1" dirty="0">
                <a:solidFill>
                  <a:srgbClr val="183153"/>
                </a:solidFill>
                <a:latin typeface="Aptos Display" pitchFamily="34" charset="0"/>
                <a:ea typeface="Aptos Display" pitchFamily="34" charset="-122"/>
                <a:cs typeface="Aptos Display" pitchFamily="34" charset="-120"/>
              </a:rPr>
              <a:t>Usage in Mobile Computing</a:t>
            </a:r>
            <a:endParaRPr lang="en-US" sz="2800" dirty="0"/>
          </a:p>
        </p:txBody>
      </p:sp>
      <p:sp>
        <p:nvSpPr>
          <p:cNvPr id="5" name="Text 3"/>
          <p:cNvSpPr/>
          <p:nvPr/>
        </p:nvSpPr>
        <p:spPr>
          <a:xfrm>
            <a:off x="658368" y="1874520"/>
            <a:ext cx="9875520" cy="502920"/>
          </a:xfrm>
          <a:prstGeom prst="rect">
            <a:avLst/>
          </a:prstGeom>
          <a:noFill/>
          <a:ln/>
        </p:spPr>
        <p:txBody>
          <a:bodyPr wrap="square" rtlCol="0" anchor="ctr"/>
          <a:lstStyle/>
          <a:p>
            <a:pPr marL="0" indent="0">
              <a:buNone/>
            </a:pPr>
            <a:r>
              <a:rPr lang="en-US" sz="1600" dirty="0">
                <a:solidFill>
                  <a:srgbClr val="44556B"/>
                </a:solidFill>
              </a:rPr>
              <a:t>Lecture 2 master-level on systems, architectures, applications, security, performance, and emerging research</a:t>
            </a:r>
            <a:endParaRPr lang="en-US" sz="1600" dirty="0"/>
          </a:p>
        </p:txBody>
      </p:sp>
      <p:sp>
        <p:nvSpPr>
          <p:cNvPr id="6" name="Shape 4"/>
          <p:cNvSpPr/>
          <p:nvPr/>
        </p:nvSpPr>
        <p:spPr>
          <a:xfrm>
            <a:off x="685800" y="2743200"/>
            <a:ext cx="3383280" cy="1417320"/>
          </a:xfrm>
          <a:prstGeom prst="roundRect">
            <a:avLst>
              <a:gd name="adj" fmla="val 5161"/>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7" name="Shape 5"/>
          <p:cNvSpPr/>
          <p:nvPr/>
        </p:nvSpPr>
        <p:spPr>
          <a:xfrm>
            <a:off x="685800" y="2743200"/>
            <a:ext cx="3383280" cy="347472"/>
          </a:xfrm>
          <a:prstGeom prst="rect">
            <a:avLst/>
          </a:prstGeom>
          <a:solidFill>
            <a:srgbClr val="2864DC"/>
          </a:solidFill>
          <a:ln w="12700">
            <a:solidFill>
              <a:srgbClr val="2864DC"/>
            </a:solidFill>
            <a:prstDash val="solid"/>
          </a:ln>
        </p:spPr>
      </p:sp>
      <p:sp>
        <p:nvSpPr>
          <p:cNvPr id="8" name="Text 6"/>
          <p:cNvSpPr/>
          <p:nvPr/>
        </p:nvSpPr>
        <p:spPr>
          <a:xfrm>
            <a:off x="795528" y="2807208"/>
            <a:ext cx="3163824" cy="182880"/>
          </a:xfrm>
          <a:prstGeom prst="rect">
            <a:avLst/>
          </a:prstGeom>
          <a:noFill/>
          <a:ln/>
        </p:spPr>
        <p:txBody>
          <a:bodyPr wrap="square" rtlCol="0" anchor="ctr"/>
          <a:lstStyle/>
          <a:p>
            <a:pPr marL="0" indent="0">
              <a:buNone/>
            </a:pPr>
            <a:r>
              <a:rPr lang="en-US" sz="1600" b="1" dirty="0">
                <a:solidFill>
                  <a:srgbClr val="FFFFFF"/>
                </a:solidFill>
              </a:rPr>
              <a:t>Focus</a:t>
            </a:r>
            <a:endParaRPr lang="en-US" sz="1600" dirty="0"/>
          </a:p>
        </p:txBody>
      </p:sp>
      <p:sp>
        <p:nvSpPr>
          <p:cNvPr id="9" name="Text 7"/>
          <p:cNvSpPr/>
          <p:nvPr/>
        </p:nvSpPr>
        <p:spPr>
          <a:xfrm>
            <a:off x="832104" y="3200400"/>
            <a:ext cx="3090672" cy="868680"/>
          </a:xfrm>
          <a:prstGeom prst="rect">
            <a:avLst/>
          </a:prstGeom>
          <a:noFill/>
          <a:ln/>
        </p:spPr>
        <p:txBody>
          <a:bodyPr wrap="square" rtlCol="0" anchor="t"/>
          <a:lstStyle/>
          <a:p>
            <a:pPr marL="0" indent="0">
              <a:buNone/>
            </a:pPr>
            <a:r>
              <a:rPr lang="en-US" sz="1350" dirty="0">
                <a:solidFill>
                  <a:srgbClr val="0F172A"/>
                </a:solidFill>
              </a:rPr>
              <a:t>How mobile systems create value under constraints: mobility, intermittency, energy, context, and privacy.</a:t>
            </a:r>
            <a:endParaRPr lang="en-US" sz="1350" dirty="0"/>
          </a:p>
        </p:txBody>
      </p:sp>
      <p:sp>
        <p:nvSpPr>
          <p:cNvPr id="10" name="Shape 8"/>
          <p:cNvSpPr/>
          <p:nvPr/>
        </p:nvSpPr>
        <p:spPr>
          <a:xfrm>
            <a:off x="4389120" y="2743200"/>
            <a:ext cx="3383280" cy="1417320"/>
          </a:xfrm>
          <a:prstGeom prst="roundRect">
            <a:avLst>
              <a:gd name="adj" fmla="val 5161"/>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1" name="Shape 9"/>
          <p:cNvSpPr/>
          <p:nvPr/>
        </p:nvSpPr>
        <p:spPr>
          <a:xfrm>
            <a:off x="4389120" y="2743200"/>
            <a:ext cx="3383280" cy="347472"/>
          </a:xfrm>
          <a:prstGeom prst="rect">
            <a:avLst/>
          </a:prstGeom>
          <a:solidFill>
            <a:srgbClr val="0D9488"/>
          </a:solidFill>
          <a:ln w="12700">
            <a:solidFill>
              <a:srgbClr val="0D9488"/>
            </a:solidFill>
            <a:prstDash val="solid"/>
          </a:ln>
        </p:spPr>
      </p:sp>
      <p:sp>
        <p:nvSpPr>
          <p:cNvPr id="12" name="Text 10"/>
          <p:cNvSpPr/>
          <p:nvPr/>
        </p:nvSpPr>
        <p:spPr>
          <a:xfrm>
            <a:off x="4498848" y="2807208"/>
            <a:ext cx="3163824" cy="182880"/>
          </a:xfrm>
          <a:prstGeom prst="rect">
            <a:avLst/>
          </a:prstGeom>
          <a:noFill/>
          <a:ln/>
        </p:spPr>
        <p:txBody>
          <a:bodyPr wrap="square" rtlCol="0" anchor="ctr"/>
          <a:lstStyle/>
          <a:p>
            <a:pPr marL="0" indent="0">
              <a:buNone/>
            </a:pPr>
            <a:r>
              <a:rPr lang="en-US" sz="1600" b="1" dirty="0">
                <a:solidFill>
                  <a:srgbClr val="FFFFFF"/>
                </a:solidFill>
              </a:rPr>
              <a:t>Audience</a:t>
            </a:r>
            <a:endParaRPr lang="en-US" sz="1600" dirty="0"/>
          </a:p>
        </p:txBody>
      </p:sp>
      <p:sp>
        <p:nvSpPr>
          <p:cNvPr id="13" name="Text 11"/>
          <p:cNvSpPr/>
          <p:nvPr/>
        </p:nvSpPr>
        <p:spPr>
          <a:xfrm>
            <a:off x="4535424" y="3200400"/>
            <a:ext cx="3090672" cy="868680"/>
          </a:xfrm>
          <a:prstGeom prst="rect">
            <a:avLst/>
          </a:prstGeom>
          <a:noFill/>
          <a:ln/>
        </p:spPr>
        <p:txBody>
          <a:bodyPr wrap="square" rtlCol="0" anchor="t"/>
          <a:lstStyle/>
          <a:p>
            <a:pPr marL="0" indent="0">
              <a:buNone/>
            </a:pPr>
            <a:r>
              <a:rPr lang="en-US" sz="1350" dirty="0">
                <a:solidFill>
                  <a:srgbClr val="0F172A"/>
                </a:solidFill>
              </a:rPr>
              <a:t>Master students in Computer Science, Software Engineering, Networking, Data Science, and Cybersecurity.</a:t>
            </a:r>
            <a:endParaRPr lang="en-US" sz="1350" dirty="0"/>
          </a:p>
        </p:txBody>
      </p:sp>
      <p:sp>
        <p:nvSpPr>
          <p:cNvPr id="14" name="Shape 12"/>
          <p:cNvSpPr/>
          <p:nvPr/>
        </p:nvSpPr>
        <p:spPr>
          <a:xfrm>
            <a:off x="8092440" y="2743200"/>
            <a:ext cx="3383280" cy="1417320"/>
          </a:xfrm>
          <a:prstGeom prst="roundRect">
            <a:avLst>
              <a:gd name="adj" fmla="val 5161"/>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15" name="Shape 13"/>
          <p:cNvSpPr/>
          <p:nvPr/>
        </p:nvSpPr>
        <p:spPr>
          <a:xfrm>
            <a:off x="8092440" y="2743200"/>
            <a:ext cx="3383280" cy="347472"/>
          </a:xfrm>
          <a:prstGeom prst="rect">
            <a:avLst/>
          </a:prstGeom>
          <a:solidFill>
            <a:srgbClr val="1E8E5A"/>
          </a:solidFill>
          <a:ln w="12700">
            <a:solidFill>
              <a:srgbClr val="1E8E5A"/>
            </a:solidFill>
            <a:prstDash val="solid"/>
          </a:ln>
        </p:spPr>
      </p:sp>
      <p:sp>
        <p:nvSpPr>
          <p:cNvPr id="16" name="Text 14"/>
          <p:cNvSpPr/>
          <p:nvPr/>
        </p:nvSpPr>
        <p:spPr>
          <a:xfrm>
            <a:off x="8202168" y="2807208"/>
            <a:ext cx="3163824" cy="182880"/>
          </a:xfrm>
          <a:prstGeom prst="rect">
            <a:avLst/>
          </a:prstGeom>
          <a:noFill/>
          <a:ln/>
        </p:spPr>
        <p:txBody>
          <a:bodyPr wrap="square" rtlCol="0" anchor="ctr"/>
          <a:lstStyle/>
          <a:p>
            <a:pPr marL="0" indent="0">
              <a:buNone/>
            </a:pPr>
            <a:r>
              <a:rPr lang="en-US" sz="1600" b="1" dirty="0">
                <a:solidFill>
                  <a:srgbClr val="FFFFFF"/>
                </a:solidFill>
              </a:rPr>
              <a:t>Outcomes</a:t>
            </a:r>
            <a:endParaRPr lang="en-US" sz="1600" dirty="0"/>
          </a:p>
        </p:txBody>
      </p:sp>
      <p:sp>
        <p:nvSpPr>
          <p:cNvPr id="17" name="Text 15"/>
          <p:cNvSpPr/>
          <p:nvPr/>
        </p:nvSpPr>
        <p:spPr>
          <a:xfrm>
            <a:off x="8238744" y="3200400"/>
            <a:ext cx="3090672" cy="868680"/>
          </a:xfrm>
          <a:prstGeom prst="rect">
            <a:avLst/>
          </a:prstGeom>
          <a:noFill/>
          <a:ln/>
        </p:spPr>
        <p:txBody>
          <a:bodyPr wrap="square" rtlCol="0" anchor="t"/>
          <a:lstStyle/>
          <a:p>
            <a:pPr marL="0" indent="0">
              <a:buNone/>
            </a:pPr>
            <a:r>
              <a:rPr lang="en-US" sz="1350" dirty="0">
                <a:solidFill>
                  <a:srgbClr val="0F172A"/>
                </a:solidFill>
              </a:rPr>
              <a:t>Model mobile workloads, compare architectural choices, reason about trade-offs, and evaluate modern use cases critically.</a:t>
            </a:r>
            <a:endParaRPr lang="en-US" sz="1350" dirty="0"/>
          </a:p>
        </p:txBody>
      </p:sp>
      <p:sp>
        <p:nvSpPr>
          <p:cNvPr id="18" name="Text 16"/>
          <p:cNvSpPr/>
          <p:nvPr/>
        </p:nvSpPr>
        <p:spPr>
          <a:xfrm>
            <a:off x="731520" y="5623560"/>
            <a:ext cx="4937760" cy="274320"/>
          </a:xfrm>
          <a:prstGeom prst="rect">
            <a:avLst/>
          </a:prstGeom>
          <a:noFill/>
          <a:ln/>
        </p:spPr>
        <p:txBody>
          <a:bodyPr wrap="square" rtlCol="0" anchor="ctr"/>
          <a:lstStyle/>
          <a:p>
            <a:pPr marL="0" indent="0">
              <a:buNone/>
            </a:pPr>
            <a:r>
              <a:rPr lang="en-US" sz="1400" i="1" dirty="0">
                <a:solidFill>
                  <a:srgbClr val="44556B"/>
                </a:solidFill>
              </a:rPr>
              <a:t>Prepared for the Master group in Metropolitan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Lecture roadmap</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Designed for a graduate session with discussion checkpoints</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822960" y="1417320"/>
            <a:ext cx="10424160" cy="4754880"/>
          </a:xfrm>
          <a:prstGeom prst="rect">
            <a:avLst/>
          </a:prstGeom>
          <a:noFill/>
          <a:ln/>
        </p:spPr>
        <p:txBody>
          <a:bodyPr wrap="square" rtlCol="0" anchor="t"/>
          <a:lstStyle/>
          <a:p>
            <a:pPr marL="177800" indent="-177800">
              <a:buSzPct val="100000"/>
              <a:buChar char="•"/>
            </a:pPr>
            <a:r>
              <a:rPr lang="en-US" sz="1900" dirty="0">
                <a:solidFill>
                  <a:srgbClr val="0F172A"/>
                </a:solidFill>
              </a:rPr>
              <a:t>1. Framing mobile computing as a systems discipline</a:t>
            </a:r>
            <a:endParaRPr lang="en-US" sz="1900" dirty="0"/>
          </a:p>
          <a:p>
            <a:pPr marL="177800" indent="-177800">
              <a:buSzPct val="100000"/>
              <a:buChar char="•"/>
            </a:pPr>
            <a:r>
              <a:rPr lang="en-US" sz="1900" dirty="0">
                <a:solidFill>
                  <a:srgbClr val="0F172A"/>
                </a:solidFill>
              </a:rPr>
              <a:t>2. Device architecture, OS, and resource constraints</a:t>
            </a:r>
            <a:endParaRPr lang="en-US" sz="1900" dirty="0"/>
          </a:p>
          <a:p>
            <a:pPr marL="177800" indent="-177800">
              <a:buSzPct val="100000"/>
              <a:buChar char="•"/>
            </a:pPr>
            <a:r>
              <a:rPr lang="en-US" sz="1900" dirty="0">
                <a:solidFill>
                  <a:srgbClr val="0F172A"/>
                </a:solidFill>
              </a:rPr>
              <a:t>3. Wireless connectivity stack: cellular, Wi-Fi, Bluetooth, NFC, GNSS</a:t>
            </a:r>
            <a:endParaRPr lang="en-US" sz="1900" dirty="0"/>
          </a:p>
          <a:p>
            <a:pPr marL="177800" indent="-177800">
              <a:buSzPct val="100000"/>
              <a:buChar char="•"/>
            </a:pPr>
            <a:r>
              <a:rPr lang="en-US" sz="1900" dirty="0">
                <a:solidFill>
                  <a:srgbClr val="0F172A"/>
                </a:solidFill>
              </a:rPr>
              <a:t>4. Mobile application models: native, cross-platform, web, super-app ecosystems</a:t>
            </a:r>
            <a:endParaRPr lang="en-US" sz="1900" dirty="0"/>
          </a:p>
          <a:p>
            <a:pPr marL="177800" indent="-177800">
              <a:buSzPct val="100000"/>
              <a:buChar char="•"/>
            </a:pPr>
            <a:r>
              <a:rPr lang="en-US" sz="1900" dirty="0">
                <a:solidFill>
                  <a:srgbClr val="0F172A"/>
                </a:solidFill>
              </a:rPr>
              <a:t>5. Usage domains: health, finance, transport, logistics, media, public services</a:t>
            </a:r>
            <a:endParaRPr lang="en-US" sz="1900" dirty="0"/>
          </a:p>
          <a:p>
            <a:pPr marL="177800" indent="-177800">
              <a:buSzPct val="100000"/>
              <a:buChar char="•"/>
            </a:pPr>
            <a:r>
              <a:rPr lang="en-US" sz="1900" dirty="0">
                <a:solidFill>
                  <a:srgbClr val="0F172A"/>
                </a:solidFill>
              </a:rPr>
              <a:t>6. Energy, performance, QoS/QoE, and observability</a:t>
            </a:r>
            <a:endParaRPr lang="en-US" sz="1900" dirty="0"/>
          </a:p>
          <a:p>
            <a:pPr marL="177800" indent="-177800">
              <a:buSzPct val="100000"/>
              <a:buChar char="•"/>
            </a:pPr>
            <a:r>
              <a:rPr lang="en-US" sz="1900" dirty="0">
                <a:solidFill>
                  <a:srgbClr val="0F172A"/>
                </a:solidFill>
              </a:rPr>
              <a:t>7. Security, privacy, regulation, and secure engineering</a:t>
            </a:r>
            <a:endParaRPr lang="en-US" sz="1900" dirty="0"/>
          </a:p>
          <a:p>
            <a:pPr marL="177800" indent="-177800">
              <a:buSzPct val="100000"/>
              <a:buChar char="•"/>
            </a:pPr>
            <a:r>
              <a:rPr lang="en-US" sz="1900" dirty="0">
                <a:solidFill>
                  <a:srgbClr val="0F172A"/>
                </a:solidFill>
              </a:rPr>
              <a:t>8. Edge AI, sensing, context awareness, and research frontiers</a:t>
            </a:r>
            <a:endParaRPr lang="en-US" sz="1900" dirty="0"/>
          </a:p>
        </p:txBody>
      </p:sp>
      <p:sp>
        <p:nvSpPr>
          <p:cNvPr id="6" name="Shape 4"/>
          <p:cNvSpPr/>
          <p:nvPr/>
        </p:nvSpPr>
        <p:spPr>
          <a:xfrm>
            <a:off x="8503920" y="1508760"/>
            <a:ext cx="2743200" cy="1508760"/>
          </a:xfrm>
          <a:prstGeom prst="roundRect">
            <a:avLst>
              <a:gd name="adj" fmla="val 4848"/>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7" name="Shape 5"/>
          <p:cNvSpPr/>
          <p:nvPr/>
        </p:nvSpPr>
        <p:spPr>
          <a:xfrm>
            <a:off x="8503920" y="1508760"/>
            <a:ext cx="2743200" cy="347472"/>
          </a:xfrm>
          <a:prstGeom prst="rect">
            <a:avLst/>
          </a:prstGeom>
          <a:solidFill>
            <a:srgbClr val="2864DC"/>
          </a:solidFill>
          <a:ln w="12700">
            <a:solidFill>
              <a:srgbClr val="2864DC"/>
            </a:solidFill>
            <a:prstDash val="solid"/>
          </a:ln>
        </p:spPr>
      </p:sp>
      <p:sp>
        <p:nvSpPr>
          <p:cNvPr id="8" name="Text 6"/>
          <p:cNvSpPr/>
          <p:nvPr/>
        </p:nvSpPr>
        <p:spPr>
          <a:xfrm>
            <a:off x="8613648" y="1572768"/>
            <a:ext cx="2523744" cy="182880"/>
          </a:xfrm>
          <a:prstGeom prst="rect">
            <a:avLst/>
          </a:prstGeom>
          <a:noFill/>
          <a:ln/>
        </p:spPr>
        <p:txBody>
          <a:bodyPr wrap="square" rtlCol="0" anchor="ctr"/>
          <a:lstStyle/>
          <a:p>
            <a:pPr marL="0" indent="0">
              <a:buNone/>
            </a:pPr>
            <a:r>
              <a:rPr lang="en-US" sz="1600" b="1" dirty="0">
                <a:solidFill>
                  <a:srgbClr val="FFFFFF"/>
                </a:solidFill>
              </a:rPr>
              <a:t>Teaching rhythm</a:t>
            </a:r>
            <a:endParaRPr lang="en-US" sz="1600" dirty="0"/>
          </a:p>
        </p:txBody>
      </p:sp>
      <p:sp>
        <p:nvSpPr>
          <p:cNvPr id="9" name="Text 7"/>
          <p:cNvSpPr/>
          <p:nvPr/>
        </p:nvSpPr>
        <p:spPr>
          <a:xfrm>
            <a:off x="8650224" y="1965960"/>
            <a:ext cx="2450592" cy="960120"/>
          </a:xfrm>
          <a:prstGeom prst="rect">
            <a:avLst/>
          </a:prstGeom>
          <a:noFill/>
          <a:ln/>
        </p:spPr>
        <p:txBody>
          <a:bodyPr wrap="square" rtlCol="0" anchor="t"/>
          <a:lstStyle/>
          <a:p>
            <a:pPr marL="0" indent="0">
              <a:buNone/>
            </a:pPr>
            <a:r>
              <a:rPr lang="en-US" sz="1350" dirty="0">
                <a:solidFill>
                  <a:srgbClr val="0F172A"/>
                </a:solidFill>
              </a:rPr>
              <a:t>~32 slides</a:t>
            </a:r>
            <a:endParaRPr lang="en-US" sz="1350" dirty="0"/>
          </a:p>
          <a:p>
            <a:pPr marL="0" indent="0">
              <a:buNone/>
            </a:pPr>
            <a:r>
              <a:rPr lang="en-US" sz="1350" dirty="0">
                <a:solidFill>
                  <a:srgbClr val="0F172A"/>
                </a:solidFill>
              </a:rPr>
              <a:t>~4 discussion pauses</a:t>
            </a:r>
            <a:endParaRPr lang="en-US" sz="1350" dirty="0"/>
          </a:p>
          <a:p>
            <a:pPr marL="0" indent="0">
              <a:buNone/>
            </a:pPr>
            <a:r>
              <a:rPr lang="en-US" sz="1350" dirty="0">
                <a:solidFill>
                  <a:srgbClr val="0F172A"/>
                </a:solidFill>
              </a:rPr>
              <a:t>~1 mini-case at the end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What do we mean by mobile computing?</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Not just “computing on a phone,” but computing with mobility, distributed context, and dynamic connectivity</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492240" cy="4389120"/>
          </a:xfrm>
          <a:prstGeom prst="rect">
            <a:avLst/>
          </a:prstGeom>
          <a:noFill/>
          <a:ln/>
        </p:spPr>
        <p:txBody>
          <a:bodyPr wrap="square" rtlCol="0" anchor="t"/>
          <a:lstStyle/>
          <a:p>
            <a:pPr marL="177800" indent="-177800">
              <a:buSzPct val="100000"/>
              <a:buChar char="•"/>
            </a:pPr>
            <a:r>
              <a:rPr lang="en-US" sz="1900" dirty="0">
                <a:solidFill>
                  <a:srgbClr val="0F172A"/>
                </a:solidFill>
              </a:rPr>
              <a:t>Mobile computing combines portable devices, wireless networks, cloud/edge services, and context-aware applications.</a:t>
            </a:r>
            <a:endParaRPr lang="en-US" sz="1900" dirty="0"/>
          </a:p>
          <a:p>
            <a:pPr marL="177800" indent="-177800">
              <a:buSzPct val="100000"/>
              <a:buChar char="•"/>
            </a:pPr>
            <a:r>
              <a:rPr lang="en-US" sz="1900" dirty="0">
                <a:solidFill>
                  <a:srgbClr val="0F172A"/>
                </a:solidFill>
              </a:rPr>
              <a:t>The core problem is execution under variability: moving users, unstable links, battery limits, changing sensors, and privacy-sensitive data.</a:t>
            </a:r>
            <a:endParaRPr lang="en-US" sz="1900" dirty="0"/>
          </a:p>
          <a:p>
            <a:pPr marL="177800" indent="-177800">
              <a:buSzPct val="100000"/>
              <a:buChar char="•"/>
            </a:pPr>
            <a:r>
              <a:rPr lang="en-US" sz="1900" dirty="0">
                <a:solidFill>
                  <a:srgbClr val="0F172A"/>
                </a:solidFill>
              </a:rPr>
              <a:t>The field spans operating systems, distributed systems, HCI, networking, embedded systems, security engineering, and AI.</a:t>
            </a:r>
            <a:endParaRPr lang="en-US" sz="1900" dirty="0"/>
          </a:p>
          <a:p>
            <a:pPr marL="177800" indent="-177800">
              <a:buSzPct val="100000"/>
              <a:buChar char="•"/>
            </a:pPr>
            <a:r>
              <a:rPr lang="en-US" sz="1900" dirty="0">
                <a:solidFill>
                  <a:srgbClr val="0F172A"/>
                </a:solidFill>
              </a:rPr>
              <a:t>A mobile workload is usually interactive, latency-sensitive, personalized, and often partially offline.</a:t>
            </a:r>
            <a:endParaRPr lang="en-US" sz="1900" dirty="0"/>
          </a:p>
        </p:txBody>
      </p:sp>
      <p:sp>
        <p:nvSpPr>
          <p:cNvPr id="6" name="Shape 4"/>
          <p:cNvSpPr/>
          <p:nvPr/>
        </p:nvSpPr>
        <p:spPr>
          <a:xfrm>
            <a:off x="7635240" y="1554480"/>
            <a:ext cx="3749040" cy="3840480"/>
          </a:xfrm>
          <a:prstGeom prst="roundRect">
            <a:avLst>
              <a:gd name="adj" fmla="val 1951"/>
            </a:avLst>
          </a:prstGeom>
          <a:solidFill>
            <a:srgbClr val="FFFFFF"/>
          </a:solidFill>
          <a:ln w="12700">
            <a:solidFill>
              <a:srgbClr val="C98B00"/>
            </a:solidFill>
            <a:prstDash val="solid"/>
          </a:ln>
          <a:effectLst>
            <a:outerShdw blurRad="12700" dist="12700" dir="2700000" algn="bl" rotWithShape="0">
              <a:srgbClr val="000000">
                <a:alpha val="12000"/>
              </a:srgbClr>
            </a:outerShdw>
          </a:effectLst>
        </p:spPr>
      </p:sp>
      <p:sp>
        <p:nvSpPr>
          <p:cNvPr id="7" name="Shape 5"/>
          <p:cNvSpPr/>
          <p:nvPr/>
        </p:nvSpPr>
        <p:spPr>
          <a:xfrm>
            <a:off x="7635240" y="1554480"/>
            <a:ext cx="3749040" cy="347472"/>
          </a:xfrm>
          <a:prstGeom prst="rect">
            <a:avLst/>
          </a:prstGeom>
          <a:solidFill>
            <a:srgbClr val="C98B00"/>
          </a:solidFill>
          <a:ln w="12700">
            <a:solidFill>
              <a:srgbClr val="C98B00"/>
            </a:solidFill>
            <a:prstDash val="solid"/>
          </a:ln>
        </p:spPr>
      </p:sp>
      <p:sp>
        <p:nvSpPr>
          <p:cNvPr id="8" name="Text 6"/>
          <p:cNvSpPr/>
          <p:nvPr/>
        </p:nvSpPr>
        <p:spPr>
          <a:xfrm>
            <a:off x="7744968" y="1618488"/>
            <a:ext cx="3529584" cy="182880"/>
          </a:xfrm>
          <a:prstGeom prst="rect">
            <a:avLst/>
          </a:prstGeom>
          <a:noFill/>
          <a:ln/>
        </p:spPr>
        <p:txBody>
          <a:bodyPr wrap="square" rtlCol="0" anchor="ctr"/>
          <a:lstStyle/>
          <a:p>
            <a:pPr marL="0" indent="0">
              <a:buNone/>
            </a:pPr>
            <a:r>
              <a:rPr lang="en-US" sz="1600" b="1" dirty="0">
                <a:solidFill>
                  <a:srgbClr val="FFFFFF"/>
                </a:solidFill>
              </a:rPr>
              <a:t>Graduate perspective</a:t>
            </a:r>
            <a:endParaRPr lang="en-US" sz="1600" dirty="0"/>
          </a:p>
        </p:txBody>
      </p:sp>
      <p:sp>
        <p:nvSpPr>
          <p:cNvPr id="9" name="Text 7"/>
          <p:cNvSpPr/>
          <p:nvPr/>
        </p:nvSpPr>
        <p:spPr>
          <a:xfrm>
            <a:off x="7781544" y="2011680"/>
            <a:ext cx="3456432" cy="3291840"/>
          </a:xfrm>
          <a:prstGeom prst="rect">
            <a:avLst/>
          </a:prstGeom>
          <a:noFill/>
          <a:ln/>
        </p:spPr>
        <p:txBody>
          <a:bodyPr wrap="square" rtlCol="0" anchor="t"/>
          <a:lstStyle/>
          <a:p>
            <a:pPr marL="0" indent="0">
              <a:buNone/>
            </a:pPr>
            <a:r>
              <a:rPr lang="en-US" sz="1350" dirty="0">
                <a:solidFill>
                  <a:srgbClr val="0F172A"/>
                </a:solidFill>
              </a:rPr>
              <a:t>A strong analysis of mobile computing must answer:</a:t>
            </a:r>
            <a:endParaRPr lang="en-US" sz="1350" dirty="0"/>
          </a:p>
          <a:p>
            <a:pPr marL="0" indent="0">
              <a:buNone/>
            </a:pPr>
            <a:endParaRPr lang="en-US" sz="1350" dirty="0"/>
          </a:p>
          <a:p>
            <a:pPr marL="0" indent="0">
              <a:buNone/>
            </a:pPr>
            <a:r>
              <a:rPr lang="en-US" sz="1350" dirty="0">
                <a:solidFill>
                  <a:srgbClr val="0F172A"/>
                </a:solidFill>
              </a:rPr>
              <a:t>• What executes on-device vs. edge vs. cloud?</a:t>
            </a:r>
            <a:endParaRPr lang="en-US" sz="1350" dirty="0"/>
          </a:p>
          <a:p>
            <a:pPr marL="0" indent="0">
              <a:buNone/>
            </a:pPr>
            <a:r>
              <a:rPr lang="en-US" sz="1350" dirty="0">
                <a:solidFill>
                  <a:srgbClr val="0F172A"/>
                </a:solidFill>
              </a:rPr>
              <a:t>• What state is replicated locally?</a:t>
            </a:r>
            <a:endParaRPr lang="en-US" sz="1350" dirty="0"/>
          </a:p>
          <a:p>
            <a:pPr marL="0" indent="0">
              <a:buNone/>
            </a:pPr>
            <a:r>
              <a:rPr lang="en-US" sz="1350" dirty="0">
                <a:solidFill>
                  <a:srgbClr val="0F172A"/>
                </a:solidFill>
              </a:rPr>
              <a:t>• Which failures are acceptable?</a:t>
            </a:r>
            <a:endParaRPr lang="en-US" sz="1350" dirty="0"/>
          </a:p>
          <a:p>
            <a:pPr marL="0" indent="0">
              <a:buNone/>
            </a:pPr>
            <a:r>
              <a:rPr lang="en-US" sz="1350" dirty="0">
                <a:solidFill>
                  <a:srgbClr val="0F172A"/>
                </a:solidFill>
              </a:rPr>
              <a:t>• How is user trust preserved?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Why mobile matters strategically</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Mobile has become the default digital access layer in many societies</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5394960" cy="4526280"/>
          </a:xfrm>
          <a:prstGeom prst="roundRect">
            <a:avLst>
              <a:gd name="adj" fmla="val 1616"/>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5394960" cy="347472"/>
          </a:xfrm>
          <a:prstGeom prst="rect">
            <a:avLst/>
          </a:prstGeom>
          <a:solidFill>
            <a:srgbClr val="2864DC"/>
          </a:solidFill>
          <a:ln w="12700">
            <a:solidFill>
              <a:srgbClr val="2864DC"/>
            </a:solidFill>
            <a:prstDash val="solid"/>
          </a:ln>
        </p:spPr>
      </p:sp>
      <p:sp>
        <p:nvSpPr>
          <p:cNvPr id="7" name="Text 5"/>
          <p:cNvSpPr/>
          <p:nvPr/>
        </p:nvSpPr>
        <p:spPr>
          <a:xfrm>
            <a:off x="795528" y="1481328"/>
            <a:ext cx="5175504" cy="182880"/>
          </a:xfrm>
          <a:prstGeom prst="rect">
            <a:avLst/>
          </a:prstGeom>
          <a:noFill/>
          <a:ln/>
        </p:spPr>
        <p:txBody>
          <a:bodyPr wrap="square" rtlCol="0" anchor="ctr"/>
          <a:lstStyle/>
          <a:p>
            <a:pPr marL="0" indent="0">
              <a:buNone/>
            </a:pPr>
            <a:r>
              <a:rPr lang="en-US" sz="1600" b="1" dirty="0">
                <a:solidFill>
                  <a:srgbClr val="FFFFFF"/>
                </a:solidFill>
              </a:rPr>
              <a:t>Economic and societal significance</a:t>
            </a:r>
            <a:endParaRPr lang="en-US" sz="1600" dirty="0"/>
          </a:p>
        </p:txBody>
      </p:sp>
      <p:sp>
        <p:nvSpPr>
          <p:cNvPr id="8" name="Text 6"/>
          <p:cNvSpPr/>
          <p:nvPr/>
        </p:nvSpPr>
        <p:spPr>
          <a:xfrm>
            <a:off x="832104" y="1874520"/>
            <a:ext cx="5102352" cy="3977640"/>
          </a:xfrm>
          <a:prstGeom prst="rect">
            <a:avLst/>
          </a:prstGeom>
          <a:noFill/>
          <a:ln/>
        </p:spPr>
        <p:txBody>
          <a:bodyPr wrap="square" rtlCol="0" anchor="t"/>
          <a:lstStyle/>
          <a:p>
            <a:pPr marL="0" indent="0">
              <a:buNone/>
            </a:pPr>
            <a:r>
              <a:rPr lang="en-US" sz="1350" dirty="0">
                <a:solidFill>
                  <a:srgbClr val="0F172A"/>
                </a:solidFill>
              </a:rPr>
              <a:t>Mobile technologies and services generated trillions of dollars of economic value globally, and they are foundational to digital inclusion, payments, media, logistics, health, and public administration. In many regions, the smartphone is the primary computing device for citizens and small businesses.</a:t>
            </a:r>
            <a:endParaRPr lang="en-US" sz="1350" dirty="0"/>
          </a:p>
        </p:txBody>
      </p:sp>
      <p:sp>
        <p:nvSpPr>
          <p:cNvPr id="9" name="Shape 7"/>
          <p:cNvSpPr/>
          <p:nvPr/>
        </p:nvSpPr>
        <p:spPr>
          <a:xfrm>
            <a:off x="6309360" y="1417320"/>
            <a:ext cx="5212080" cy="4526280"/>
          </a:xfrm>
          <a:prstGeom prst="roundRect">
            <a:avLst>
              <a:gd name="adj" fmla="val 1616"/>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6309360" y="1417320"/>
            <a:ext cx="5212080" cy="347472"/>
          </a:xfrm>
          <a:prstGeom prst="rect">
            <a:avLst/>
          </a:prstGeom>
          <a:solidFill>
            <a:srgbClr val="0D9488"/>
          </a:solidFill>
          <a:ln w="12700">
            <a:solidFill>
              <a:srgbClr val="0D9488"/>
            </a:solidFill>
            <a:prstDash val="solid"/>
          </a:ln>
        </p:spPr>
      </p:sp>
      <p:sp>
        <p:nvSpPr>
          <p:cNvPr id="11" name="Text 9"/>
          <p:cNvSpPr/>
          <p:nvPr/>
        </p:nvSpPr>
        <p:spPr>
          <a:xfrm>
            <a:off x="6419088" y="1481328"/>
            <a:ext cx="4992624" cy="182880"/>
          </a:xfrm>
          <a:prstGeom prst="rect">
            <a:avLst/>
          </a:prstGeom>
          <a:noFill/>
          <a:ln/>
        </p:spPr>
        <p:txBody>
          <a:bodyPr wrap="square" rtlCol="0" anchor="ctr"/>
          <a:lstStyle/>
          <a:p>
            <a:pPr marL="0" indent="0">
              <a:buNone/>
            </a:pPr>
            <a:r>
              <a:rPr lang="en-US" sz="1600" b="1" dirty="0">
                <a:solidFill>
                  <a:srgbClr val="FFFFFF"/>
                </a:solidFill>
              </a:rPr>
              <a:t>Implication for systems design</a:t>
            </a:r>
            <a:endParaRPr lang="en-US" sz="1600" dirty="0"/>
          </a:p>
        </p:txBody>
      </p:sp>
      <p:sp>
        <p:nvSpPr>
          <p:cNvPr id="12" name="Text 10"/>
          <p:cNvSpPr/>
          <p:nvPr/>
        </p:nvSpPr>
        <p:spPr>
          <a:xfrm>
            <a:off x="6455664" y="1874520"/>
            <a:ext cx="4919472" cy="3977640"/>
          </a:xfrm>
          <a:prstGeom prst="rect">
            <a:avLst/>
          </a:prstGeom>
          <a:noFill/>
          <a:ln/>
        </p:spPr>
        <p:txBody>
          <a:bodyPr wrap="square" rtlCol="0" anchor="t"/>
          <a:lstStyle/>
          <a:p>
            <a:pPr marL="0" indent="0">
              <a:buNone/>
            </a:pPr>
            <a:r>
              <a:rPr lang="en-US" sz="1350" dirty="0">
                <a:solidFill>
                  <a:srgbClr val="0F172A"/>
                </a:solidFill>
              </a:rPr>
              <a:t>Because mobile is the front door to digital services, quality failures are amplified: poor startup time, battery drain, privacy violations, and intermittent connectivity directly reduce adoption, retention, and trust.</a:t>
            </a:r>
            <a:endParaRPr lang="en-US" sz="1350" dirty="0"/>
          </a:p>
        </p:txBody>
      </p:sp>
      <p:sp>
        <p:nvSpPr>
          <p:cNvPr id="13" name="Shape 11"/>
          <p:cNvSpPr/>
          <p:nvPr/>
        </p:nvSpPr>
        <p:spPr>
          <a:xfrm>
            <a:off x="978408" y="5257800"/>
            <a:ext cx="10789920" cy="658368"/>
          </a:xfrm>
          <a:prstGeom prst="roundRect">
            <a:avLst>
              <a:gd name="adj" fmla="val 11111"/>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14" name="Shape 12"/>
          <p:cNvSpPr/>
          <p:nvPr/>
        </p:nvSpPr>
        <p:spPr>
          <a:xfrm>
            <a:off x="868680" y="4901184"/>
            <a:ext cx="10789920" cy="347472"/>
          </a:xfrm>
          <a:prstGeom prst="rect">
            <a:avLst/>
          </a:prstGeom>
          <a:solidFill>
            <a:srgbClr val="C13B2A"/>
          </a:solidFill>
          <a:ln w="12700">
            <a:solidFill>
              <a:srgbClr val="C13B2A"/>
            </a:solidFill>
            <a:prstDash val="solid"/>
          </a:ln>
        </p:spPr>
      </p:sp>
      <p:sp>
        <p:nvSpPr>
          <p:cNvPr id="15" name="Text 13"/>
          <p:cNvSpPr/>
          <p:nvPr/>
        </p:nvSpPr>
        <p:spPr>
          <a:xfrm>
            <a:off x="978408" y="5550408"/>
            <a:ext cx="10570464" cy="182880"/>
          </a:xfrm>
          <a:prstGeom prst="rect">
            <a:avLst/>
          </a:prstGeom>
          <a:noFill/>
          <a:ln/>
        </p:spPr>
        <p:txBody>
          <a:bodyPr wrap="square" rtlCol="0" anchor="ctr"/>
          <a:lstStyle/>
          <a:p>
            <a:pPr marL="0" indent="0">
              <a:buNone/>
            </a:pPr>
            <a:r>
              <a:rPr lang="en-US" sz="1600" b="1" dirty="0">
                <a:solidFill>
                  <a:srgbClr val="FFFFFF"/>
                </a:solidFill>
              </a:rPr>
              <a:t>Discussion prompt</a:t>
            </a:r>
            <a:endParaRPr lang="en-US" sz="1600" dirty="0"/>
          </a:p>
        </p:txBody>
      </p:sp>
      <p:sp>
        <p:nvSpPr>
          <p:cNvPr id="16" name="Text 14"/>
          <p:cNvSpPr/>
          <p:nvPr/>
        </p:nvSpPr>
        <p:spPr>
          <a:xfrm>
            <a:off x="1161288" y="5440680"/>
            <a:ext cx="10497312" cy="109728"/>
          </a:xfrm>
          <a:prstGeom prst="rect">
            <a:avLst/>
          </a:prstGeom>
          <a:noFill/>
          <a:ln/>
        </p:spPr>
        <p:txBody>
          <a:bodyPr wrap="square" rtlCol="0" anchor="t"/>
          <a:lstStyle/>
          <a:p>
            <a:pPr marL="0" indent="0">
              <a:buNone/>
            </a:pPr>
            <a:r>
              <a:rPr lang="en-US" sz="1350" dirty="0">
                <a:solidFill>
                  <a:srgbClr val="0F172A"/>
                </a:solidFill>
              </a:rPr>
              <a:t>When mobile is the dominant client, should we still treat the “backend” as primary and the device as secondary?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Mobile system stack</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A useful decomposition for reasoning about design trade-offs</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868680" y="1417320"/>
            <a:ext cx="10424160" cy="786384"/>
          </a:xfrm>
          <a:prstGeom prst="roundRect">
            <a:avLst>
              <a:gd name="adj" fmla="val 9302"/>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868680" y="1417320"/>
            <a:ext cx="10424160" cy="347472"/>
          </a:xfrm>
          <a:prstGeom prst="rect">
            <a:avLst/>
          </a:prstGeom>
          <a:solidFill>
            <a:srgbClr val="2864DC"/>
          </a:solidFill>
          <a:ln w="12700">
            <a:solidFill>
              <a:srgbClr val="2864DC"/>
            </a:solidFill>
            <a:prstDash val="solid"/>
          </a:ln>
        </p:spPr>
      </p:sp>
      <p:sp>
        <p:nvSpPr>
          <p:cNvPr id="7" name="Text 5"/>
          <p:cNvSpPr/>
          <p:nvPr/>
        </p:nvSpPr>
        <p:spPr>
          <a:xfrm>
            <a:off x="978408" y="1481328"/>
            <a:ext cx="10204704" cy="182880"/>
          </a:xfrm>
          <a:prstGeom prst="rect">
            <a:avLst/>
          </a:prstGeom>
          <a:noFill/>
          <a:ln/>
        </p:spPr>
        <p:txBody>
          <a:bodyPr wrap="square" rtlCol="0" anchor="ctr"/>
          <a:lstStyle/>
          <a:p>
            <a:pPr marL="0" indent="0">
              <a:buNone/>
            </a:pPr>
            <a:r>
              <a:rPr lang="en-US" sz="1600" b="1" dirty="0">
                <a:solidFill>
                  <a:srgbClr val="FFFFFF"/>
                </a:solidFill>
              </a:rPr>
              <a:t>Application layer</a:t>
            </a:r>
            <a:endParaRPr lang="en-US" sz="1600" dirty="0"/>
          </a:p>
        </p:txBody>
      </p:sp>
      <p:sp>
        <p:nvSpPr>
          <p:cNvPr id="8" name="Text 6"/>
          <p:cNvSpPr/>
          <p:nvPr/>
        </p:nvSpPr>
        <p:spPr>
          <a:xfrm>
            <a:off x="1014984" y="1874520"/>
            <a:ext cx="10131552" cy="237744"/>
          </a:xfrm>
          <a:prstGeom prst="rect">
            <a:avLst/>
          </a:prstGeom>
          <a:noFill/>
          <a:ln/>
        </p:spPr>
        <p:txBody>
          <a:bodyPr wrap="square" rtlCol="0" anchor="t"/>
          <a:lstStyle/>
          <a:p>
            <a:pPr marL="0" indent="0">
              <a:buNone/>
            </a:pPr>
            <a:r>
              <a:rPr lang="en-US" sz="1350" dirty="0">
                <a:solidFill>
                  <a:srgbClr val="0F172A"/>
                </a:solidFill>
              </a:rPr>
              <a:t>UX, workflows, business logic, personalization</a:t>
            </a:r>
            <a:endParaRPr lang="en-US" sz="1350" dirty="0"/>
          </a:p>
        </p:txBody>
      </p:sp>
      <p:sp>
        <p:nvSpPr>
          <p:cNvPr id="9" name="Shape 7"/>
          <p:cNvSpPr/>
          <p:nvPr/>
        </p:nvSpPr>
        <p:spPr>
          <a:xfrm>
            <a:off x="868680" y="2313432"/>
            <a:ext cx="10424160" cy="786384"/>
          </a:xfrm>
          <a:prstGeom prst="roundRect">
            <a:avLst>
              <a:gd name="adj" fmla="val 9302"/>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868680" y="2313432"/>
            <a:ext cx="10424160" cy="347472"/>
          </a:xfrm>
          <a:prstGeom prst="rect">
            <a:avLst/>
          </a:prstGeom>
          <a:solidFill>
            <a:srgbClr val="0D9488"/>
          </a:solidFill>
          <a:ln w="12700">
            <a:solidFill>
              <a:srgbClr val="0D9488"/>
            </a:solidFill>
            <a:prstDash val="solid"/>
          </a:ln>
        </p:spPr>
      </p:sp>
      <p:sp>
        <p:nvSpPr>
          <p:cNvPr id="11" name="Text 9"/>
          <p:cNvSpPr/>
          <p:nvPr/>
        </p:nvSpPr>
        <p:spPr>
          <a:xfrm>
            <a:off x="978408" y="2377440"/>
            <a:ext cx="10204704" cy="182880"/>
          </a:xfrm>
          <a:prstGeom prst="rect">
            <a:avLst/>
          </a:prstGeom>
          <a:noFill/>
          <a:ln/>
        </p:spPr>
        <p:txBody>
          <a:bodyPr wrap="square" rtlCol="0" anchor="ctr"/>
          <a:lstStyle/>
          <a:p>
            <a:pPr marL="0" indent="0">
              <a:buNone/>
            </a:pPr>
            <a:r>
              <a:rPr lang="en-US" sz="1600" b="1" dirty="0">
                <a:solidFill>
                  <a:srgbClr val="FFFFFF"/>
                </a:solidFill>
              </a:rPr>
              <a:t>Middleware &amp; runtime</a:t>
            </a:r>
            <a:endParaRPr lang="en-US" sz="1600" dirty="0"/>
          </a:p>
        </p:txBody>
      </p:sp>
      <p:sp>
        <p:nvSpPr>
          <p:cNvPr id="12" name="Text 10"/>
          <p:cNvSpPr/>
          <p:nvPr/>
        </p:nvSpPr>
        <p:spPr>
          <a:xfrm>
            <a:off x="1014984" y="2770632"/>
            <a:ext cx="10131552" cy="237744"/>
          </a:xfrm>
          <a:prstGeom prst="rect">
            <a:avLst/>
          </a:prstGeom>
          <a:noFill/>
          <a:ln/>
        </p:spPr>
        <p:txBody>
          <a:bodyPr wrap="square" rtlCol="0" anchor="t"/>
          <a:lstStyle/>
          <a:p>
            <a:pPr marL="0" indent="0">
              <a:buNone/>
            </a:pPr>
            <a:r>
              <a:rPr lang="en-US" sz="1350" dirty="0">
                <a:solidFill>
                  <a:srgbClr val="0F172A"/>
                </a:solidFill>
              </a:rPr>
              <a:t>Framework APIs, language runtime, sync engines, local caches</a:t>
            </a:r>
            <a:endParaRPr lang="en-US" sz="1350" dirty="0"/>
          </a:p>
        </p:txBody>
      </p:sp>
      <p:sp>
        <p:nvSpPr>
          <p:cNvPr id="13" name="Shape 11"/>
          <p:cNvSpPr/>
          <p:nvPr/>
        </p:nvSpPr>
        <p:spPr>
          <a:xfrm>
            <a:off x="868680" y="3209544"/>
            <a:ext cx="10424160" cy="786384"/>
          </a:xfrm>
          <a:prstGeom prst="roundRect">
            <a:avLst>
              <a:gd name="adj" fmla="val 9302"/>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14" name="Shape 12"/>
          <p:cNvSpPr/>
          <p:nvPr/>
        </p:nvSpPr>
        <p:spPr>
          <a:xfrm>
            <a:off x="868680" y="3209544"/>
            <a:ext cx="10424160" cy="347472"/>
          </a:xfrm>
          <a:prstGeom prst="rect">
            <a:avLst/>
          </a:prstGeom>
          <a:solidFill>
            <a:srgbClr val="1E8E5A"/>
          </a:solidFill>
          <a:ln w="12700">
            <a:solidFill>
              <a:srgbClr val="1E8E5A"/>
            </a:solidFill>
            <a:prstDash val="solid"/>
          </a:ln>
        </p:spPr>
      </p:sp>
      <p:sp>
        <p:nvSpPr>
          <p:cNvPr id="15" name="Text 13"/>
          <p:cNvSpPr/>
          <p:nvPr/>
        </p:nvSpPr>
        <p:spPr>
          <a:xfrm>
            <a:off x="978408" y="3273552"/>
            <a:ext cx="10204704" cy="182880"/>
          </a:xfrm>
          <a:prstGeom prst="rect">
            <a:avLst/>
          </a:prstGeom>
          <a:noFill/>
          <a:ln/>
        </p:spPr>
        <p:txBody>
          <a:bodyPr wrap="square" rtlCol="0" anchor="ctr"/>
          <a:lstStyle/>
          <a:p>
            <a:pPr marL="0" indent="0">
              <a:buNone/>
            </a:pPr>
            <a:r>
              <a:rPr lang="en-US" sz="1600" b="1" dirty="0">
                <a:solidFill>
                  <a:srgbClr val="FFFFFF"/>
                </a:solidFill>
              </a:rPr>
              <a:t>OS &amp; isolation</a:t>
            </a:r>
            <a:endParaRPr lang="en-US" sz="1600" dirty="0"/>
          </a:p>
        </p:txBody>
      </p:sp>
      <p:sp>
        <p:nvSpPr>
          <p:cNvPr id="16" name="Text 14"/>
          <p:cNvSpPr/>
          <p:nvPr/>
        </p:nvSpPr>
        <p:spPr>
          <a:xfrm>
            <a:off x="1014984" y="3666744"/>
            <a:ext cx="10131552" cy="237744"/>
          </a:xfrm>
          <a:prstGeom prst="rect">
            <a:avLst/>
          </a:prstGeom>
          <a:noFill/>
          <a:ln/>
        </p:spPr>
        <p:txBody>
          <a:bodyPr wrap="square" rtlCol="0" anchor="t"/>
          <a:lstStyle/>
          <a:p>
            <a:pPr marL="0" indent="0">
              <a:buNone/>
            </a:pPr>
            <a:r>
              <a:rPr lang="en-US" sz="1350" dirty="0">
                <a:solidFill>
                  <a:srgbClr val="0F172A"/>
                </a:solidFill>
              </a:rPr>
              <a:t>Schedulers, permissions, sandboxing, IPC, power states</a:t>
            </a:r>
            <a:endParaRPr lang="en-US" sz="1350" dirty="0"/>
          </a:p>
        </p:txBody>
      </p:sp>
      <p:sp>
        <p:nvSpPr>
          <p:cNvPr id="17" name="Shape 15"/>
          <p:cNvSpPr/>
          <p:nvPr/>
        </p:nvSpPr>
        <p:spPr>
          <a:xfrm>
            <a:off x="868680" y="4105656"/>
            <a:ext cx="10424160" cy="786384"/>
          </a:xfrm>
          <a:prstGeom prst="roundRect">
            <a:avLst>
              <a:gd name="adj" fmla="val 9302"/>
            </a:avLst>
          </a:prstGeom>
          <a:solidFill>
            <a:srgbClr val="FFFFFF"/>
          </a:solidFill>
          <a:ln w="12700">
            <a:solidFill>
              <a:srgbClr val="C98B00"/>
            </a:solidFill>
            <a:prstDash val="solid"/>
          </a:ln>
          <a:effectLst>
            <a:outerShdw blurRad="12700" dist="12700" dir="2700000" algn="bl" rotWithShape="0">
              <a:srgbClr val="000000">
                <a:alpha val="12000"/>
              </a:srgbClr>
            </a:outerShdw>
          </a:effectLst>
        </p:spPr>
      </p:sp>
      <p:sp>
        <p:nvSpPr>
          <p:cNvPr id="18" name="Shape 16"/>
          <p:cNvSpPr/>
          <p:nvPr/>
        </p:nvSpPr>
        <p:spPr>
          <a:xfrm>
            <a:off x="868680" y="4105656"/>
            <a:ext cx="10424160" cy="347472"/>
          </a:xfrm>
          <a:prstGeom prst="rect">
            <a:avLst/>
          </a:prstGeom>
          <a:solidFill>
            <a:srgbClr val="C98B00"/>
          </a:solidFill>
          <a:ln w="12700">
            <a:solidFill>
              <a:srgbClr val="C98B00"/>
            </a:solidFill>
            <a:prstDash val="solid"/>
          </a:ln>
        </p:spPr>
      </p:sp>
      <p:sp>
        <p:nvSpPr>
          <p:cNvPr id="19" name="Text 17"/>
          <p:cNvSpPr/>
          <p:nvPr/>
        </p:nvSpPr>
        <p:spPr>
          <a:xfrm>
            <a:off x="978408" y="4169664"/>
            <a:ext cx="10204704" cy="182880"/>
          </a:xfrm>
          <a:prstGeom prst="rect">
            <a:avLst/>
          </a:prstGeom>
          <a:noFill/>
          <a:ln/>
        </p:spPr>
        <p:txBody>
          <a:bodyPr wrap="square" rtlCol="0" anchor="ctr"/>
          <a:lstStyle/>
          <a:p>
            <a:pPr marL="0" indent="0">
              <a:buNone/>
            </a:pPr>
            <a:r>
              <a:rPr lang="en-US" sz="1600" b="1" dirty="0">
                <a:solidFill>
                  <a:srgbClr val="FFFFFF"/>
                </a:solidFill>
              </a:rPr>
              <a:t>Hardware &amp; sensors</a:t>
            </a:r>
            <a:endParaRPr lang="en-US" sz="1600" dirty="0"/>
          </a:p>
        </p:txBody>
      </p:sp>
      <p:sp>
        <p:nvSpPr>
          <p:cNvPr id="20" name="Text 18"/>
          <p:cNvSpPr/>
          <p:nvPr/>
        </p:nvSpPr>
        <p:spPr>
          <a:xfrm>
            <a:off x="1014984" y="4562856"/>
            <a:ext cx="10131552" cy="237744"/>
          </a:xfrm>
          <a:prstGeom prst="rect">
            <a:avLst/>
          </a:prstGeom>
          <a:noFill/>
          <a:ln/>
        </p:spPr>
        <p:txBody>
          <a:bodyPr wrap="square" rtlCol="0" anchor="t"/>
          <a:lstStyle/>
          <a:p>
            <a:pPr marL="0" indent="0">
              <a:buNone/>
            </a:pPr>
            <a:r>
              <a:rPr lang="en-US" sz="1350" dirty="0">
                <a:solidFill>
                  <a:srgbClr val="0F172A"/>
                </a:solidFill>
              </a:rPr>
              <a:t>CPU/GPU/NPU, memory, radios, camera, IMU, GNSS, secure enclave</a:t>
            </a:r>
            <a:endParaRPr lang="en-US" sz="1350" dirty="0"/>
          </a:p>
        </p:txBody>
      </p:sp>
      <p:sp>
        <p:nvSpPr>
          <p:cNvPr id="21" name="Shape 19"/>
          <p:cNvSpPr/>
          <p:nvPr/>
        </p:nvSpPr>
        <p:spPr>
          <a:xfrm>
            <a:off x="868680" y="5001768"/>
            <a:ext cx="10424160" cy="786384"/>
          </a:xfrm>
          <a:prstGeom prst="roundRect">
            <a:avLst>
              <a:gd name="adj" fmla="val 9302"/>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22" name="Shape 20"/>
          <p:cNvSpPr/>
          <p:nvPr/>
        </p:nvSpPr>
        <p:spPr>
          <a:xfrm>
            <a:off x="868680" y="5001768"/>
            <a:ext cx="10424160" cy="347472"/>
          </a:xfrm>
          <a:prstGeom prst="rect">
            <a:avLst/>
          </a:prstGeom>
          <a:solidFill>
            <a:srgbClr val="C13B2A"/>
          </a:solidFill>
          <a:ln w="12700">
            <a:solidFill>
              <a:srgbClr val="C13B2A"/>
            </a:solidFill>
            <a:prstDash val="solid"/>
          </a:ln>
        </p:spPr>
      </p:sp>
      <p:sp>
        <p:nvSpPr>
          <p:cNvPr id="23" name="Text 21"/>
          <p:cNvSpPr/>
          <p:nvPr/>
        </p:nvSpPr>
        <p:spPr>
          <a:xfrm>
            <a:off x="978408" y="5065776"/>
            <a:ext cx="10204704" cy="182880"/>
          </a:xfrm>
          <a:prstGeom prst="rect">
            <a:avLst/>
          </a:prstGeom>
          <a:noFill/>
          <a:ln/>
        </p:spPr>
        <p:txBody>
          <a:bodyPr wrap="square" rtlCol="0" anchor="ctr"/>
          <a:lstStyle/>
          <a:p>
            <a:pPr marL="0" indent="0">
              <a:buNone/>
            </a:pPr>
            <a:r>
              <a:rPr lang="en-US" sz="1600" b="1" dirty="0">
                <a:solidFill>
                  <a:srgbClr val="FFFFFF"/>
                </a:solidFill>
              </a:rPr>
              <a:t>Connectivity &amp; backend</a:t>
            </a:r>
            <a:endParaRPr lang="en-US" sz="1600" dirty="0"/>
          </a:p>
        </p:txBody>
      </p:sp>
      <p:sp>
        <p:nvSpPr>
          <p:cNvPr id="24" name="Text 22"/>
          <p:cNvSpPr/>
          <p:nvPr/>
        </p:nvSpPr>
        <p:spPr>
          <a:xfrm>
            <a:off x="1014984" y="5458968"/>
            <a:ext cx="10131552" cy="237744"/>
          </a:xfrm>
          <a:prstGeom prst="rect">
            <a:avLst/>
          </a:prstGeom>
          <a:noFill/>
          <a:ln/>
        </p:spPr>
        <p:txBody>
          <a:bodyPr wrap="square" rtlCol="0" anchor="t"/>
          <a:lstStyle/>
          <a:p>
            <a:pPr marL="0" indent="0">
              <a:buNone/>
            </a:pPr>
            <a:r>
              <a:rPr lang="en-US" sz="1350" dirty="0">
                <a:solidFill>
                  <a:srgbClr val="0F172A"/>
                </a:solidFill>
              </a:rPr>
              <a:t>Cellular/Wi-Fi/BLE/NFC + edge services + cloud microservices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Device-side resource constraints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Mobile engineering is optimization under hard limits, not unlimited scaling</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492240" cy="4572000"/>
          </a:xfrm>
          <a:prstGeom prst="rect">
            <a:avLst/>
          </a:prstGeom>
          <a:noFill/>
          <a:ln/>
        </p:spPr>
        <p:txBody>
          <a:bodyPr wrap="square" rtlCol="0" anchor="t"/>
          <a:lstStyle/>
          <a:p>
            <a:pPr marL="177800" indent="-177800">
              <a:buSzPct val="100000"/>
              <a:buChar char="•"/>
            </a:pPr>
            <a:r>
              <a:rPr lang="en-US" sz="1850" dirty="0">
                <a:solidFill>
                  <a:srgbClr val="0F172A"/>
                </a:solidFill>
              </a:rPr>
              <a:t>Battery is the dominant cross-cutting constraint; energy errors frequently surface as UX, thermal, and reliability problems.</a:t>
            </a:r>
            <a:endParaRPr lang="en-US" sz="1850" dirty="0"/>
          </a:p>
          <a:p>
            <a:pPr marL="177800" indent="-177800">
              <a:buSzPct val="100000"/>
              <a:buChar char="•"/>
            </a:pPr>
            <a:r>
              <a:rPr lang="en-US" sz="1850" dirty="0">
                <a:solidFill>
                  <a:srgbClr val="0F172A"/>
                </a:solidFill>
              </a:rPr>
              <a:t>CPU, GPU, NPU, RAM, storage I/O, radio usage, and sensor pipelines compete for a small thermal and energy budget.</a:t>
            </a:r>
            <a:endParaRPr lang="en-US" sz="1850" dirty="0"/>
          </a:p>
          <a:p>
            <a:pPr marL="177800" indent="-177800">
              <a:buSzPct val="100000"/>
              <a:buChar char="•"/>
            </a:pPr>
            <a:r>
              <a:rPr lang="en-US" sz="1850" dirty="0">
                <a:solidFill>
                  <a:srgbClr val="0F172A"/>
                </a:solidFill>
              </a:rPr>
              <a:t>Foreground/ background execution policies force apps to minimize waste and schedule work carefully.</a:t>
            </a:r>
            <a:endParaRPr lang="en-US" sz="1850" dirty="0"/>
          </a:p>
          <a:p>
            <a:pPr marL="177800" indent="-177800">
              <a:buSzPct val="100000"/>
              <a:buChar char="•"/>
            </a:pPr>
            <a:r>
              <a:rPr lang="en-US" sz="1850" dirty="0">
                <a:solidFill>
                  <a:srgbClr val="0F172A"/>
                </a:solidFill>
              </a:rPr>
              <a:t>A good mobile design is graceful under low memory, low bandwidth, low battery, and degraded sensors.</a:t>
            </a:r>
            <a:endParaRPr lang="en-US" sz="1850" dirty="0"/>
          </a:p>
        </p:txBody>
      </p:sp>
      <p:sp>
        <p:nvSpPr>
          <p:cNvPr id="6" name="Shape 4"/>
          <p:cNvSpPr/>
          <p:nvPr/>
        </p:nvSpPr>
        <p:spPr>
          <a:xfrm>
            <a:off x="7543800" y="1554480"/>
            <a:ext cx="3749040" cy="3931920"/>
          </a:xfrm>
          <a:prstGeom prst="roundRect">
            <a:avLst>
              <a:gd name="adj" fmla="val 1951"/>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749040" cy="347472"/>
          </a:xfrm>
          <a:prstGeom prst="rect">
            <a:avLst/>
          </a:prstGeom>
          <a:solidFill>
            <a:srgbClr val="C13B2A"/>
          </a:solidFill>
          <a:ln w="12700">
            <a:solidFill>
              <a:srgbClr val="C13B2A"/>
            </a:solidFill>
            <a:prstDash val="solid"/>
          </a:ln>
        </p:spPr>
      </p:sp>
      <p:sp>
        <p:nvSpPr>
          <p:cNvPr id="8" name="Text 6"/>
          <p:cNvSpPr/>
          <p:nvPr/>
        </p:nvSpPr>
        <p:spPr>
          <a:xfrm>
            <a:off x="7653528" y="1618488"/>
            <a:ext cx="3529584" cy="182880"/>
          </a:xfrm>
          <a:prstGeom prst="rect">
            <a:avLst/>
          </a:prstGeom>
          <a:noFill/>
          <a:ln/>
        </p:spPr>
        <p:txBody>
          <a:bodyPr wrap="square" rtlCol="0" anchor="ctr"/>
          <a:lstStyle/>
          <a:p>
            <a:pPr marL="0" indent="0">
              <a:buNone/>
            </a:pPr>
            <a:r>
              <a:rPr lang="en-US" sz="1600" b="1" dirty="0">
                <a:solidFill>
                  <a:srgbClr val="FFFFFF"/>
                </a:solidFill>
              </a:rPr>
              <a:t>Engineering principle</a:t>
            </a:r>
            <a:endParaRPr lang="en-US" sz="1600" dirty="0"/>
          </a:p>
        </p:txBody>
      </p:sp>
      <p:sp>
        <p:nvSpPr>
          <p:cNvPr id="9" name="Text 7"/>
          <p:cNvSpPr/>
          <p:nvPr/>
        </p:nvSpPr>
        <p:spPr>
          <a:xfrm>
            <a:off x="7690104" y="2011680"/>
            <a:ext cx="3456432" cy="3383280"/>
          </a:xfrm>
          <a:prstGeom prst="rect">
            <a:avLst/>
          </a:prstGeom>
          <a:noFill/>
          <a:ln/>
        </p:spPr>
        <p:txBody>
          <a:bodyPr wrap="square" rtlCol="0" anchor="t"/>
          <a:lstStyle/>
          <a:p>
            <a:pPr marL="0" indent="0">
              <a:buNone/>
            </a:pPr>
            <a:r>
              <a:rPr lang="en-US" sz="1350" dirty="0">
                <a:solidFill>
                  <a:srgbClr val="0F172A"/>
                </a:solidFill>
              </a:rPr>
              <a:t>Optimize the expensive path first:</a:t>
            </a:r>
            <a:endParaRPr lang="en-US" sz="1350" dirty="0"/>
          </a:p>
          <a:p>
            <a:pPr marL="0" indent="0">
              <a:buNone/>
            </a:pPr>
            <a:r>
              <a:rPr lang="en-US" sz="1350" dirty="0">
                <a:solidFill>
                  <a:srgbClr val="0F172A"/>
                </a:solidFill>
              </a:rPr>
              <a:t>1. Radio activations</a:t>
            </a:r>
            <a:endParaRPr lang="en-US" sz="1350" dirty="0"/>
          </a:p>
          <a:p>
            <a:pPr marL="0" indent="0">
              <a:buNone/>
            </a:pPr>
            <a:r>
              <a:rPr lang="en-US" sz="1350" dirty="0">
                <a:solidFill>
                  <a:srgbClr val="0F172A"/>
                </a:solidFill>
              </a:rPr>
              <a:t>2. Wake locks / wakeups</a:t>
            </a:r>
            <a:endParaRPr lang="en-US" sz="1350" dirty="0"/>
          </a:p>
          <a:p>
            <a:pPr marL="0" indent="0">
              <a:buNone/>
            </a:pPr>
            <a:r>
              <a:rPr lang="en-US" sz="1350" dirty="0">
                <a:solidFill>
                  <a:srgbClr val="0F172A"/>
                </a:solidFill>
              </a:rPr>
              <a:t>3. Large decoding / rendering bursts</a:t>
            </a:r>
            <a:endParaRPr lang="en-US" sz="1350" dirty="0"/>
          </a:p>
          <a:p>
            <a:pPr marL="0" indent="0">
              <a:buNone/>
            </a:pPr>
            <a:r>
              <a:rPr lang="en-US" sz="1350" dirty="0">
                <a:solidFill>
                  <a:srgbClr val="0F172A"/>
                </a:solidFill>
              </a:rPr>
              <a:t>4. Repeated network retries</a:t>
            </a:r>
            <a:endParaRPr lang="en-US" sz="1350" dirty="0"/>
          </a:p>
          <a:p>
            <a:pPr marL="0" indent="0">
              <a:buNone/>
            </a:pPr>
            <a:r>
              <a:rPr lang="en-US" sz="1350" dirty="0">
                <a:solidFill>
                  <a:srgbClr val="0F172A"/>
                </a:solidFill>
              </a:rPr>
              <a:t>5. Unbounded background sync</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Operating-system responsibilities on mobile</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The OS is an active governor, not just a passive abstraction layer</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5394960" cy="4526280"/>
          </a:xfrm>
          <a:prstGeom prst="roundRect">
            <a:avLst>
              <a:gd name="adj" fmla="val 1616"/>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5394960" cy="347472"/>
          </a:xfrm>
          <a:prstGeom prst="rect">
            <a:avLst/>
          </a:prstGeom>
          <a:solidFill>
            <a:srgbClr val="2864DC"/>
          </a:solidFill>
          <a:ln w="12700">
            <a:solidFill>
              <a:srgbClr val="2864DC"/>
            </a:solidFill>
            <a:prstDash val="solid"/>
          </a:ln>
        </p:spPr>
      </p:sp>
      <p:sp>
        <p:nvSpPr>
          <p:cNvPr id="7" name="Text 5"/>
          <p:cNvSpPr/>
          <p:nvPr/>
        </p:nvSpPr>
        <p:spPr>
          <a:xfrm>
            <a:off x="795528" y="1481328"/>
            <a:ext cx="5175504" cy="182880"/>
          </a:xfrm>
          <a:prstGeom prst="rect">
            <a:avLst/>
          </a:prstGeom>
          <a:noFill/>
          <a:ln/>
        </p:spPr>
        <p:txBody>
          <a:bodyPr wrap="square" rtlCol="0" anchor="ctr"/>
          <a:lstStyle/>
          <a:p>
            <a:pPr marL="0" indent="0">
              <a:buNone/>
            </a:pPr>
            <a:r>
              <a:rPr lang="en-US" sz="1600" b="1" dirty="0">
                <a:solidFill>
                  <a:srgbClr val="FFFFFF"/>
                </a:solidFill>
              </a:rPr>
              <a:t>Core mechanisms</a:t>
            </a:r>
            <a:endParaRPr lang="en-US" sz="1600" dirty="0"/>
          </a:p>
        </p:txBody>
      </p:sp>
      <p:sp>
        <p:nvSpPr>
          <p:cNvPr id="8" name="Text 6"/>
          <p:cNvSpPr/>
          <p:nvPr/>
        </p:nvSpPr>
        <p:spPr>
          <a:xfrm>
            <a:off x="832104" y="1874520"/>
            <a:ext cx="5102352" cy="3977640"/>
          </a:xfrm>
          <a:prstGeom prst="rect">
            <a:avLst/>
          </a:prstGeom>
          <a:noFill/>
          <a:ln/>
        </p:spPr>
        <p:txBody>
          <a:bodyPr wrap="square" rtlCol="0" anchor="t"/>
          <a:lstStyle/>
          <a:p>
            <a:pPr marL="0" indent="0">
              <a:buNone/>
            </a:pPr>
            <a:r>
              <a:rPr lang="en-US" sz="1350" dirty="0">
                <a:solidFill>
                  <a:srgbClr val="0F172A"/>
                </a:solidFill>
              </a:rPr>
              <a:t>Process isolation, app sandboxing, permission mediation, lifecycle management, notification routing, IPC, job scheduling, power states, secure storage, and background policy enforcement.</a:t>
            </a:r>
            <a:endParaRPr lang="en-US" sz="1350" dirty="0"/>
          </a:p>
        </p:txBody>
      </p:sp>
      <p:sp>
        <p:nvSpPr>
          <p:cNvPr id="9" name="Shape 7"/>
          <p:cNvSpPr/>
          <p:nvPr/>
        </p:nvSpPr>
        <p:spPr>
          <a:xfrm>
            <a:off x="6309360" y="1417320"/>
            <a:ext cx="5212080" cy="4526280"/>
          </a:xfrm>
          <a:prstGeom prst="roundRect">
            <a:avLst>
              <a:gd name="adj" fmla="val 1616"/>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6309360" y="1417320"/>
            <a:ext cx="5212080" cy="347472"/>
          </a:xfrm>
          <a:prstGeom prst="rect">
            <a:avLst/>
          </a:prstGeom>
          <a:solidFill>
            <a:srgbClr val="0D9488"/>
          </a:solidFill>
          <a:ln w="12700">
            <a:solidFill>
              <a:srgbClr val="0D9488"/>
            </a:solidFill>
            <a:prstDash val="solid"/>
          </a:ln>
        </p:spPr>
      </p:sp>
      <p:sp>
        <p:nvSpPr>
          <p:cNvPr id="11" name="Text 9"/>
          <p:cNvSpPr/>
          <p:nvPr/>
        </p:nvSpPr>
        <p:spPr>
          <a:xfrm>
            <a:off x="6419088" y="1481328"/>
            <a:ext cx="4992624" cy="182880"/>
          </a:xfrm>
          <a:prstGeom prst="rect">
            <a:avLst/>
          </a:prstGeom>
          <a:noFill/>
          <a:ln/>
        </p:spPr>
        <p:txBody>
          <a:bodyPr wrap="square" rtlCol="0" anchor="ctr"/>
          <a:lstStyle/>
          <a:p>
            <a:pPr marL="0" indent="0">
              <a:buNone/>
            </a:pPr>
            <a:r>
              <a:rPr lang="en-US" sz="1600" b="1" dirty="0">
                <a:solidFill>
                  <a:srgbClr val="FFFFFF"/>
                </a:solidFill>
              </a:rPr>
              <a:t>Why master students should care</a:t>
            </a:r>
            <a:endParaRPr lang="en-US" sz="1600" dirty="0"/>
          </a:p>
        </p:txBody>
      </p:sp>
      <p:sp>
        <p:nvSpPr>
          <p:cNvPr id="12" name="Text 10"/>
          <p:cNvSpPr/>
          <p:nvPr/>
        </p:nvSpPr>
        <p:spPr>
          <a:xfrm>
            <a:off x="6455664" y="1874520"/>
            <a:ext cx="4919472" cy="3977640"/>
          </a:xfrm>
          <a:prstGeom prst="rect">
            <a:avLst/>
          </a:prstGeom>
          <a:noFill/>
          <a:ln/>
        </p:spPr>
        <p:txBody>
          <a:bodyPr wrap="square" rtlCol="0" anchor="t"/>
          <a:lstStyle/>
          <a:p>
            <a:pPr marL="0" indent="0">
              <a:buNone/>
            </a:pPr>
            <a:r>
              <a:rPr lang="en-US" sz="1350" dirty="0">
                <a:solidFill>
                  <a:srgbClr val="0F172A"/>
                </a:solidFill>
              </a:rPr>
              <a:t>Many mobile failures are not purely algorithmic. They emerge from OS-mediated policy: app startup, prefetch windows, permission revocation, doze modes, radio batching, and process eviction.</a:t>
            </a:r>
            <a:endParaRPr lang="en-US" sz="1350" dirty="0"/>
          </a:p>
        </p:txBody>
      </p:sp>
      <p:sp>
        <p:nvSpPr>
          <p:cNvPr id="13" name="Shape 11"/>
          <p:cNvSpPr/>
          <p:nvPr/>
        </p:nvSpPr>
        <p:spPr>
          <a:xfrm>
            <a:off x="914400" y="5321807"/>
            <a:ext cx="10789920" cy="658368"/>
          </a:xfrm>
          <a:prstGeom prst="roundRect">
            <a:avLst>
              <a:gd name="adj" fmla="val 11111"/>
            </a:avLst>
          </a:prstGeom>
          <a:solidFill>
            <a:srgbClr val="FFFFFF"/>
          </a:solidFill>
          <a:ln w="12700">
            <a:solidFill>
              <a:srgbClr val="183153"/>
            </a:solidFill>
            <a:prstDash val="solid"/>
          </a:ln>
          <a:effectLst>
            <a:outerShdw blurRad="12700" dist="12700" dir="2700000" algn="bl" rotWithShape="0">
              <a:srgbClr val="000000">
                <a:alpha val="12000"/>
              </a:srgbClr>
            </a:outerShdw>
          </a:effectLst>
        </p:spPr>
      </p:sp>
      <p:sp>
        <p:nvSpPr>
          <p:cNvPr id="14" name="Shape 12"/>
          <p:cNvSpPr/>
          <p:nvPr/>
        </p:nvSpPr>
        <p:spPr>
          <a:xfrm>
            <a:off x="914400" y="5001768"/>
            <a:ext cx="10789920" cy="347472"/>
          </a:xfrm>
          <a:prstGeom prst="rect">
            <a:avLst/>
          </a:prstGeom>
          <a:solidFill>
            <a:srgbClr val="183153"/>
          </a:solidFill>
          <a:ln w="12700">
            <a:solidFill>
              <a:srgbClr val="183153"/>
            </a:solidFill>
            <a:prstDash val="solid"/>
          </a:ln>
        </p:spPr>
      </p:sp>
      <p:sp>
        <p:nvSpPr>
          <p:cNvPr id="15" name="Text 13"/>
          <p:cNvSpPr/>
          <p:nvPr/>
        </p:nvSpPr>
        <p:spPr>
          <a:xfrm>
            <a:off x="978408" y="5550408"/>
            <a:ext cx="10570464" cy="182880"/>
          </a:xfrm>
          <a:prstGeom prst="rect">
            <a:avLst/>
          </a:prstGeom>
          <a:noFill/>
          <a:ln/>
        </p:spPr>
        <p:txBody>
          <a:bodyPr wrap="square" rtlCol="0" anchor="ctr"/>
          <a:lstStyle/>
          <a:p>
            <a:pPr marL="0" indent="0">
              <a:buNone/>
            </a:pPr>
            <a:r>
              <a:rPr lang="en-US" sz="1600" b="1" dirty="0">
                <a:solidFill>
                  <a:srgbClr val="FFFFFF"/>
                </a:solidFill>
              </a:rPr>
              <a:t>Takeaway</a:t>
            </a:r>
            <a:endParaRPr lang="en-US" sz="1600" dirty="0"/>
          </a:p>
        </p:txBody>
      </p:sp>
      <p:sp>
        <p:nvSpPr>
          <p:cNvPr id="16" name="Text 14"/>
          <p:cNvSpPr/>
          <p:nvPr/>
        </p:nvSpPr>
        <p:spPr>
          <a:xfrm>
            <a:off x="1060704" y="5426964"/>
            <a:ext cx="10497312" cy="109728"/>
          </a:xfrm>
          <a:prstGeom prst="rect">
            <a:avLst/>
          </a:prstGeom>
          <a:noFill/>
          <a:ln/>
        </p:spPr>
        <p:txBody>
          <a:bodyPr wrap="square" rtlCol="0" anchor="t"/>
          <a:lstStyle/>
          <a:p>
            <a:pPr marL="0" indent="0">
              <a:buNone/>
            </a:pPr>
            <a:r>
              <a:rPr lang="en-US" sz="1350" dirty="0">
                <a:solidFill>
                  <a:srgbClr val="0F172A"/>
                </a:solidFill>
              </a:rPr>
              <a:t>Mobile OS design is fundamentally about bounded autonomy: apps may act, but only within policies that protect battery, privacy, and platform stability.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Wireless communication modes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Each radio technology implies different latency, power, range, topology, and security properties</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63040"/>
            <a:ext cx="2103120" cy="1920240"/>
          </a:xfrm>
          <a:prstGeom prst="roundRect">
            <a:avLst>
              <a:gd name="adj" fmla="val 3810"/>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63040"/>
            <a:ext cx="2103120" cy="347472"/>
          </a:xfrm>
          <a:prstGeom prst="rect">
            <a:avLst/>
          </a:prstGeom>
          <a:solidFill>
            <a:srgbClr val="2864DC"/>
          </a:solidFill>
          <a:ln w="12700">
            <a:solidFill>
              <a:srgbClr val="2864DC"/>
            </a:solidFill>
            <a:prstDash val="solid"/>
          </a:ln>
        </p:spPr>
      </p:sp>
      <p:sp>
        <p:nvSpPr>
          <p:cNvPr id="7" name="Text 5"/>
          <p:cNvSpPr/>
          <p:nvPr/>
        </p:nvSpPr>
        <p:spPr>
          <a:xfrm>
            <a:off x="795528" y="1527048"/>
            <a:ext cx="1883664" cy="182880"/>
          </a:xfrm>
          <a:prstGeom prst="rect">
            <a:avLst/>
          </a:prstGeom>
          <a:noFill/>
          <a:ln/>
        </p:spPr>
        <p:txBody>
          <a:bodyPr wrap="square" rtlCol="0" anchor="ctr"/>
          <a:lstStyle/>
          <a:p>
            <a:pPr marL="0" indent="0">
              <a:buNone/>
            </a:pPr>
            <a:r>
              <a:rPr lang="en-US" sz="1600" b="1" dirty="0">
                <a:solidFill>
                  <a:srgbClr val="FFFFFF"/>
                </a:solidFill>
              </a:rPr>
              <a:t>Cellular 4G/5G</a:t>
            </a:r>
            <a:endParaRPr lang="en-US" sz="1600" dirty="0"/>
          </a:p>
        </p:txBody>
      </p:sp>
      <p:sp>
        <p:nvSpPr>
          <p:cNvPr id="8" name="Text 6"/>
          <p:cNvSpPr/>
          <p:nvPr/>
        </p:nvSpPr>
        <p:spPr>
          <a:xfrm>
            <a:off x="832104" y="1920240"/>
            <a:ext cx="1810512" cy="1371600"/>
          </a:xfrm>
          <a:prstGeom prst="rect">
            <a:avLst/>
          </a:prstGeom>
          <a:noFill/>
          <a:ln/>
        </p:spPr>
        <p:txBody>
          <a:bodyPr wrap="square" rtlCol="0" anchor="t"/>
          <a:lstStyle/>
          <a:p>
            <a:pPr marL="0" indent="0">
              <a:buNone/>
            </a:pPr>
            <a:r>
              <a:rPr lang="en-US" sz="1350" dirty="0">
                <a:solidFill>
                  <a:srgbClr val="0F172A"/>
                </a:solidFill>
              </a:rPr>
              <a:t>Wide-area coverage</a:t>
            </a:r>
            <a:endParaRPr lang="en-US" sz="1350" dirty="0"/>
          </a:p>
          <a:p>
            <a:pPr marL="0" indent="0">
              <a:buNone/>
            </a:pPr>
            <a:r>
              <a:rPr lang="en-US" sz="1350" dirty="0">
                <a:solidFill>
                  <a:srgbClr val="0F172A"/>
                </a:solidFill>
              </a:rPr>
              <a:t>Managed mobility</a:t>
            </a:r>
            <a:endParaRPr lang="en-US" sz="1350" dirty="0"/>
          </a:p>
          <a:p>
            <a:pPr marL="0" indent="0">
              <a:buNone/>
            </a:pPr>
            <a:r>
              <a:rPr lang="en-US" sz="1350" dirty="0">
                <a:solidFill>
                  <a:srgbClr val="0F172A"/>
                </a:solidFill>
              </a:rPr>
              <a:t>Strong support for QoS classes</a:t>
            </a:r>
            <a:endParaRPr lang="en-US" sz="1350" dirty="0"/>
          </a:p>
          <a:p>
            <a:pPr marL="0" indent="0">
              <a:buNone/>
            </a:pPr>
            <a:r>
              <a:rPr lang="en-US" sz="1350" dirty="0">
                <a:solidFill>
                  <a:srgbClr val="0F172A"/>
                </a:solidFill>
              </a:rPr>
              <a:t>Good for always-connected apps</a:t>
            </a:r>
            <a:endParaRPr lang="en-US" sz="1350" dirty="0"/>
          </a:p>
        </p:txBody>
      </p:sp>
      <p:sp>
        <p:nvSpPr>
          <p:cNvPr id="9" name="Shape 7"/>
          <p:cNvSpPr/>
          <p:nvPr/>
        </p:nvSpPr>
        <p:spPr>
          <a:xfrm>
            <a:off x="2971800" y="1463040"/>
            <a:ext cx="2103120" cy="1920240"/>
          </a:xfrm>
          <a:prstGeom prst="roundRect">
            <a:avLst>
              <a:gd name="adj" fmla="val 3810"/>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2971800" y="1463040"/>
            <a:ext cx="2103120" cy="347472"/>
          </a:xfrm>
          <a:prstGeom prst="rect">
            <a:avLst/>
          </a:prstGeom>
          <a:solidFill>
            <a:srgbClr val="0D9488"/>
          </a:solidFill>
          <a:ln w="12700">
            <a:solidFill>
              <a:srgbClr val="0D9488"/>
            </a:solidFill>
            <a:prstDash val="solid"/>
          </a:ln>
        </p:spPr>
      </p:sp>
      <p:sp>
        <p:nvSpPr>
          <p:cNvPr id="11" name="Text 9"/>
          <p:cNvSpPr/>
          <p:nvPr/>
        </p:nvSpPr>
        <p:spPr>
          <a:xfrm>
            <a:off x="3081528" y="1527048"/>
            <a:ext cx="1883664" cy="182880"/>
          </a:xfrm>
          <a:prstGeom prst="rect">
            <a:avLst/>
          </a:prstGeom>
          <a:noFill/>
          <a:ln/>
        </p:spPr>
        <p:txBody>
          <a:bodyPr wrap="square" rtlCol="0" anchor="ctr"/>
          <a:lstStyle/>
          <a:p>
            <a:pPr marL="0" indent="0">
              <a:buNone/>
            </a:pPr>
            <a:r>
              <a:rPr lang="en-US" sz="1600" b="1" dirty="0">
                <a:solidFill>
                  <a:srgbClr val="FFFFFF"/>
                </a:solidFill>
              </a:rPr>
              <a:t>Wi-Fi</a:t>
            </a:r>
            <a:endParaRPr lang="en-US" sz="1600" dirty="0"/>
          </a:p>
        </p:txBody>
      </p:sp>
      <p:sp>
        <p:nvSpPr>
          <p:cNvPr id="12" name="Text 10"/>
          <p:cNvSpPr/>
          <p:nvPr/>
        </p:nvSpPr>
        <p:spPr>
          <a:xfrm>
            <a:off x="3118104" y="1920240"/>
            <a:ext cx="1810512" cy="1371600"/>
          </a:xfrm>
          <a:prstGeom prst="rect">
            <a:avLst/>
          </a:prstGeom>
          <a:noFill/>
          <a:ln/>
        </p:spPr>
        <p:txBody>
          <a:bodyPr wrap="square" rtlCol="0" anchor="t"/>
          <a:lstStyle/>
          <a:p>
            <a:pPr marL="0" indent="0">
              <a:buNone/>
            </a:pPr>
            <a:r>
              <a:rPr lang="en-US" sz="1350" dirty="0">
                <a:solidFill>
                  <a:srgbClr val="0F172A"/>
                </a:solidFill>
              </a:rPr>
              <a:t>High throughput</a:t>
            </a:r>
            <a:endParaRPr lang="en-US" sz="1350" dirty="0"/>
          </a:p>
          <a:p>
            <a:pPr marL="0" indent="0">
              <a:buNone/>
            </a:pPr>
            <a:r>
              <a:rPr lang="en-US" sz="1350" dirty="0">
                <a:solidFill>
                  <a:srgbClr val="0F172A"/>
                </a:solidFill>
              </a:rPr>
              <a:t>Indoor/enterprise heavy use</a:t>
            </a:r>
            <a:endParaRPr lang="en-US" sz="1350" dirty="0"/>
          </a:p>
          <a:p>
            <a:pPr marL="0" indent="0">
              <a:buNone/>
            </a:pPr>
            <a:r>
              <a:rPr lang="en-US" sz="1350" dirty="0">
                <a:solidFill>
                  <a:srgbClr val="0F172A"/>
                </a:solidFill>
              </a:rPr>
              <a:t>Lower cost per bit</a:t>
            </a:r>
            <a:endParaRPr lang="en-US" sz="1350" dirty="0"/>
          </a:p>
          <a:p>
            <a:pPr marL="0" indent="0">
              <a:buNone/>
            </a:pPr>
            <a:r>
              <a:rPr lang="en-US" sz="1350" dirty="0">
                <a:solidFill>
                  <a:srgbClr val="0F172A"/>
                </a:solidFill>
              </a:rPr>
              <a:t>Variable roaming behavior</a:t>
            </a:r>
            <a:endParaRPr lang="en-US" sz="1350" dirty="0"/>
          </a:p>
        </p:txBody>
      </p:sp>
      <p:sp>
        <p:nvSpPr>
          <p:cNvPr id="13" name="Shape 11"/>
          <p:cNvSpPr/>
          <p:nvPr/>
        </p:nvSpPr>
        <p:spPr>
          <a:xfrm>
            <a:off x="5257800" y="1463040"/>
            <a:ext cx="2103120" cy="1920240"/>
          </a:xfrm>
          <a:prstGeom prst="roundRect">
            <a:avLst>
              <a:gd name="adj" fmla="val 3810"/>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14" name="Shape 12"/>
          <p:cNvSpPr/>
          <p:nvPr/>
        </p:nvSpPr>
        <p:spPr>
          <a:xfrm>
            <a:off x="5257800" y="1463040"/>
            <a:ext cx="2103120" cy="347472"/>
          </a:xfrm>
          <a:prstGeom prst="rect">
            <a:avLst/>
          </a:prstGeom>
          <a:solidFill>
            <a:srgbClr val="1E8E5A"/>
          </a:solidFill>
          <a:ln w="12700">
            <a:solidFill>
              <a:srgbClr val="1E8E5A"/>
            </a:solidFill>
            <a:prstDash val="solid"/>
          </a:ln>
        </p:spPr>
      </p:sp>
      <p:sp>
        <p:nvSpPr>
          <p:cNvPr id="15" name="Text 13"/>
          <p:cNvSpPr/>
          <p:nvPr/>
        </p:nvSpPr>
        <p:spPr>
          <a:xfrm>
            <a:off x="5367528" y="1527048"/>
            <a:ext cx="1883664" cy="182880"/>
          </a:xfrm>
          <a:prstGeom prst="rect">
            <a:avLst/>
          </a:prstGeom>
          <a:noFill/>
          <a:ln/>
        </p:spPr>
        <p:txBody>
          <a:bodyPr wrap="square" rtlCol="0" anchor="ctr"/>
          <a:lstStyle/>
          <a:p>
            <a:pPr marL="0" indent="0">
              <a:buNone/>
            </a:pPr>
            <a:r>
              <a:rPr lang="en-US" sz="1600" b="1" dirty="0">
                <a:solidFill>
                  <a:srgbClr val="FFFFFF"/>
                </a:solidFill>
              </a:rPr>
              <a:t>Bluetooth LE</a:t>
            </a:r>
            <a:endParaRPr lang="en-US" sz="1600" dirty="0"/>
          </a:p>
        </p:txBody>
      </p:sp>
      <p:sp>
        <p:nvSpPr>
          <p:cNvPr id="16" name="Text 14"/>
          <p:cNvSpPr/>
          <p:nvPr/>
        </p:nvSpPr>
        <p:spPr>
          <a:xfrm>
            <a:off x="5404104" y="1920240"/>
            <a:ext cx="1810512" cy="1371600"/>
          </a:xfrm>
          <a:prstGeom prst="rect">
            <a:avLst/>
          </a:prstGeom>
          <a:noFill/>
          <a:ln/>
        </p:spPr>
        <p:txBody>
          <a:bodyPr wrap="square" rtlCol="0" anchor="t"/>
          <a:lstStyle/>
          <a:p>
            <a:pPr marL="0" indent="0">
              <a:buNone/>
            </a:pPr>
            <a:r>
              <a:rPr lang="en-US" sz="1350" dirty="0">
                <a:solidFill>
                  <a:srgbClr val="0F172A"/>
                </a:solidFill>
              </a:rPr>
              <a:t>Short range</a:t>
            </a:r>
            <a:endParaRPr lang="en-US" sz="1350" dirty="0"/>
          </a:p>
          <a:p>
            <a:pPr marL="0" indent="0">
              <a:buNone/>
            </a:pPr>
            <a:r>
              <a:rPr lang="en-US" sz="1350" dirty="0">
                <a:solidFill>
                  <a:srgbClr val="0F172A"/>
                </a:solidFill>
              </a:rPr>
              <a:t>Ultra-low power</a:t>
            </a:r>
            <a:endParaRPr lang="en-US" sz="1350" dirty="0"/>
          </a:p>
          <a:p>
            <a:pPr marL="0" indent="0">
              <a:buNone/>
            </a:pPr>
            <a:r>
              <a:rPr lang="en-US" sz="1350" dirty="0">
                <a:solidFill>
                  <a:srgbClr val="0F172A"/>
                </a:solidFill>
              </a:rPr>
              <a:t>Wearables &amp; peripherals</a:t>
            </a:r>
            <a:endParaRPr lang="en-US" sz="1350" dirty="0"/>
          </a:p>
          <a:p>
            <a:pPr marL="0" indent="0">
              <a:buNone/>
            </a:pPr>
            <a:r>
              <a:rPr lang="en-US" sz="1350" dirty="0">
                <a:solidFill>
                  <a:srgbClr val="0F172A"/>
                </a:solidFill>
              </a:rPr>
              <a:t>Stateful pairing issues</a:t>
            </a:r>
            <a:endParaRPr lang="en-US" sz="1350" dirty="0"/>
          </a:p>
        </p:txBody>
      </p:sp>
      <p:sp>
        <p:nvSpPr>
          <p:cNvPr id="17" name="Shape 15"/>
          <p:cNvSpPr/>
          <p:nvPr/>
        </p:nvSpPr>
        <p:spPr>
          <a:xfrm>
            <a:off x="7543800" y="1463040"/>
            <a:ext cx="2103120" cy="1920240"/>
          </a:xfrm>
          <a:prstGeom prst="roundRect">
            <a:avLst>
              <a:gd name="adj" fmla="val 3810"/>
            </a:avLst>
          </a:prstGeom>
          <a:solidFill>
            <a:srgbClr val="FFFFFF"/>
          </a:solidFill>
          <a:ln w="12700">
            <a:solidFill>
              <a:srgbClr val="C98B00"/>
            </a:solidFill>
            <a:prstDash val="solid"/>
          </a:ln>
          <a:effectLst>
            <a:outerShdw blurRad="12700" dist="12700" dir="2700000" algn="bl" rotWithShape="0">
              <a:srgbClr val="000000">
                <a:alpha val="12000"/>
              </a:srgbClr>
            </a:outerShdw>
          </a:effectLst>
        </p:spPr>
      </p:sp>
      <p:sp>
        <p:nvSpPr>
          <p:cNvPr id="18" name="Shape 16"/>
          <p:cNvSpPr/>
          <p:nvPr/>
        </p:nvSpPr>
        <p:spPr>
          <a:xfrm>
            <a:off x="7543800" y="1463040"/>
            <a:ext cx="2103120" cy="347472"/>
          </a:xfrm>
          <a:prstGeom prst="rect">
            <a:avLst/>
          </a:prstGeom>
          <a:solidFill>
            <a:srgbClr val="C98B00"/>
          </a:solidFill>
          <a:ln w="12700">
            <a:solidFill>
              <a:srgbClr val="C98B00"/>
            </a:solidFill>
            <a:prstDash val="solid"/>
          </a:ln>
        </p:spPr>
      </p:sp>
      <p:sp>
        <p:nvSpPr>
          <p:cNvPr id="19" name="Text 17"/>
          <p:cNvSpPr/>
          <p:nvPr/>
        </p:nvSpPr>
        <p:spPr>
          <a:xfrm>
            <a:off x="7653528" y="1527048"/>
            <a:ext cx="1883664" cy="182880"/>
          </a:xfrm>
          <a:prstGeom prst="rect">
            <a:avLst/>
          </a:prstGeom>
          <a:noFill/>
          <a:ln/>
        </p:spPr>
        <p:txBody>
          <a:bodyPr wrap="square" rtlCol="0" anchor="ctr"/>
          <a:lstStyle/>
          <a:p>
            <a:pPr marL="0" indent="0">
              <a:buNone/>
            </a:pPr>
            <a:r>
              <a:rPr lang="en-US" sz="1600" b="1" dirty="0">
                <a:solidFill>
                  <a:srgbClr val="FFFFFF"/>
                </a:solidFill>
              </a:rPr>
              <a:t>NFC/UWB</a:t>
            </a:r>
            <a:endParaRPr lang="en-US" sz="1600" dirty="0"/>
          </a:p>
        </p:txBody>
      </p:sp>
      <p:sp>
        <p:nvSpPr>
          <p:cNvPr id="20" name="Text 18"/>
          <p:cNvSpPr/>
          <p:nvPr/>
        </p:nvSpPr>
        <p:spPr>
          <a:xfrm>
            <a:off x="7690104" y="1920240"/>
            <a:ext cx="1810512" cy="1371600"/>
          </a:xfrm>
          <a:prstGeom prst="rect">
            <a:avLst/>
          </a:prstGeom>
          <a:noFill/>
          <a:ln/>
        </p:spPr>
        <p:txBody>
          <a:bodyPr wrap="square" rtlCol="0" anchor="t"/>
          <a:lstStyle/>
          <a:p>
            <a:pPr marL="0" indent="0">
              <a:buNone/>
            </a:pPr>
            <a:r>
              <a:rPr lang="en-US" sz="1350" dirty="0">
                <a:solidFill>
                  <a:srgbClr val="0F172A"/>
                </a:solidFill>
              </a:rPr>
              <a:t>Tap/proximity use cases</a:t>
            </a:r>
            <a:endParaRPr lang="en-US" sz="1350" dirty="0"/>
          </a:p>
          <a:p>
            <a:pPr marL="0" indent="0">
              <a:buNone/>
            </a:pPr>
            <a:r>
              <a:rPr lang="en-US" sz="1350" dirty="0">
                <a:solidFill>
                  <a:srgbClr val="0F172A"/>
                </a:solidFill>
              </a:rPr>
              <a:t>Access, payments, localization</a:t>
            </a:r>
            <a:endParaRPr lang="en-US" sz="1350" dirty="0"/>
          </a:p>
          <a:p>
            <a:pPr marL="0" indent="0">
              <a:buNone/>
            </a:pPr>
            <a:r>
              <a:rPr lang="en-US" sz="1350" dirty="0">
                <a:solidFill>
                  <a:srgbClr val="0F172A"/>
                </a:solidFill>
              </a:rPr>
              <a:t>Very constrained interaction models</a:t>
            </a:r>
            <a:endParaRPr lang="en-US" sz="1350" dirty="0"/>
          </a:p>
        </p:txBody>
      </p:sp>
      <p:sp>
        <p:nvSpPr>
          <p:cNvPr id="21" name="Shape 19"/>
          <p:cNvSpPr/>
          <p:nvPr/>
        </p:nvSpPr>
        <p:spPr>
          <a:xfrm>
            <a:off x="9829800" y="1463040"/>
            <a:ext cx="1645920" cy="1920240"/>
          </a:xfrm>
          <a:prstGeom prst="roundRect">
            <a:avLst>
              <a:gd name="adj" fmla="val 4444"/>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22" name="Shape 20"/>
          <p:cNvSpPr/>
          <p:nvPr/>
        </p:nvSpPr>
        <p:spPr>
          <a:xfrm>
            <a:off x="9829800" y="1463040"/>
            <a:ext cx="1645920" cy="347472"/>
          </a:xfrm>
          <a:prstGeom prst="rect">
            <a:avLst/>
          </a:prstGeom>
          <a:solidFill>
            <a:srgbClr val="C13B2A"/>
          </a:solidFill>
          <a:ln w="12700">
            <a:solidFill>
              <a:srgbClr val="C13B2A"/>
            </a:solidFill>
            <a:prstDash val="solid"/>
          </a:ln>
        </p:spPr>
      </p:sp>
      <p:sp>
        <p:nvSpPr>
          <p:cNvPr id="23" name="Text 21"/>
          <p:cNvSpPr/>
          <p:nvPr/>
        </p:nvSpPr>
        <p:spPr>
          <a:xfrm>
            <a:off x="9939528" y="1527048"/>
            <a:ext cx="1426464" cy="182880"/>
          </a:xfrm>
          <a:prstGeom prst="rect">
            <a:avLst/>
          </a:prstGeom>
          <a:noFill/>
          <a:ln/>
        </p:spPr>
        <p:txBody>
          <a:bodyPr wrap="square" rtlCol="0" anchor="ctr"/>
          <a:lstStyle/>
          <a:p>
            <a:pPr marL="0" indent="0">
              <a:buNone/>
            </a:pPr>
            <a:r>
              <a:rPr lang="en-US" sz="1600" b="1" dirty="0">
                <a:solidFill>
                  <a:srgbClr val="FFFFFF"/>
                </a:solidFill>
              </a:rPr>
              <a:t>GNSS</a:t>
            </a:r>
            <a:endParaRPr lang="en-US" sz="1600" dirty="0"/>
          </a:p>
        </p:txBody>
      </p:sp>
      <p:sp>
        <p:nvSpPr>
          <p:cNvPr id="24" name="Text 22"/>
          <p:cNvSpPr/>
          <p:nvPr/>
        </p:nvSpPr>
        <p:spPr>
          <a:xfrm>
            <a:off x="9976104" y="1920240"/>
            <a:ext cx="1353312" cy="1371600"/>
          </a:xfrm>
          <a:prstGeom prst="rect">
            <a:avLst/>
          </a:prstGeom>
          <a:noFill/>
          <a:ln/>
        </p:spPr>
        <p:txBody>
          <a:bodyPr wrap="square" rtlCol="0" anchor="t"/>
          <a:lstStyle/>
          <a:p>
            <a:pPr marL="0" indent="0">
              <a:buNone/>
            </a:pPr>
            <a:r>
              <a:rPr lang="en-US" sz="1350" dirty="0">
                <a:solidFill>
                  <a:srgbClr val="0F172A"/>
                </a:solidFill>
              </a:rPr>
              <a:t>Positioning</a:t>
            </a:r>
            <a:endParaRPr lang="en-US" sz="1350" dirty="0"/>
          </a:p>
          <a:p>
            <a:pPr marL="0" indent="0">
              <a:buNone/>
            </a:pPr>
            <a:r>
              <a:rPr lang="en-US" sz="1350" dirty="0">
                <a:solidFill>
                  <a:srgbClr val="0F172A"/>
                </a:solidFill>
              </a:rPr>
              <a:t>Navigation</a:t>
            </a:r>
            <a:endParaRPr lang="en-US" sz="1350" dirty="0"/>
          </a:p>
          <a:p>
            <a:pPr marL="0" indent="0">
              <a:buNone/>
            </a:pPr>
            <a:r>
              <a:rPr lang="en-US" sz="1350" dirty="0">
                <a:solidFill>
                  <a:srgbClr val="0F172A"/>
                </a:solidFill>
              </a:rPr>
              <a:t>Outdoor bias</a:t>
            </a:r>
            <a:endParaRPr lang="en-US" sz="1350" dirty="0"/>
          </a:p>
          <a:p>
            <a:pPr marL="0" indent="0">
              <a:buNone/>
            </a:pPr>
            <a:r>
              <a:rPr lang="en-US" sz="1350" dirty="0">
                <a:solidFill>
                  <a:srgbClr val="0F172A"/>
                </a:solidFill>
              </a:rPr>
              <a:t>Energy-heavy at times</a:t>
            </a:r>
            <a:endParaRPr lang="en-US" sz="1350" dirty="0"/>
          </a:p>
        </p:txBody>
      </p:sp>
      <p:sp>
        <p:nvSpPr>
          <p:cNvPr id="25" name="Text 23"/>
          <p:cNvSpPr/>
          <p:nvPr/>
        </p:nvSpPr>
        <p:spPr>
          <a:xfrm>
            <a:off x="822960" y="3840480"/>
            <a:ext cx="10515600" cy="1920240"/>
          </a:xfrm>
          <a:prstGeom prst="rect">
            <a:avLst/>
          </a:prstGeom>
          <a:noFill/>
          <a:ln/>
        </p:spPr>
        <p:txBody>
          <a:bodyPr wrap="square" rtlCol="0" anchor="t"/>
          <a:lstStyle/>
          <a:p>
            <a:pPr marL="177800" indent="-177800">
              <a:buSzPct val="100000"/>
              <a:buChar char="•"/>
            </a:pPr>
            <a:r>
              <a:rPr lang="en-US" sz="1800" dirty="0">
                <a:solidFill>
                  <a:srgbClr val="0F172A"/>
                </a:solidFill>
              </a:rPr>
              <a:t>System designers often combine radios adaptively: BLE for sensing, Wi-Fi for bulk transfer, cellular for wide-area fallback.</a:t>
            </a:r>
            <a:endParaRPr lang="en-US" sz="1800" dirty="0"/>
          </a:p>
          <a:p>
            <a:pPr marL="177800" indent="-177800">
              <a:buSzPct val="100000"/>
              <a:buChar char="•"/>
            </a:pPr>
            <a:r>
              <a:rPr lang="en-US" sz="1800" dirty="0">
                <a:solidFill>
                  <a:srgbClr val="0F172A"/>
                </a:solidFill>
              </a:rPr>
              <a:t>Handover and roaming must be treated as first-class events in app logic, especially for streaming, transport, and field-service applications.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5G-Advanced and the evolution of mobile infrastructures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Mobile application possibilities are shaped by current network capabilities, not only by app code</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63040"/>
            <a:ext cx="6675120" cy="4389120"/>
          </a:xfrm>
          <a:prstGeom prst="rect">
            <a:avLst/>
          </a:prstGeom>
          <a:noFill/>
          <a:ln/>
        </p:spPr>
        <p:txBody>
          <a:bodyPr wrap="square" rtlCol="0" anchor="t"/>
          <a:lstStyle/>
          <a:p>
            <a:pPr marL="177800" indent="-177800">
              <a:buSzPct val="100000"/>
              <a:buChar char="•"/>
            </a:pPr>
            <a:r>
              <a:rPr lang="en-US" sz="1820" dirty="0">
                <a:solidFill>
                  <a:srgbClr val="0F172A"/>
                </a:solidFill>
              </a:rPr>
              <a:t>3GPP Release 18 is the first 5G-Advanced release, extending capabilities introduced in earlier 5G releases.</a:t>
            </a:r>
            <a:endParaRPr lang="en-US" sz="1820" dirty="0"/>
          </a:p>
          <a:p>
            <a:pPr marL="177800" indent="-177800">
              <a:buSzPct val="100000"/>
              <a:buChar char="•"/>
            </a:pPr>
            <a:r>
              <a:rPr lang="en-US" sz="1820" dirty="0">
                <a:solidFill>
                  <a:srgbClr val="0F172A"/>
                </a:solidFill>
              </a:rPr>
              <a:t>Relevant directions include better support for XR/media services, satellite-related capabilities, AI/ML-assisted network optimization, and further automation.</a:t>
            </a:r>
            <a:endParaRPr lang="en-US" sz="1820" dirty="0"/>
          </a:p>
          <a:p>
            <a:pPr marL="177800" indent="-177800">
              <a:buSzPct val="100000"/>
              <a:buChar char="•"/>
            </a:pPr>
            <a:r>
              <a:rPr lang="en-US" sz="1820" dirty="0">
                <a:solidFill>
                  <a:srgbClr val="0F172A"/>
                </a:solidFill>
              </a:rPr>
              <a:t>For application designers, the practical effect is improved support for richer, more context-sensitive, and lower-latency workloads—but never a guarantee of uniform experience.</a:t>
            </a:r>
            <a:endParaRPr lang="en-US" sz="1820" dirty="0"/>
          </a:p>
          <a:p>
            <a:pPr marL="177800" indent="-177800">
              <a:buSzPct val="100000"/>
              <a:buChar char="•"/>
            </a:pPr>
            <a:r>
              <a:rPr lang="en-US" sz="1820" dirty="0">
                <a:solidFill>
                  <a:srgbClr val="0F172A"/>
                </a:solidFill>
              </a:rPr>
              <a:t>The research question is not “Can 5G do this in theory?” but “What happens across heterogeneous devices, operators, and mobility patterns?”</a:t>
            </a:r>
            <a:endParaRPr lang="en-US" sz="1820" dirty="0"/>
          </a:p>
        </p:txBody>
      </p:sp>
      <p:sp>
        <p:nvSpPr>
          <p:cNvPr id="6" name="Shape 4"/>
          <p:cNvSpPr/>
          <p:nvPr/>
        </p:nvSpPr>
        <p:spPr>
          <a:xfrm>
            <a:off x="7726680" y="1554480"/>
            <a:ext cx="3611880" cy="3657600"/>
          </a:xfrm>
          <a:prstGeom prst="roundRect">
            <a:avLst>
              <a:gd name="adj" fmla="val 2025"/>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7" name="Shape 5"/>
          <p:cNvSpPr/>
          <p:nvPr/>
        </p:nvSpPr>
        <p:spPr>
          <a:xfrm>
            <a:off x="7726680" y="1554480"/>
            <a:ext cx="3611880" cy="347472"/>
          </a:xfrm>
          <a:prstGeom prst="rect">
            <a:avLst/>
          </a:prstGeom>
          <a:solidFill>
            <a:srgbClr val="2864DC"/>
          </a:solidFill>
          <a:ln w="12700">
            <a:solidFill>
              <a:srgbClr val="2864DC"/>
            </a:solidFill>
            <a:prstDash val="solid"/>
          </a:ln>
        </p:spPr>
      </p:sp>
      <p:sp>
        <p:nvSpPr>
          <p:cNvPr id="8" name="Text 6"/>
          <p:cNvSpPr/>
          <p:nvPr/>
        </p:nvSpPr>
        <p:spPr>
          <a:xfrm>
            <a:off x="7836408" y="1618488"/>
            <a:ext cx="3392424" cy="182880"/>
          </a:xfrm>
          <a:prstGeom prst="rect">
            <a:avLst/>
          </a:prstGeom>
          <a:noFill/>
          <a:ln/>
        </p:spPr>
        <p:txBody>
          <a:bodyPr wrap="square" rtlCol="0" anchor="ctr"/>
          <a:lstStyle/>
          <a:p>
            <a:pPr marL="0" indent="0">
              <a:buNone/>
            </a:pPr>
            <a:r>
              <a:rPr lang="en-US" sz="1600" b="1" dirty="0">
                <a:solidFill>
                  <a:srgbClr val="FFFFFF"/>
                </a:solidFill>
              </a:rPr>
              <a:t>Design caution</a:t>
            </a:r>
            <a:endParaRPr lang="en-US" sz="1600" dirty="0"/>
          </a:p>
        </p:txBody>
      </p:sp>
      <p:sp>
        <p:nvSpPr>
          <p:cNvPr id="9" name="Text 7"/>
          <p:cNvSpPr/>
          <p:nvPr/>
        </p:nvSpPr>
        <p:spPr>
          <a:xfrm>
            <a:off x="7872984" y="2011680"/>
            <a:ext cx="3319272" cy="3108960"/>
          </a:xfrm>
          <a:prstGeom prst="rect">
            <a:avLst/>
          </a:prstGeom>
          <a:noFill/>
          <a:ln/>
        </p:spPr>
        <p:txBody>
          <a:bodyPr wrap="square" rtlCol="0" anchor="t"/>
          <a:lstStyle/>
          <a:p>
            <a:pPr marL="0" indent="0">
              <a:buNone/>
            </a:pPr>
            <a:r>
              <a:rPr lang="en-US" sz="1350" dirty="0">
                <a:solidFill>
                  <a:srgbClr val="0F172A"/>
                </a:solidFill>
              </a:rPr>
              <a:t>Network standards advance faster than real-world deployment homogeneity.</a:t>
            </a:r>
            <a:endParaRPr lang="en-US" sz="1350" dirty="0"/>
          </a:p>
          <a:p>
            <a:pPr marL="0" indent="0">
              <a:buNone/>
            </a:pPr>
            <a:endParaRPr lang="en-US" sz="1350" dirty="0"/>
          </a:p>
          <a:p>
            <a:pPr marL="0" indent="0">
              <a:buNone/>
            </a:pPr>
            <a:r>
              <a:rPr lang="en-US" sz="1350" dirty="0">
                <a:solidFill>
                  <a:srgbClr val="0F172A"/>
                </a:solidFill>
              </a:rPr>
              <a:t>Therefore:</a:t>
            </a:r>
            <a:endParaRPr lang="en-US" sz="1350" dirty="0"/>
          </a:p>
          <a:p>
            <a:pPr marL="0" indent="0">
              <a:buNone/>
            </a:pPr>
            <a:r>
              <a:rPr lang="en-US" sz="1350" dirty="0">
                <a:solidFill>
                  <a:srgbClr val="0F172A"/>
                </a:solidFill>
              </a:rPr>
              <a:t>• measure on target geographies</a:t>
            </a:r>
            <a:endParaRPr lang="en-US" sz="1350" dirty="0"/>
          </a:p>
          <a:p>
            <a:pPr marL="0" indent="0">
              <a:buNone/>
            </a:pPr>
            <a:r>
              <a:rPr lang="en-US" sz="1350" dirty="0">
                <a:solidFill>
                  <a:srgbClr val="0F172A"/>
                </a:solidFill>
              </a:rPr>
              <a:t>• model degraded modes</a:t>
            </a:r>
            <a:endParaRPr lang="en-US" sz="1350" dirty="0"/>
          </a:p>
          <a:p>
            <a:pPr marL="0" indent="0">
              <a:buNone/>
            </a:pPr>
            <a:r>
              <a:rPr lang="en-US" sz="1350" dirty="0">
                <a:solidFill>
                  <a:srgbClr val="0F172A"/>
                </a:solidFill>
              </a:rPr>
              <a:t>• design protocol fallbacks</a:t>
            </a:r>
            <a:endParaRPr lang="en-US" sz="1350" dirty="0"/>
          </a:p>
          <a:p>
            <a:pPr marL="0" indent="0">
              <a:buNone/>
            </a:pPr>
            <a:r>
              <a:rPr lang="en-US" sz="1350" dirty="0">
                <a:solidFill>
                  <a:srgbClr val="0F172A"/>
                </a:solidFill>
              </a:rPr>
              <a:t>• avoid “always-low-latency” assumptions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Mobility, handoff, and session continuity</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The mobile client is moving; therefore application state must be robust to path changes</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5394960" cy="4526280"/>
          </a:xfrm>
          <a:prstGeom prst="roundRect">
            <a:avLst>
              <a:gd name="adj" fmla="val 1616"/>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5394960" cy="347472"/>
          </a:xfrm>
          <a:prstGeom prst="rect">
            <a:avLst/>
          </a:prstGeom>
          <a:solidFill>
            <a:srgbClr val="2864DC"/>
          </a:solidFill>
          <a:ln w="12700">
            <a:solidFill>
              <a:srgbClr val="2864DC"/>
            </a:solidFill>
            <a:prstDash val="solid"/>
          </a:ln>
        </p:spPr>
      </p:sp>
      <p:sp>
        <p:nvSpPr>
          <p:cNvPr id="7" name="Text 5"/>
          <p:cNvSpPr/>
          <p:nvPr/>
        </p:nvSpPr>
        <p:spPr>
          <a:xfrm>
            <a:off x="795528" y="1481328"/>
            <a:ext cx="5175504" cy="182880"/>
          </a:xfrm>
          <a:prstGeom prst="rect">
            <a:avLst/>
          </a:prstGeom>
          <a:noFill/>
          <a:ln/>
        </p:spPr>
        <p:txBody>
          <a:bodyPr wrap="square" rtlCol="0" anchor="ctr"/>
          <a:lstStyle/>
          <a:p>
            <a:pPr marL="0" indent="0">
              <a:buNone/>
            </a:pPr>
            <a:r>
              <a:rPr lang="en-US" sz="1600" b="1" dirty="0">
                <a:solidFill>
                  <a:srgbClr val="FFFFFF"/>
                </a:solidFill>
              </a:rPr>
              <a:t>Technical challenges</a:t>
            </a:r>
            <a:endParaRPr lang="en-US" sz="1600" dirty="0"/>
          </a:p>
        </p:txBody>
      </p:sp>
      <p:sp>
        <p:nvSpPr>
          <p:cNvPr id="8" name="Text 6"/>
          <p:cNvSpPr/>
          <p:nvPr/>
        </p:nvSpPr>
        <p:spPr>
          <a:xfrm>
            <a:off x="832104" y="1874520"/>
            <a:ext cx="5102352" cy="3977640"/>
          </a:xfrm>
          <a:prstGeom prst="rect">
            <a:avLst/>
          </a:prstGeom>
          <a:noFill/>
          <a:ln/>
        </p:spPr>
        <p:txBody>
          <a:bodyPr wrap="square" rtlCol="0" anchor="t"/>
          <a:lstStyle/>
          <a:p>
            <a:pPr marL="0" indent="0">
              <a:buNone/>
            </a:pPr>
            <a:r>
              <a:rPr lang="en-US" sz="1350" dirty="0">
                <a:solidFill>
                  <a:srgbClr val="0F172A"/>
                </a:solidFill>
              </a:rPr>
              <a:t>IP changes, NAT rebinding, packet loss bursts, fluctuating RTT, radio sleep cycles, captive portals, VPN changes, and intermittent sensor availability can all perturb a mobile session.</a:t>
            </a:r>
            <a:endParaRPr lang="en-US" sz="1350" dirty="0"/>
          </a:p>
        </p:txBody>
      </p:sp>
      <p:sp>
        <p:nvSpPr>
          <p:cNvPr id="9" name="Shape 7"/>
          <p:cNvSpPr/>
          <p:nvPr/>
        </p:nvSpPr>
        <p:spPr>
          <a:xfrm>
            <a:off x="6309360" y="1417320"/>
            <a:ext cx="5212080" cy="4526280"/>
          </a:xfrm>
          <a:prstGeom prst="roundRect">
            <a:avLst>
              <a:gd name="adj" fmla="val 1616"/>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6309360" y="1417320"/>
            <a:ext cx="5212080" cy="347472"/>
          </a:xfrm>
          <a:prstGeom prst="rect">
            <a:avLst/>
          </a:prstGeom>
          <a:solidFill>
            <a:srgbClr val="0D9488"/>
          </a:solidFill>
          <a:ln w="12700">
            <a:solidFill>
              <a:srgbClr val="0D9488"/>
            </a:solidFill>
            <a:prstDash val="solid"/>
          </a:ln>
        </p:spPr>
      </p:sp>
      <p:sp>
        <p:nvSpPr>
          <p:cNvPr id="11" name="Text 9"/>
          <p:cNvSpPr/>
          <p:nvPr/>
        </p:nvSpPr>
        <p:spPr>
          <a:xfrm>
            <a:off x="6419088" y="1481328"/>
            <a:ext cx="4992624" cy="182880"/>
          </a:xfrm>
          <a:prstGeom prst="rect">
            <a:avLst/>
          </a:prstGeom>
          <a:noFill/>
          <a:ln/>
        </p:spPr>
        <p:txBody>
          <a:bodyPr wrap="square" rtlCol="0" anchor="ctr"/>
          <a:lstStyle/>
          <a:p>
            <a:pPr marL="0" indent="0">
              <a:buNone/>
            </a:pPr>
            <a:r>
              <a:rPr lang="en-US" sz="1600" b="1" dirty="0">
                <a:solidFill>
                  <a:srgbClr val="FFFFFF"/>
                </a:solidFill>
              </a:rPr>
              <a:t>System responses</a:t>
            </a:r>
            <a:endParaRPr lang="en-US" sz="1600" dirty="0"/>
          </a:p>
        </p:txBody>
      </p:sp>
      <p:sp>
        <p:nvSpPr>
          <p:cNvPr id="12" name="Text 10"/>
          <p:cNvSpPr/>
          <p:nvPr/>
        </p:nvSpPr>
        <p:spPr>
          <a:xfrm>
            <a:off x="6455664" y="1874520"/>
            <a:ext cx="4919472" cy="3977640"/>
          </a:xfrm>
          <a:prstGeom prst="rect">
            <a:avLst/>
          </a:prstGeom>
          <a:noFill/>
          <a:ln/>
        </p:spPr>
        <p:txBody>
          <a:bodyPr wrap="square" rtlCol="0" anchor="t"/>
          <a:lstStyle/>
          <a:p>
            <a:pPr marL="0" indent="0">
              <a:buNone/>
            </a:pPr>
            <a:r>
              <a:rPr lang="en-US" sz="1350" dirty="0">
                <a:solidFill>
                  <a:srgbClr val="0F172A"/>
                </a:solidFill>
              </a:rPr>
              <a:t>Use resumable protocols, idempotent operations, local queues, conflict resolution, token refresh discipline, and transport-layer observability to preserve user-perceived continuity.</a:t>
            </a:r>
            <a:endParaRPr lang="en-US" sz="1350" dirty="0"/>
          </a:p>
        </p:txBody>
      </p:sp>
      <p:sp>
        <p:nvSpPr>
          <p:cNvPr id="13" name="Shape 11"/>
          <p:cNvSpPr/>
          <p:nvPr/>
        </p:nvSpPr>
        <p:spPr>
          <a:xfrm>
            <a:off x="862586" y="5303520"/>
            <a:ext cx="10789920" cy="658368"/>
          </a:xfrm>
          <a:prstGeom prst="roundRect">
            <a:avLst>
              <a:gd name="adj" fmla="val 11111"/>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14" name="Shape 12"/>
          <p:cNvSpPr/>
          <p:nvPr/>
        </p:nvSpPr>
        <p:spPr>
          <a:xfrm>
            <a:off x="862586" y="4965192"/>
            <a:ext cx="10789920" cy="347472"/>
          </a:xfrm>
          <a:prstGeom prst="rect">
            <a:avLst/>
          </a:prstGeom>
          <a:solidFill>
            <a:srgbClr val="C13B2A"/>
          </a:solidFill>
          <a:ln w="12700">
            <a:solidFill>
              <a:srgbClr val="C13B2A"/>
            </a:solidFill>
            <a:prstDash val="solid"/>
          </a:ln>
        </p:spPr>
      </p:sp>
      <p:sp>
        <p:nvSpPr>
          <p:cNvPr id="15" name="Text 13"/>
          <p:cNvSpPr/>
          <p:nvPr/>
        </p:nvSpPr>
        <p:spPr>
          <a:xfrm>
            <a:off x="978408" y="5550408"/>
            <a:ext cx="10570464" cy="182880"/>
          </a:xfrm>
          <a:prstGeom prst="rect">
            <a:avLst/>
          </a:prstGeom>
          <a:noFill/>
          <a:ln/>
        </p:spPr>
        <p:txBody>
          <a:bodyPr wrap="square" rtlCol="0" anchor="ctr"/>
          <a:lstStyle/>
          <a:p>
            <a:pPr marL="0" indent="0">
              <a:buNone/>
            </a:pPr>
            <a:r>
              <a:rPr lang="en-US" sz="1600" b="1" dirty="0">
                <a:solidFill>
                  <a:srgbClr val="FFFFFF"/>
                </a:solidFill>
              </a:rPr>
              <a:t>Key lesson</a:t>
            </a:r>
            <a:endParaRPr lang="en-US" sz="1600" dirty="0"/>
          </a:p>
        </p:txBody>
      </p:sp>
      <p:sp>
        <p:nvSpPr>
          <p:cNvPr id="16" name="Text 14"/>
          <p:cNvSpPr/>
          <p:nvPr/>
        </p:nvSpPr>
        <p:spPr>
          <a:xfrm>
            <a:off x="1064155" y="5458967"/>
            <a:ext cx="10497312" cy="109728"/>
          </a:xfrm>
          <a:prstGeom prst="rect">
            <a:avLst/>
          </a:prstGeom>
          <a:noFill/>
          <a:ln/>
        </p:spPr>
        <p:txBody>
          <a:bodyPr wrap="square" rtlCol="0" anchor="t"/>
          <a:lstStyle/>
          <a:p>
            <a:pPr marL="0" indent="0">
              <a:buNone/>
            </a:pPr>
            <a:r>
              <a:rPr lang="en-US" sz="1350" dirty="0">
                <a:solidFill>
                  <a:srgbClr val="0F172A"/>
                </a:solidFill>
              </a:rPr>
              <a:t>Robust mobile systems are explicitly designed for partial failure; optimistic assumptions about stable transport are usually incorrect.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Application paradigms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Choosing the app model is an architectural decision with operational consequences</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2651760" cy="4389120"/>
          </a:xfrm>
          <a:prstGeom prst="roundRect">
            <a:avLst>
              <a:gd name="adj" fmla="val 2759"/>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319847"/>
            <a:ext cx="2651760" cy="444945"/>
          </a:xfrm>
          <a:prstGeom prst="rect">
            <a:avLst/>
          </a:prstGeom>
          <a:solidFill>
            <a:srgbClr val="2864DC"/>
          </a:solidFill>
          <a:ln w="12700">
            <a:solidFill>
              <a:srgbClr val="2864DC"/>
            </a:solidFill>
            <a:prstDash val="solid"/>
          </a:ln>
        </p:spPr>
      </p:sp>
      <p:sp>
        <p:nvSpPr>
          <p:cNvPr id="7" name="Text 5"/>
          <p:cNvSpPr/>
          <p:nvPr/>
        </p:nvSpPr>
        <p:spPr>
          <a:xfrm>
            <a:off x="795528" y="1481328"/>
            <a:ext cx="2432304" cy="182880"/>
          </a:xfrm>
          <a:prstGeom prst="rect">
            <a:avLst/>
          </a:prstGeom>
          <a:noFill/>
          <a:ln/>
        </p:spPr>
        <p:txBody>
          <a:bodyPr wrap="square" rtlCol="0" anchor="ctr"/>
          <a:lstStyle/>
          <a:p>
            <a:pPr marL="0" indent="0">
              <a:buNone/>
            </a:pPr>
            <a:r>
              <a:rPr lang="en-US" sz="1600" b="1" dirty="0">
                <a:solidFill>
                  <a:srgbClr val="FFFFFF"/>
                </a:solidFill>
              </a:rPr>
              <a:t>Native apps</a:t>
            </a:r>
            <a:endParaRPr lang="en-US" sz="1600" dirty="0"/>
          </a:p>
        </p:txBody>
      </p:sp>
      <p:sp>
        <p:nvSpPr>
          <p:cNvPr id="8" name="Text 6"/>
          <p:cNvSpPr/>
          <p:nvPr/>
        </p:nvSpPr>
        <p:spPr>
          <a:xfrm>
            <a:off x="832104" y="1874520"/>
            <a:ext cx="2359152" cy="3840480"/>
          </a:xfrm>
          <a:prstGeom prst="rect">
            <a:avLst/>
          </a:prstGeom>
          <a:noFill/>
          <a:ln/>
        </p:spPr>
        <p:txBody>
          <a:bodyPr wrap="square" rtlCol="0" anchor="t"/>
          <a:lstStyle/>
          <a:p>
            <a:pPr marL="0" indent="0">
              <a:buNone/>
            </a:pPr>
            <a:r>
              <a:rPr lang="en-US" sz="1350" dirty="0">
                <a:solidFill>
                  <a:srgbClr val="0F172A"/>
                </a:solidFill>
              </a:rPr>
              <a:t>Best access to platform APIs, sensors, UI performance, background controls, and hardware acceleration. Highest platform-specific engineering cost.</a:t>
            </a:r>
            <a:endParaRPr lang="en-US" sz="1350" dirty="0"/>
          </a:p>
        </p:txBody>
      </p:sp>
      <p:sp>
        <p:nvSpPr>
          <p:cNvPr id="9" name="Shape 7"/>
          <p:cNvSpPr/>
          <p:nvPr/>
        </p:nvSpPr>
        <p:spPr>
          <a:xfrm>
            <a:off x="3520440" y="1417320"/>
            <a:ext cx="2651760" cy="4389120"/>
          </a:xfrm>
          <a:prstGeom prst="roundRect">
            <a:avLst>
              <a:gd name="adj" fmla="val 2759"/>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3520440" y="1319847"/>
            <a:ext cx="2651760" cy="444945"/>
          </a:xfrm>
          <a:prstGeom prst="rect">
            <a:avLst/>
          </a:prstGeom>
          <a:solidFill>
            <a:srgbClr val="0D9488"/>
          </a:solidFill>
          <a:ln w="12700">
            <a:solidFill>
              <a:srgbClr val="0D9488"/>
            </a:solidFill>
            <a:prstDash val="solid"/>
          </a:ln>
        </p:spPr>
      </p:sp>
      <p:sp>
        <p:nvSpPr>
          <p:cNvPr id="11" name="Text 9"/>
          <p:cNvSpPr/>
          <p:nvPr/>
        </p:nvSpPr>
        <p:spPr>
          <a:xfrm>
            <a:off x="3630168" y="1481328"/>
            <a:ext cx="2432304" cy="182880"/>
          </a:xfrm>
          <a:prstGeom prst="rect">
            <a:avLst/>
          </a:prstGeom>
          <a:noFill/>
          <a:ln/>
        </p:spPr>
        <p:txBody>
          <a:bodyPr wrap="square" rtlCol="0" anchor="ctr"/>
          <a:lstStyle/>
          <a:p>
            <a:pPr marL="0" indent="0">
              <a:buNone/>
            </a:pPr>
            <a:r>
              <a:rPr lang="en-US" sz="1600" b="1" dirty="0">
                <a:solidFill>
                  <a:srgbClr val="FFFFFF"/>
                </a:solidFill>
              </a:rPr>
              <a:t>Cross-platform</a:t>
            </a:r>
            <a:endParaRPr lang="en-US" sz="1600" dirty="0"/>
          </a:p>
        </p:txBody>
      </p:sp>
      <p:sp>
        <p:nvSpPr>
          <p:cNvPr id="12" name="Text 10"/>
          <p:cNvSpPr/>
          <p:nvPr/>
        </p:nvSpPr>
        <p:spPr>
          <a:xfrm>
            <a:off x="3666744" y="1874520"/>
            <a:ext cx="2359152" cy="3840480"/>
          </a:xfrm>
          <a:prstGeom prst="rect">
            <a:avLst/>
          </a:prstGeom>
          <a:noFill/>
          <a:ln/>
        </p:spPr>
        <p:txBody>
          <a:bodyPr wrap="square" rtlCol="0" anchor="t"/>
          <a:lstStyle/>
          <a:p>
            <a:pPr marL="0" indent="0">
              <a:buNone/>
            </a:pPr>
            <a:r>
              <a:rPr lang="en-US" sz="1350" dirty="0">
                <a:solidFill>
                  <a:srgbClr val="0F172A"/>
                </a:solidFill>
              </a:rPr>
              <a:t>Shared code can reduce delivery cost and improve consistency, but deep integrations and performance-critical flows may still need native modules.</a:t>
            </a:r>
            <a:endParaRPr lang="en-US" sz="1350" dirty="0"/>
          </a:p>
        </p:txBody>
      </p:sp>
      <p:sp>
        <p:nvSpPr>
          <p:cNvPr id="13" name="Shape 11"/>
          <p:cNvSpPr/>
          <p:nvPr/>
        </p:nvSpPr>
        <p:spPr>
          <a:xfrm>
            <a:off x="6355080" y="1417320"/>
            <a:ext cx="2651760" cy="4389120"/>
          </a:xfrm>
          <a:prstGeom prst="roundRect">
            <a:avLst>
              <a:gd name="adj" fmla="val 2759"/>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14" name="Shape 12"/>
          <p:cNvSpPr/>
          <p:nvPr/>
        </p:nvSpPr>
        <p:spPr>
          <a:xfrm>
            <a:off x="6355080" y="1319847"/>
            <a:ext cx="2651760" cy="444945"/>
          </a:xfrm>
          <a:prstGeom prst="rect">
            <a:avLst/>
          </a:prstGeom>
          <a:solidFill>
            <a:srgbClr val="1E8E5A"/>
          </a:solidFill>
          <a:ln w="12700">
            <a:solidFill>
              <a:srgbClr val="1E8E5A"/>
            </a:solidFill>
            <a:prstDash val="solid"/>
          </a:ln>
        </p:spPr>
      </p:sp>
      <p:sp>
        <p:nvSpPr>
          <p:cNvPr id="15" name="Text 13"/>
          <p:cNvSpPr/>
          <p:nvPr/>
        </p:nvSpPr>
        <p:spPr>
          <a:xfrm>
            <a:off x="6464808" y="1481328"/>
            <a:ext cx="2432304" cy="182880"/>
          </a:xfrm>
          <a:prstGeom prst="rect">
            <a:avLst/>
          </a:prstGeom>
          <a:noFill/>
          <a:ln/>
        </p:spPr>
        <p:txBody>
          <a:bodyPr wrap="square" rtlCol="0" anchor="ctr"/>
          <a:lstStyle/>
          <a:p>
            <a:pPr marL="0" indent="0">
              <a:buNone/>
            </a:pPr>
            <a:r>
              <a:rPr lang="en-US" sz="1600" b="1" dirty="0">
                <a:solidFill>
                  <a:srgbClr val="FFFFFF"/>
                </a:solidFill>
              </a:rPr>
              <a:t>Progressive web apps</a:t>
            </a:r>
            <a:endParaRPr lang="en-US" sz="1600" dirty="0"/>
          </a:p>
        </p:txBody>
      </p:sp>
      <p:sp>
        <p:nvSpPr>
          <p:cNvPr id="16" name="Text 14"/>
          <p:cNvSpPr/>
          <p:nvPr/>
        </p:nvSpPr>
        <p:spPr>
          <a:xfrm>
            <a:off x="6501384" y="1874520"/>
            <a:ext cx="2359152" cy="3840480"/>
          </a:xfrm>
          <a:prstGeom prst="rect">
            <a:avLst/>
          </a:prstGeom>
          <a:noFill/>
          <a:ln/>
        </p:spPr>
        <p:txBody>
          <a:bodyPr wrap="square" rtlCol="0" anchor="t"/>
          <a:lstStyle/>
          <a:p>
            <a:pPr marL="0" indent="0">
              <a:buNone/>
            </a:pPr>
            <a:r>
              <a:rPr lang="en-US" sz="1350" dirty="0">
                <a:solidFill>
                  <a:srgbClr val="0F172A"/>
                </a:solidFill>
              </a:rPr>
              <a:t>Strong reach and easier deployment, but with platform limitations in background tasks, hardware APIs, store-mediated discovery, and offline behavior depending on the platform.</a:t>
            </a:r>
            <a:endParaRPr lang="en-US" sz="1350" dirty="0"/>
          </a:p>
        </p:txBody>
      </p:sp>
      <p:sp>
        <p:nvSpPr>
          <p:cNvPr id="17" name="Shape 15"/>
          <p:cNvSpPr/>
          <p:nvPr/>
        </p:nvSpPr>
        <p:spPr>
          <a:xfrm>
            <a:off x="9116568" y="1319847"/>
            <a:ext cx="2404872" cy="4486593"/>
          </a:xfrm>
          <a:prstGeom prst="roundRect">
            <a:avLst>
              <a:gd name="adj" fmla="val 3137"/>
            </a:avLst>
          </a:prstGeom>
          <a:solidFill>
            <a:srgbClr val="FFFFFF"/>
          </a:solidFill>
          <a:ln w="12700">
            <a:solidFill>
              <a:srgbClr val="C98B00"/>
            </a:solidFill>
            <a:prstDash val="solid"/>
          </a:ln>
          <a:effectLst>
            <a:outerShdw blurRad="12700" dist="12700" dir="2700000" algn="bl" rotWithShape="0">
              <a:srgbClr val="000000">
                <a:alpha val="12000"/>
              </a:srgbClr>
            </a:outerShdw>
          </a:effectLst>
        </p:spPr>
      </p:sp>
      <p:sp>
        <p:nvSpPr>
          <p:cNvPr id="18" name="Shape 16"/>
          <p:cNvSpPr/>
          <p:nvPr/>
        </p:nvSpPr>
        <p:spPr>
          <a:xfrm>
            <a:off x="9116568" y="1319847"/>
            <a:ext cx="2404872" cy="444945"/>
          </a:xfrm>
          <a:prstGeom prst="rect">
            <a:avLst/>
          </a:prstGeom>
          <a:solidFill>
            <a:srgbClr val="C98B00"/>
          </a:solidFill>
          <a:ln w="12700">
            <a:solidFill>
              <a:srgbClr val="C98B00"/>
            </a:solidFill>
            <a:prstDash val="solid"/>
          </a:ln>
        </p:spPr>
      </p:sp>
      <p:sp>
        <p:nvSpPr>
          <p:cNvPr id="19" name="Text 17"/>
          <p:cNvSpPr/>
          <p:nvPr/>
        </p:nvSpPr>
        <p:spPr>
          <a:xfrm>
            <a:off x="9189720" y="1319847"/>
            <a:ext cx="2316480" cy="444945"/>
          </a:xfrm>
          <a:prstGeom prst="rect">
            <a:avLst/>
          </a:prstGeom>
          <a:noFill/>
          <a:ln/>
        </p:spPr>
        <p:txBody>
          <a:bodyPr wrap="square" rtlCol="0" anchor="ctr"/>
          <a:lstStyle/>
          <a:p>
            <a:pPr marL="0" indent="0">
              <a:buNone/>
            </a:pPr>
            <a:r>
              <a:rPr lang="en-US" sz="1600" b="1" dirty="0">
                <a:solidFill>
                  <a:srgbClr val="FFFFFF"/>
                </a:solidFill>
              </a:rPr>
              <a:t>Super-app / mini-app ecosystems</a:t>
            </a:r>
            <a:endParaRPr lang="en-US" sz="1600" dirty="0"/>
          </a:p>
        </p:txBody>
      </p:sp>
      <p:sp>
        <p:nvSpPr>
          <p:cNvPr id="20" name="Text 18"/>
          <p:cNvSpPr/>
          <p:nvPr/>
        </p:nvSpPr>
        <p:spPr>
          <a:xfrm>
            <a:off x="9336024" y="1874520"/>
            <a:ext cx="2039112" cy="3840480"/>
          </a:xfrm>
          <a:prstGeom prst="rect">
            <a:avLst/>
          </a:prstGeom>
          <a:noFill/>
          <a:ln/>
        </p:spPr>
        <p:txBody>
          <a:bodyPr wrap="square" rtlCol="0" anchor="t"/>
          <a:lstStyle/>
          <a:p>
            <a:pPr marL="0" indent="0">
              <a:buNone/>
            </a:pPr>
            <a:r>
              <a:rPr lang="en-US" sz="1350" dirty="0">
                <a:solidFill>
                  <a:srgbClr val="0F172A"/>
                </a:solidFill>
              </a:rPr>
              <a:t>Useful in markets where one umbrella platform centralizes authentication, payments, messaging, and service discovery.</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Data management on mobile</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State must be partitioned across device, edge, and cloud</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583680" cy="4572000"/>
          </a:xfrm>
          <a:prstGeom prst="rect">
            <a:avLst/>
          </a:prstGeom>
          <a:noFill/>
          <a:ln/>
        </p:spPr>
        <p:txBody>
          <a:bodyPr wrap="square" rtlCol="0" anchor="t"/>
          <a:lstStyle/>
          <a:p>
            <a:pPr marL="177800" indent="-177800">
              <a:buSzPct val="100000"/>
              <a:buChar char="•"/>
            </a:pPr>
            <a:r>
              <a:rPr lang="en-US" sz="1840" dirty="0">
                <a:solidFill>
                  <a:srgbClr val="0F172A"/>
                </a:solidFill>
              </a:rPr>
              <a:t>Local-first patterns improve responsiveness and resilience but require careful sync semantics.</a:t>
            </a:r>
            <a:endParaRPr lang="en-US" sz="1840" dirty="0"/>
          </a:p>
          <a:p>
            <a:pPr marL="177800" indent="-177800">
              <a:buSzPct val="100000"/>
              <a:buChar char="•"/>
            </a:pPr>
            <a:r>
              <a:rPr lang="en-US" sz="1840" dirty="0">
                <a:solidFill>
                  <a:srgbClr val="0F172A"/>
                </a:solidFill>
              </a:rPr>
              <a:t>Common primitives: embedded databases, encrypted key-value stores, append-only event queues, delta sync, conflict-free merges, and version vectors.</a:t>
            </a:r>
            <a:endParaRPr lang="en-US" sz="1840" dirty="0"/>
          </a:p>
          <a:p>
            <a:pPr marL="177800" indent="-177800">
              <a:buSzPct val="100000"/>
              <a:buChar char="•"/>
            </a:pPr>
            <a:r>
              <a:rPr lang="en-US" sz="1840" dirty="0">
                <a:solidFill>
                  <a:srgbClr val="0F172A"/>
                </a:solidFill>
              </a:rPr>
              <a:t>The deeper issue is consistency choice: strong consistency is rare on-device; practical systems use eventual consistency with UX-aware reconciliation.</a:t>
            </a:r>
            <a:endParaRPr lang="en-US" sz="1840" dirty="0"/>
          </a:p>
          <a:p>
            <a:pPr marL="177800" indent="-177800">
              <a:buSzPct val="100000"/>
              <a:buChar char="•"/>
            </a:pPr>
            <a:r>
              <a:rPr lang="en-US" sz="1840" dirty="0">
                <a:solidFill>
                  <a:srgbClr val="0F172A"/>
                </a:solidFill>
              </a:rPr>
              <a:t>Offline capability is not a binary feature. It is a spectrum: read-only offline, queued writes, partial domain caches, or fully local workflows.</a:t>
            </a:r>
            <a:endParaRPr lang="en-US" sz="1840" dirty="0"/>
          </a:p>
        </p:txBody>
      </p:sp>
      <p:sp>
        <p:nvSpPr>
          <p:cNvPr id="6" name="Shape 4"/>
          <p:cNvSpPr/>
          <p:nvPr/>
        </p:nvSpPr>
        <p:spPr>
          <a:xfrm>
            <a:off x="7543800" y="1554480"/>
            <a:ext cx="3657600" cy="3931920"/>
          </a:xfrm>
          <a:prstGeom prst="roundRect">
            <a:avLst>
              <a:gd name="adj" fmla="val 2000"/>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657600" cy="347472"/>
          </a:xfrm>
          <a:prstGeom prst="rect">
            <a:avLst/>
          </a:prstGeom>
          <a:solidFill>
            <a:srgbClr val="1E8E5A"/>
          </a:solidFill>
          <a:ln w="12700">
            <a:solidFill>
              <a:srgbClr val="1E8E5A"/>
            </a:solidFill>
            <a:prstDash val="solid"/>
          </a:ln>
        </p:spPr>
      </p:sp>
      <p:sp>
        <p:nvSpPr>
          <p:cNvPr id="8" name="Text 6"/>
          <p:cNvSpPr/>
          <p:nvPr/>
        </p:nvSpPr>
        <p:spPr>
          <a:xfrm>
            <a:off x="7653528" y="1618488"/>
            <a:ext cx="3438144" cy="182880"/>
          </a:xfrm>
          <a:prstGeom prst="rect">
            <a:avLst/>
          </a:prstGeom>
          <a:noFill/>
          <a:ln/>
        </p:spPr>
        <p:txBody>
          <a:bodyPr wrap="square" rtlCol="0" anchor="ctr"/>
          <a:lstStyle/>
          <a:p>
            <a:pPr marL="0" indent="0">
              <a:buNone/>
            </a:pPr>
            <a:r>
              <a:rPr lang="en-US" sz="1600" b="1" dirty="0">
                <a:solidFill>
                  <a:srgbClr val="FFFFFF"/>
                </a:solidFill>
              </a:rPr>
              <a:t>Graduate question</a:t>
            </a:r>
            <a:endParaRPr lang="en-US" sz="1600" dirty="0"/>
          </a:p>
        </p:txBody>
      </p:sp>
      <p:sp>
        <p:nvSpPr>
          <p:cNvPr id="9" name="Text 7"/>
          <p:cNvSpPr/>
          <p:nvPr/>
        </p:nvSpPr>
        <p:spPr>
          <a:xfrm>
            <a:off x="7690104" y="2011680"/>
            <a:ext cx="3364992" cy="3383280"/>
          </a:xfrm>
          <a:prstGeom prst="rect">
            <a:avLst/>
          </a:prstGeom>
          <a:noFill/>
          <a:ln/>
        </p:spPr>
        <p:txBody>
          <a:bodyPr wrap="square" rtlCol="0" anchor="t"/>
          <a:lstStyle/>
          <a:p>
            <a:pPr marL="0" indent="0">
              <a:buNone/>
            </a:pPr>
            <a:r>
              <a:rPr lang="en-US" sz="1350" dirty="0">
                <a:solidFill>
                  <a:srgbClr val="0F172A"/>
                </a:solidFill>
              </a:rPr>
              <a:t>How do we map business invariants to synchronization strategy?</a:t>
            </a:r>
            <a:endParaRPr lang="en-US" sz="1350" dirty="0"/>
          </a:p>
          <a:p>
            <a:pPr marL="0" indent="0">
              <a:buNone/>
            </a:pPr>
            <a:endParaRPr lang="en-US" sz="1350" dirty="0"/>
          </a:p>
          <a:p>
            <a:pPr marL="0" indent="0">
              <a:buNone/>
            </a:pPr>
            <a:r>
              <a:rPr lang="en-US" sz="1350" dirty="0">
                <a:solidFill>
                  <a:srgbClr val="0F172A"/>
                </a:solidFill>
              </a:rPr>
              <a:t>Example: payments may need strict server authority, while field notes or draft messages can tolerate delayed convergence.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Context awareness and sensing</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Mobile value often comes from context inference, not only user input</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492240" cy="4572000"/>
          </a:xfrm>
          <a:prstGeom prst="rect">
            <a:avLst/>
          </a:prstGeom>
          <a:noFill/>
          <a:ln/>
        </p:spPr>
        <p:txBody>
          <a:bodyPr wrap="square" rtlCol="0" anchor="t"/>
          <a:lstStyle/>
          <a:p>
            <a:pPr marL="177800" indent="-177800">
              <a:buSzPct val="100000"/>
              <a:buChar char="•"/>
            </a:pPr>
            <a:r>
              <a:rPr lang="en-US" sz="1820" dirty="0">
                <a:solidFill>
                  <a:srgbClr val="0F172A"/>
                </a:solidFill>
              </a:rPr>
              <a:t>Mobile devices observe location, motion, proximity, ambient conditions, biometrics, camera streams, network context, and device state.</a:t>
            </a:r>
            <a:endParaRPr lang="en-US" sz="1820" dirty="0"/>
          </a:p>
          <a:p>
            <a:pPr marL="177800" indent="-177800">
              <a:buSzPct val="100000"/>
              <a:buChar char="•"/>
            </a:pPr>
            <a:r>
              <a:rPr lang="en-US" sz="1820" dirty="0">
                <a:solidFill>
                  <a:srgbClr val="0F172A"/>
                </a:solidFill>
              </a:rPr>
              <a:t>Applications transform raw signals into context: “walking,” “driving,” “arrived,” “sleeping,” “near payment terminal,” or “at risk of churn.”</a:t>
            </a:r>
            <a:endParaRPr lang="en-US" sz="1820" dirty="0"/>
          </a:p>
          <a:p>
            <a:pPr marL="177800" indent="-177800">
              <a:buSzPct val="100000"/>
              <a:buChar char="•"/>
            </a:pPr>
            <a:r>
              <a:rPr lang="en-US" sz="1820" dirty="0">
                <a:solidFill>
                  <a:srgbClr val="0F172A"/>
                </a:solidFill>
              </a:rPr>
              <a:t>The challenge is probabilistic inference under noisy sensors, privacy constraints, and energy budgets.</a:t>
            </a:r>
            <a:endParaRPr lang="en-US" sz="1820" dirty="0"/>
          </a:p>
          <a:p>
            <a:pPr marL="177800" indent="-177800">
              <a:buSzPct val="100000"/>
              <a:buChar char="•"/>
            </a:pPr>
            <a:r>
              <a:rPr lang="en-US" sz="1820" dirty="0">
                <a:solidFill>
                  <a:srgbClr val="0F172A"/>
                </a:solidFill>
              </a:rPr>
              <a:t>Context pipelines should be designed with confidence thresholds, fallback rules, and explainability where domain risk is high.</a:t>
            </a:r>
            <a:endParaRPr lang="en-US" sz="1820" dirty="0"/>
          </a:p>
        </p:txBody>
      </p:sp>
      <p:sp>
        <p:nvSpPr>
          <p:cNvPr id="6" name="Shape 4"/>
          <p:cNvSpPr/>
          <p:nvPr/>
        </p:nvSpPr>
        <p:spPr>
          <a:xfrm>
            <a:off x="7543800" y="1554480"/>
            <a:ext cx="3703320" cy="3931920"/>
          </a:xfrm>
          <a:prstGeom prst="roundRect">
            <a:avLst>
              <a:gd name="adj" fmla="val 1975"/>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703320" cy="347472"/>
          </a:xfrm>
          <a:prstGeom prst="rect">
            <a:avLst/>
          </a:prstGeom>
          <a:solidFill>
            <a:srgbClr val="0D9488"/>
          </a:solidFill>
          <a:ln w="12700">
            <a:solidFill>
              <a:srgbClr val="0D9488"/>
            </a:solidFill>
            <a:prstDash val="solid"/>
          </a:ln>
        </p:spPr>
      </p:sp>
      <p:sp>
        <p:nvSpPr>
          <p:cNvPr id="8" name="Text 6"/>
          <p:cNvSpPr/>
          <p:nvPr/>
        </p:nvSpPr>
        <p:spPr>
          <a:xfrm>
            <a:off x="7653528" y="1618488"/>
            <a:ext cx="3483864" cy="182880"/>
          </a:xfrm>
          <a:prstGeom prst="rect">
            <a:avLst/>
          </a:prstGeom>
          <a:noFill/>
          <a:ln/>
        </p:spPr>
        <p:txBody>
          <a:bodyPr wrap="square" rtlCol="0" anchor="ctr"/>
          <a:lstStyle/>
          <a:p>
            <a:pPr marL="0" indent="0">
              <a:buNone/>
            </a:pPr>
            <a:r>
              <a:rPr lang="en-US" sz="1600" b="1" dirty="0">
                <a:solidFill>
                  <a:srgbClr val="FFFFFF"/>
                </a:solidFill>
              </a:rPr>
              <a:t>Usage examples</a:t>
            </a:r>
            <a:endParaRPr lang="en-US" sz="1600" dirty="0"/>
          </a:p>
        </p:txBody>
      </p:sp>
      <p:sp>
        <p:nvSpPr>
          <p:cNvPr id="9" name="Text 7"/>
          <p:cNvSpPr/>
          <p:nvPr/>
        </p:nvSpPr>
        <p:spPr>
          <a:xfrm>
            <a:off x="7690104" y="2011680"/>
            <a:ext cx="3410712" cy="3383280"/>
          </a:xfrm>
          <a:prstGeom prst="rect">
            <a:avLst/>
          </a:prstGeom>
          <a:noFill/>
          <a:ln/>
        </p:spPr>
        <p:txBody>
          <a:bodyPr wrap="square" rtlCol="0" anchor="t"/>
          <a:lstStyle/>
          <a:p>
            <a:pPr marL="0" indent="0">
              <a:buNone/>
            </a:pPr>
            <a:r>
              <a:rPr lang="en-US" sz="1350" dirty="0">
                <a:solidFill>
                  <a:srgbClr val="0F172A"/>
                </a:solidFill>
              </a:rPr>
              <a:t>• Mobility and route adaptation</a:t>
            </a:r>
            <a:endParaRPr lang="en-US" sz="1350" dirty="0"/>
          </a:p>
          <a:p>
            <a:pPr marL="0" indent="0">
              <a:buNone/>
            </a:pPr>
            <a:r>
              <a:rPr lang="en-US" sz="1350" dirty="0">
                <a:solidFill>
                  <a:srgbClr val="0F172A"/>
                </a:solidFill>
              </a:rPr>
              <a:t>• Fall detection and remote care</a:t>
            </a:r>
            <a:endParaRPr lang="en-US" sz="1350" dirty="0"/>
          </a:p>
          <a:p>
            <a:pPr marL="0" indent="0">
              <a:buNone/>
            </a:pPr>
            <a:r>
              <a:rPr lang="en-US" sz="1350" dirty="0">
                <a:solidFill>
                  <a:srgbClr val="0F172A"/>
                </a:solidFill>
              </a:rPr>
              <a:t>• Proximity-based authentication</a:t>
            </a:r>
            <a:endParaRPr lang="en-US" sz="1350" dirty="0"/>
          </a:p>
          <a:p>
            <a:pPr marL="0" indent="0">
              <a:buNone/>
            </a:pPr>
            <a:r>
              <a:rPr lang="en-US" sz="1350" dirty="0">
                <a:solidFill>
                  <a:srgbClr val="0F172A"/>
                </a:solidFill>
              </a:rPr>
              <a:t>• Retail geofencing</a:t>
            </a:r>
            <a:endParaRPr lang="en-US" sz="1350" dirty="0"/>
          </a:p>
          <a:p>
            <a:pPr marL="0" indent="0">
              <a:buNone/>
            </a:pPr>
            <a:r>
              <a:rPr lang="en-US" sz="1350" dirty="0">
                <a:solidFill>
                  <a:srgbClr val="0F172A"/>
                </a:solidFill>
              </a:rPr>
              <a:t>• Environmental monitoring</a:t>
            </a:r>
            <a:endParaRPr lang="en-US" sz="1350" dirty="0"/>
          </a:p>
          <a:p>
            <a:pPr marL="0" indent="0">
              <a:buNone/>
            </a:pPr>
            <a:r>
              <a:rPr lang="en-US" sz="1350" dirty="0">
                <a:solidFill>
                  <a:srgbClr val="0F172A"/>
                </a:solidFill>
              </a:rPr>
              <a:t>• Personalized intervention timing</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Use case I — Mobile health and digital therapeutics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Health workloads illustrate the tension between utility, regulation, safety, and privacy</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5394960" cy="4526280"/>
          </a:xfrm>
          <a:prstGeom prst="roundRect">
            <a:avLst>
              <a:gd name="adj" fmla="val 1616"/>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5394960" cy="347472"/>
          </a:xfrm>
          <a:prstGeom prst="rect">
            <a:avLst/>
          </a:prstGeom>
          <a:solidFill>
            <a:srgbClr val="2864DC"/>
          </a:solidFill>
          <a:ln w="12700">
            <a:solidFill>
              <a:srgbClr val="2864DC"/>
            </a:solidFill>
            <a:prstDash val="solid"/>
          </a:ln>
        </p:spPr>
      </p:sp>
      <p:sp>
        <p:nvSpPr>
          <p:cNvPr id="7" name="Text 5"/>
          <p:cNvSpPr/>
          <p:nvPr/>
        </p:nvSpPr>
        <p:spPr>
          <a:xfrm>
            <a:off x="795528" y="1481328"/>
            <a:ext cx="5175504" cy="182880"/>
          </a:xfrm>
          <a:prstGeom prst="rect">
            <a:avLst/>
          </a:prstGeom>
          <a:noFill/>
          <a:ln/>
        </p:spPr>
        <p:txBody>
          <a:bodyPr wrap="square" rtlCol="0" anchor="ctr"/>
          <a:lstStyle/>
          <a:p>
            <a:pPr marL="0" indent="0">
              <a:buNone/>
            </a:pPr>
            <a:r>
              <a:rPr lang="en-US" sz="1600" b="1" dirty="0">
                <a:solidFill>
                  <a:srgbClr val="FFFFFF"/>
                </a:solidFill>
              </a:rPr>
              <a:t>Typical mobile health functions</a:t>
            </a:r>
            <a:endParaRPr lang="en-US" sz="1600" dirty="0"/>
          </a:p>
        </p:txBody>
      </p:sp>
      <p:sp>
        <p:nvSpPr>
          <p:cNvPr id="8" name="Text 6"/>
          <p:cNvSpPr/>
          <p:nvPr/>
        </p:nvSpPr>
        <p:spPr>
          <a:xfrm>
            <a:off x="832104" y="1874520"/>
            <a:ext cx="5102352" cy="3977640"/>
          </a:xfrm>
          <a:prstGeom prst="rect">
            <a:avLst/>
          </a:prstGeom>
          <a:noFill/>
          <a:ln/>
        </p:spPr>
        <p:txBody>
          <a:bodyPr wrap="square" rtlCol="0" anchor="t"/>
          <a:lstStyle/>
          <a:p>
            <a:pPr marL="0" indent="0">
              <a:buNone/>
            </a:pPr>
            <a:r>
              <a:rPr lang="en-US" sz="1350" dirty="0">
                <a:solidFill>
                  <a:srgbClr val="0F172A"/>
                </a:solidFill>
              </a:rPr>
              <a:t>Remote monitoring, medication reminders, symptom logging, wearable integration, appointment coordination, telemedicine video, and longitudinal behavioral interventions.</a:t>
            </a:r>
            <a:endParaRPr lang="en-US" sz="1350" dirty="0"/>
          </a:p>
        </p:txBody>
      </p:sp>
      <p:sp>
        <p:nvSpPr>
          <p:cNvPr id="9" name="Shape 7"/>
          <p:cNvSpPr/>
          <p:nvPr/>
        </p:nvSpPr>
        <p:spPr>
          <a:xfrm>
            <a:off x="6309360" y="1417320"/>
            <a:ext cx="5212080" cy="4526280"/>
          </a:xfrm>
          <a:prstGeom prst="roundRect">
            <a:avLst>
              <a:gd name="adj" fmla="val 1616"/>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6309360" y="1417320"/>
            <a:ext cx="5212080" cy="347472"/>
          </a:xfrm>
          <a:prstGeom prst="rect">
            <a:avLst/>
          </a:prstGeom>
          <a:solidFill>
            <a:srgbClr val="0D9488"/>
          </a:solidFill>
          <a:ln w="12700">
            <a:solidFill>
              <a:srgbClr val="0D9488"/>
            </a:solidFill>
            <a:prstDash val="solid"/>
          </a:ln>
        </p:spPr>
      </p:sp>
      <p:sp>
        <p:nvSpPr>
          <p:cNvPr id="11" name="Text 9"/>
          <p:cNvSpPr/>
          <p:nvPr/>
        </p:nvSpPr>
        <p:spPr>
          <a:xfrm>
            <a:off x="6419088" y="1481328"/>
            <a:ext cx="4992624" cy="182880"/>
          </a:xfrm>
          <a:prstGeom prst="rect">
            <a:avLst/>
          </a:prstGeom>
          <a:noFill/>
          <a:ln/>
        </p:spPr>
        <p:txBody>
          <a:bodyPr wrap="square" rtlCol="0" anchor="ctr"/>
          <a:lstStyle/>
          <a:p>
            <a:pPr marL="0" indent="0">
              <a:buNone/>
            </a:pPr>
            <a:r>
              <a:rPr lang="en-US" sz="1600" b="1" dirty="0">
                <a:solidFill>
                  <a:srgbClr val="FFFFFF"/>
                </a:solidFill>
              </a:rPr>
              <a:t>Graduate-level concerns</a:t>
            </a:r>
            <a:endParaRPr lang="en-US" sz="1600" dirty="0"/>
          </a:p>
        </p:txBody>
      </p:sp>
      <p:sp>
        <p:nvSpPr>
          <p:cNvPr id="12" name="Text 10"/>
          <p:cNvSpPr/>
          <p:nvPr/>
        </p:nvSpPr>
        <p:spPr>
          <a:xfrm>
            <a:off x="6455664" y="1874520"/>
            <a:ext cx="4919472" cy="3977640"/>
          </a:xfrm>
          <a:prstGeom prst="rect">
            <a:avLst/>
          </a:prstGeom>
          <a:noFill/>
          <a:ln/>
        </p:spPr>
        <p:txBody>
          <a:bodyPr wrap="square" rtlCol="0" anchor="t"/>
          <a:lstStyle/>
          <a:p>
            <a:pPr marL="0" indent="0">
              <a:buNone/>
            </a:pPr>
            <a:r>
              <a:rPr lang="en-US" sz="1350" dirty="0">
                <a:solidFill>
                  <a:srgbClr val="0F172A"/>
                </a:solidFill>
              </a:rPr>
              <a:t>Data provenance, clinical validation, sensor reliability, false positives/negatives, fairness, cybersecurity, auditability, and regulatory boundaries are as important as UI design.</a:t>
            </a:r>
            <a:endParaRPr lang="en-US" sz="1350" dirty="0"/>
          </a:p>
        </p:txBody>
      </p:sp>
      <p:sp>
        <p:nvSpPr>
          <p:cNvPr id="13" name="Shape 11"/>
          <p:cNvSpPr/>
          <p:nvPr/>
        </p:nvSpPr>
        <p:spPr>
          <a:xfrm>
            <a:off x="816864" y="5303520"/>
            <a:ext cx="10789920" cy="658368"/>
          </a:xfrm>
          <a:prstGeom prst="roundRect">
            <a:avLst>
              <a:gd name="adj" fmla="val 11111"/>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14" name="Shape 12"/>
          <p:cNvSpPr/>
          <p:nvPr/>
        </p:nvSpPr>
        <p:spPr>
          <a:xfrm>
            <a:off x="816864" y="4956048"/>
            <a:ext cx="10789920" cy="347472"/>
          </a:xfrm>
          <a:prstGeom prst="rect">
            <a:avLst/>
          </a:prstGeom>
          <a:solidFill>
            <a:srgbClr val="C13B2A"/>
          </a:solidFill>
          <a:ln w="12700">
            <a:solidFill>
              <a:srgbClr val="C13B2A"/>
            </a:solidFill>
            <a:prstDash val="solid"/>
          </a:ln>
        </p:spPr>
      </p:sp>
      <p:sp>
        <p:nvSpPr>
          <p:cNvPr id="15" name="Text 13"/>
          <p:cNvSpPr/>
          <p:nvPr/>
        </p:nvSpPr>
        <p:spPr>
          <a:xfrm>
            <a:off x="978408" y="5550408"/>
            <a:ext cx="10570464" cy="182880"/>
          </a:xfrm>
          <a:prstGeom prst="rect">
            <a:avLst/>
          </a:prstGeom>
          <a:noFill/>
          <a:ln/>
        </p:spPr>
        <p:txBody>
          <a:bodyPr wrap="square" rtlCol="0" anchor="ctr"/>
          <a:lstStyle/>
          <a:p>
            <a:pPr marL="0" indent="0">
              <a:buNone/>
            </a:pPr>
            <a:r>
              <a:rPr lang="en-US" sz="1600" b="1" dirty="0">
                <a:solidFill>
                  <a:srgbClr val="FFFFFF"/>
                </a:solidFill>
              </a:rPr>
              <a:t>Design principle</a:t>
            </a:r>
            <a:endParaRPr lang="en-US" sz="1600" dirty="0"/>
          </a:p>
        </p:txBody>
      </p:sp>
      <p:sp>
        <p:nvSpPr>
          <p:cNvPr id="16" name="Text 14"/>
          <p:cNvSpPr/>
          <p:nvPr/>
        </p:nvSpPr>
        <p:spPr>
          <a:xfrm>
            <a:off x="1151741" y="5495544"/>
            <a:ext cx="10497312" cy="109728"/>
          </a:xfrm>
          <a:prstGeom prst="rect">
            <a:avLst/>
          </a:prstGeom>
          <a:noFill/>
          <a:ln/>
        </p:spPr>
        <p:txBody>
          <a:bodyPr wrap="square" rtlCol="0" anchor="t"/>
          <a:lstStyle/>
          <a:p>
            <a:pPr marL="0" indent="0">
              <a:buNone/>
            </a:pPr>
            <a:r>
              <a:rPr lang="en-US" sz="1350" dirty="0">
                <a:solidFill>
                  <a:srgbClr val="0F172A"/>
                </a:solidFill>
              </a:rPr>
              <a:t>In high-stakes mobile domains, “works on average” is often not sufficient; uncertainty must be communicated and bounded.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Use case II — Mobile finance and payments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This domain forces rigorous treatment of trust, fraud, latency, and user confidence</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492240" cy="4480560"/>
          </a:xfrm>
          <a:prstGeom prst="rect">
            <a:avLst/>
          </a:prstGeom>
          <a:noFill/>
          <a:ln/>
        </p:spPr>
        <p:txBody>
          <a:bodyPr wrap="square" rtlCol="0" anchor="t"/>
          <a:lstStyle/>
          <a:p>
            <a:pPr marL="177800" indent="-177800">
              <a:buSzPct val="100000"/>
              <a:buChar char="•"/>
            </a:pPr>
            <a:r>
              <a:rPr lang="en-US" sz="1820" dirty="0">
                <a:solidFill>
                  <a:srgbClr val="0F172A"/>
                </a:solidFill>
              </a:rPr>
              <a:t>Mobile finance includes banking, wallets, merchant payments, transfers, budgeting, lending, and identity-linked verification flows.</a:t>
            </a:r>
            <a:endParaRPr lang="en-US" sz="1820" dirty="0"/>
          </a:p>
          <a:p>
            <a:pPr marL="177800" indent="-177800">
              <a:buSzPct val="100000"/>
              <a:buChar char="•"/>
            </a:pPr>
            <a:r>
              <a:rPr lang="en-US" sz="1820" dirty="0">
                <a:solidFill>
                  <a:srgbClr val="0F172A"/>
                </a:solidFill>
              </a:rPr>
              <a:t>Important platform enablers include secure storage, biometrics, attestation, tokenization, NFC, and backend fraud analytics.</a:t>
            </a:r>
            <a:endParaRPr lang="en-US" sz="1820" dirty="0"/>
          </a:p>
          <a:p>
            <a:pPr marL="177800" indent="-177800">
              <a:buSzPct val="100000"/>
              <a:buChar char="•"/>
            </a:pPr>
            <a:r>
              <a:rPr lang="en-US" sz="1820" dirty="0">
                <a:solidFill>
                  <a:srgbClr val="0F172A"/>
                </a:solidFill>
              </a:rPr>
              <a:t>Security must be layered: transport protection, key management, device binding, behavioral monitoring, and secure recovery paths.</a:t>
            </a:r>
            <a:endParaRPr lang="en-US" sz="1820" dirty="0"/>
          </a:p>
          <a:p>
            <a:pPr marL="177800" indent="-177800">
              <a:buSzPct val="100000"/>
              <a:buChar char="•"/>
            </a:pPr>
            <a:r>
              <a:rPr lang="en-US" sz="1820" dirty="0">
                <a:solidFill>
                  <a:srgbClr val="0F172A"/>
                </a:solidFill>
              </a:rPr>
              <a:t>UX is part of security: confusing approval flows, vague alerts, or unreliable transaction states can increase fraud and abandonment.</a:t>
            </a:r>
            <a:endParaRPr lang="en-US" sz="1820" dirty="0"/>
          </a:p>
        </p:txBody>
      </p:sp>
      <p:sp>
        <p:nvSpPr>
          <p:cNvPr id="6" name="Shape 4"/>
          <p:cNvSpPr/>
          <p:nvPr/>
        </p:nvSpPr>
        <p:spPr>
          <a:xfrm>
            <a:off x="7589520" y="1554480"/>
            <a:ext cx="3657600" cy="3840480"/>
          </a:xfrm>
          <a:prstGeom prst="roundRect">
            <a:avLst>
              <a:gd name="adj" fmla="val 2000"/>
            </a:avLst>
          </a:prstGeom>
          <a:solidFill>
            <a:srgbClr val="FFFFFF"/>
          </a:solidFill>
          <a:ln w="12700">
            <a:solidFill>
              <a:srgbClr val="C98B00"/>
            </a:solidFill>
            <a:prstDash val="solid"/>
          </a:ln>
          <a:effectLst>
            <a:outerShdw blurRad="12700" dist="12700" dir="2700000" algn="bl" rotWithShape="0">
              <a:srgbClr val="000000">
                <a:alpha val="12000"/>
              </a:srgbClr>
            </a:outerShdw>
          </a:effectLst>
        </p:spPr>
      </p:sp>
      <p:sp>
        <p:nvSpPr>
          <p:cNvPr id="7" name="Shape 5"/>
          <p:cNvSpPr/>
          <p:nvPr/>
        </p:nvSpPr>
        <p:spPr>
          <a:xfrm>
            <a:off x="7589520" y="1554480"/>
            <a:ext cx="3657600" cy="347472"/>
          </a:xfrm>
          <a:prstGeom prst="rect">
            <a:avLst/>
          </a:prstGeom>
          <a:solidFill>
            <a:srgbClr val="C98B00"/>
          </a:solidFill>
          <a:ln w="12700">
            <a:solidFill>
              <a:srgbClr val="C98B00"/>
            </a:solidFill>
            <a:prstDash val="solid"/>
          </a:ln>
        </p:spPr>
      </p:sp>
      <p:sp>
        <p:nvSpPr>
          <p:cNvPr id="8" name="Text 6"/>
          <p:cNvSpPr/>
          <p:nvPr/>
        </p:nvSpPr>
        <p:spPr>
          <a:xfrm>
            <a:off x="7699248" y="1618488"/>
            <a:ext cx="3438144" cy="182880"/>
          </a:xfrm>
          <a:prstGeom prst="rect">
            <a:avLst/>
          </a:prstGeom>
          <a:noFill/>
          <a:ln/>
        </p:spPr>
        <p:txBody>
          <a:bodyPr wrap="square" rtlCol="0" anchor="ctr"/>
          <a:lstStyle/>
          <a:p>
            <a:pPr marL="0" indent="0">
              <a:buNone/>
            </a:pPr>
            <a:r>
              <a:rPr lang="en-US" sz="1600" b="1" dirty="0">
                <a:solidFill>
                  <a:srgbClr val="FFFFFF"/>
                </a:solidFill>
              </a:rPr>
              <a:t>Failure modes</a:t>
            </a:r>
            <a:endParaRPr lang="en-US" sz="1600" dirty="0"/>
          </a:p>
        </p:txBody>
      </p:sp>
      <p:sp>
        <p:nvSpPr>
          <p:cNvPr id="9" name="Text 7"/>
          <p:cNvSpPr/>
          <p:nvPr/>
        </p:nvSpPr>
        <p:spPr>
          <a:xfrm>
            <a:off x="7735824" y="2011680"/>
            <a:ext cx="3364992" cy="3291840"/>
          </a:xfrm>
          <a:prstGeom prst="rect">
            <a:avLst/>
          </a:prstGeom>
          <a:noFill/>
          <a:ln/>
        </p:spPr>
        <p:txBody>
          <a:bodyPr wrap="square" rtlCol="0" anchor="t"/>
          <a:lstStyle/>
          <a:p>
            <a:pPr marL="0" indent="0">
              <a:buNone/>
            </a:pPr>
            <a:r>
              <a:rPr lang="en-US" sz="1350" dirty="0">
                <a:solidFill>
                  <a:srgbClr val="0F172A"/>
                </a:solidFill>
              </a:rPr>
              <a:t>• SIM-swap/social engineering</a:t>
            </a:r>
            <a:endParaRPr lang="en-US" sz="1350" dirty="0"/>
          </a:p>
          <a:p>
            <a:pPr marL="0" indent="0">
              <a:buNone/>
            </a:pPr>
            <a:r>
              <a:rPr lang="en-US" sz="1350" dirty="0">
                <a:solidFill>
                  <a:srgbClr val="0F172A"/>
                </a:solidFill>
              </a:rPr>
              <a:t>• Overlay and phishing attacks</a:t>
            </a:r>
            <a:endParaRPr lang="en-US" sz="1350" dirty="0"/>
          </a:p>
          <a:p>
            <a:pPr marL="0" indent="0">
              <a:buNone/>
            </a:pPr>
            <a:r>
              <a:rPr lang="en-US" sz="1350" dirty="0">
                <a:solidFill>
                  <a:srgbClr val="0F172A"/>
                </a:solidFill>
              </a:rPr>
              <a:t>• Lost-device risk</a:t>
            </a:r>
            <a:endParaRPr lang="en-US" sz="1350" dirty="0"/>
          </a:p>
          <a:p>
            <a:pPr marL="0" indent="0">
              <a:buNone/>
            </a:pPr>
            <a:r>
              <a:rPr lang="en-US" sz="1350" dirty="0">
                <a:solidFill>
                  <a:srgbClr val="0F172A"/>
                </a:solidFill>
              </a:rPr>
              <a:t>• Rooted/jailbroken device compromise</a:t>
            </a:r>
            <a:endParaRPr lang="en-US" sz="1350" dirty="0"/>
          </a:p>
          <a:p>
            <a:pPr marL="0" indent="0">
              <a:buNone/>
            </a:pPr>
            <a:r>
              <a:rPr lang="en-US" sz="1350" dirty="0">
                <a:solidFill>
                  <a:srgbClr val="0F172A"/>
                </a:solidFill>
              </a:rPr>
              <a:t>• Ambiguous transaction finality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Use case III — Transport, logistics, and field operations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Mobile computing coordinates people, assets, and routes in real time</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5394960" cy="4526280"/>
          </a:xfrm>
          <a:prstGeom prst="roundRect">
            <a:avLst>
              <a:gd name="adj" fmla="val 1616"/>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5394960" cy="347472"/>
          </a:xfrm>
          <a:prstGeom prst="rect">
            <a:avLst/>
          </a:prstGeom>
          <a:solidFill>
            <a:srgbClr val="2864DC"/>
          </a:solidFill>
          <a:ln w="12700">
            <a:solidFill>
              <a:srgbClr val="2864DC"/>
            </a:solidFill>
            <a:prstDash val="solid"/>
          </a:ln>
        </p:spPr>
      </p:sp>
      <p:sp>
        <p:nvSpPr>
          <p:cNvPr id="7" name="Text 5"/>
          <p:cNvSpPr/>
          <p:nvPr/>
        </p:nvSpPr>
        <p:spPr>
          <a:xfrm>
            <a:off x="795528" y="1481328"/>
            <a:ext cx="5175504" cy="182880"/>
          </a:xfrm>
          <a:prstGeom prst="rect">
            <a:avLst/>
          </a:prstGeom>
          <a:noFill/>
          <a:ln/>
        </p:spPr>
        <p:txBody>
          <a:bodyPr wrap="square" rtlCol="0" anchor="ctr"/>
          <a:lstStyle/>
          <a:p>
            <a:pPr marL="0" indent="0">
              <a:buNone/>
            </a:pPr>
            <a:r>
              <a:rPr lang="en-US" sz="1600" b="1" dirty="0">
                <a:solidFill>
                  <a:srgbClr val="FFFFFF"/>
                </a:solidFill>
              </a:rPr>
              <a:t>Representative workloads</a:t>
            </a:r>
            <a:endParaRPr lang="en-US" sz="1600" dirty="0"/>
          </a:p>
        </p:txBody>
      </p:sp>
      <p:sp>
        <p:nvSpPr>
          <p:cNvPr id="8" name="Text 6"/>
          <p:cNvSpPr/>
          <p:nvPr/>
        </p:nvSpPr>
        <p:spPr>
          <a:xfrm>
            <a:off x="832104" y="1874520"/>
            <a:ext cx="5102352" cy="3977640"/>
          </a:xfrm>
          <a:prstGeom prst="rect">
            <a:avLst/>
          </a:prstGeom>
          <a:noFill/>
          <a:ln/>
        </p:spPr>
        <p:txBody>
          <a:bodyPr wrap="square" rtlCol="0" anchor="t"/>
          <a:lstStyle/>
          <a:p>
            <a:pPr marL="0" indent="0">
              <a:buNone/>
            </a:pPr>
            <a:r>
              <a:rPr lang="en-US" sz="1600" dirty="0">
                <a:solidFill>
                  <a:srgbClr val="0F172A"/>
                </a:solidFill>
              </a:rPr>
              <a:t>Fleet tracking, dispatch, route optimization, proof of delivery, barcode/RFID capture, maintenance reporting, geofenced workflow transitions, and intermittent sync in poor coverage zones.</a:t>
            </a:r>
            <a:endParaRPr lang="en-US" sz="1600" dirty="0"/>
          </a:p>
        </p:txBody>
      </p:sp>
      <p:sp>
        <p:nvSpPr>
          <p:cNvPr id="9" name="Shape 7"/>
          <p:cNvSpPr/>
          <p:nvPr/>
        </p:nvSpPr>
        <p:spPr>
          <a:xfrm>
            <a:off x="6309360" y="1417320"/>
            <a:ext cx="5212080" cy="4526280"/>
          </a:xfrm>
          <a:prstGeom prst="roundRect">
            <a:avLst>
              <a:gd name="adj" fmla="val 1616"/>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6309360" y="1417320"/>
            <a:ext cx="5212080" cy="347472"/>
          </a:xfrm>
          <a:prstGeom prst="rect">
            <a:avLst/>
          </a:prstGeom>
          <a:solidFill>
            <a:srgbClr val="0D9488"/>
          </a:solidFill>
          <a:ln w="12700">
            <a:solidFill>
              <a:srgbClr val="0D9488"/>
            </a:solidFill>
            <a:prstDash val="solid"/>
          </a:ln>
        </p:spPr>
      </p:sp>
      <p:sp>
        <p:nvSpPr>
          <p:cNvPr id="11" name="Text 9"/>
          <p:cNvSpPr/>
          <p:nvPr/>
        </p:nvSpPr>
        <p:spPr>
          <a:xfrm>
            <a:off x="6419088" y="1481328"/>
            <a:ext cx="4992624" cy="182880"/>
          </a:xfrm>
          <a:prstGeom prst="rect">
            <a:avLst/>
          </a:prstGeom>
          <a:noFill/>
          <a:ln/>
        </p:spPr>
        <p:txBody>
          <a:bodyPr wrap="square" rtlCol="0" anchor="ctr"/>
          <a:lstStyle/>
          <a:p>
            <a:pPr marL="0" indent="0">
              <a:buNone/>
            </a:pPr>
            <a:r>
              <a:rPr lang="en-US" sz="1600" b="1" dirty="0">
                <a:solidFill>
                  <a:srgbClr val="FFFFFF"/>
                </a:solidFill>
              </a:rPr>
              <a:t>Systems lesson</a:t>
            </a:r>
            <a:endParaRPr lang="en-US" sz="1600" dirty="0"/>
          </a:p>
        </p:txBody>
      </p:sp>
      <p:sp>
        <p:nvSpPr>
          <p:cNvPr id="12" name="Text 10"/>
          <p:cNvSpPr/>
          <p:nvPr/>
        </p:nvSpPr>
        <p:spPr>
          <a:xfrm>
            <a:off x="6455664" y="1874520"/>
            <a:ext cx="4919472" cy="3977640"/>
          </a:xfrm>
          <a:prstGeom prst="rect">
            <a:avLst/>
          </a:prstGeom>
          <a:noFill/>
          <a:ln/>
        </p:spPr>
        <p:txBody>
          <a:bodyPr wrap="square" rtlCol="0" anchor="t"/>
          <a:lstStyle/>
          <a:p>
            <a:pPr marL="0" indent="0">
              <a:buNone/>
            </a:pPr>
            <a:r>
              <a:rPr lang="en-US" sz="1600" dirty="0">
                <a:solidFill>
                  <a:srgbClr val="0F172A"/>
                </a:solidFill>
              </a:rPr>
              <a:t>The mobile client becomes an operational edge node. It must buffer tasks, validate events, survive network gaps, and sometimes continue core workflows with only local intelligence.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Use case IV — Mobile media, XR, and social platforms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High-throughput and low-latency workloads expose bottlenecks quickly</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400800" cy="4572000"/>
          </a:xfrm>
          <a:prstGeom prst="rect">
            <a:avLst/>
          </a:prstGeom>
          <a:noFill/>
          <a:ln/>
        </p:spPr>
        <p:txBody>
          <a:bodyPr wrap="square" rtlCol="0" anchor="t"/>
          <a:lstStyle/>
          <a:p>
            <a:pPr marL="177800" indent="-177800">
              <a:buSzPct val="100000"/>
              <a:buChar char="•"/>
            </a:pPr>
            <a:r>
              <a:rPr lang="en-US" sz="1810" dirty="0">
                <a:solidFill>
                  <a:srgbClr val="0F172A"/>
                </a:solidFill>
              </a:rPr>
              <a:t>Short-video apps, live streaming, multiplayer experiences, and XR interfaces stress graphics, camera pipelines, encoding, uplink variability, and recommendation latency.</a:t>
            </a:r>
            <a:endParaRPr lang="en-US" sz="1810" dirty="0"/>
          </a:p>
          <a:p>
            <a:pPr marL="177800" indent="-177800">
              <a:buSzPct val="100000"/>
              <a:buChar char="•"/>
            </a:pPr>
            <a:r>
              <a:rPr lang="en-US" sz="1810" dirty="0">
                <a:solidFill>
                  <a:srgbClr val="0F172A"/>
                </a:solidFill>
              </a:rPr>
              <a:t>These systems blend heavy on-device processing with cloud ranking, moderation, and content delivery.</a:t>
            </a:r>
            <a:endParaRPr lang="en-US" sz="1810" dirty="0"/>
          </a:p>
          <a:p>
            <a:pPr marL="177800" indent="-177800">
              <a:buSzPct val="100000"/>
              <a:buChar char="•"/>
            </a:pPr>
            <a:r>
              <a:rPr lang="en-US" sz="1810" dirty="0">
                <a:solidFill>
                  <a:srgbClr val="0F172A"/>
                </a:solidFill>
              </a:rPr>
              <a:t>Success depends on adaptive bitrate logic, prefetching, caching, hardware acceleration, frame pacing, and careful thermal management.</a:t>
            </a:r>
            <a:endParaRPr lang="en-US" sz="1810" dirty="0"/>
          </a:p>
          <a:p>
            <a:pPr marL="177800" indent="-177800">
              <a:buSzPct val="100000"/>
              <a:buChar char="•"/>
            </a:pPr>
            <a:r>
              <a:rPr lang="en-US" sz="1810" dirty="0">
                <a:solidFill>
                  <a:srgbClr val="0F172A"/>
                </a:solidFill>
              </a:rPr>
              <a:t>Emerging 5G-Advanced capabilities are relevant, but application quality still depends on device diversity and deployment heterogeneity.</a:t>
            </a:r>
            <a:endParaRPr lang="en-US" sz="1810" dirty="0"/>
          </a:p>
        </p:txBody>
      </p:sp>
      <p:sp>
        <p:nvSpPr>
          <p:cNvPr id="6" name="Shape 4"/>
          <p:cNvSpPr/>
          <p:nvPr/>
        </p:nvSpPr>
        <p:spPr>
          <a:xfrm>
            <a:off x="7543800" y="1554480"/>
            <a:ext cx="3703320" cy="3840480"/>
          </a:xfrm>
          <a:prstGeom prst="roundRect">
            <a:avLst>
              <a:gd name="adj" fmla="val 1975"/>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703320" cy="347472"/>
          </a:xfrm>
          <a:prstGeom prst="rect">
            <a:avLst/>
          </a:prstGeom>
          <a:solidFill>
            <a:srgbClr val="2864DC"/>
          </a:solidFill>
          <a:ln w="12700">
            <a:solidFill>
              <a:srgbClr val="2864DC"/>
            </a:solidFill>
            <a:prstDash val="solid"/>
          </a:ln>
        </p:spPr>
      </p:sp>
      <p:sp>
        <p:nvSpPr>
          <p:cNvPr id="8" name="Text 6"/>
          <p:cNvSpPr/>
          <p:nvPr/>
        </p:nvSpPr>
        <p:spPr>
          <a:xfrm>
            <a:off x="7653528" y="1618488"/>
            <a:ext cx="3483864" cy="182880"/>
          </a:xfrm>
          <a:prstGeom prst="rect">
            <a:avLst/>
          </a:prstGeom>
          <a:noFill/>
          <a:ln/>
        </p:spPr>
        <p:txBody>
          <a:bodyPr wrap="square" rtlCol="0" anchor="ctr"/>
          <a:lstStyle/>
          <a:p>
            <a:pPr marL="0" indent="0">
              <a:buNone/>
            </a:pPr>
            <a:r>
              <a:rPr lang="en-US" sz="1600" b="1" dirty="0">
                <a:solidFill>
                  <a:srgbClr val="FFFFFF"/>
                </a:solidFill>
              </a:rPr>
              <a:t>Research angle</a:t>
            </a:r>
            <a:endParaRPr lang="en-US" sz="1600" dirty="0"/>
          </a:p>
        </p:txBody>
      </p:sp>
      <p:sp>
        <p:nvSpPr>
          <p:cNvPr id="9" name="Text 7"/>
          <p:cNvSpPr/>
          <p:nvPr/>
        </p:nvSpPr>
        <p:spPr>
          <a:xfrm>
            <a:off x="7690104" y="2011680"/>
            <a:ext cx="3410712" cy="3291840"/>
          </a:xfrm>
          <a:prstGeom prst="rect">
            <a:avLst/>
          </a:prstGeom>
          <a:noFill/>
          <a:ln/>
        </p:spPr>
        <p:txBody>
          <a:bodyPr wrap="square" rtlCol="0" anchor="t"/>
          <a:lstStyle/>
          <a:p>
            <a:pPr marL="0" indent="0">
              <a:buNone/>
            </a:pPr>
            <a:r>
              <a:rPr lang="en-US" sz="1600" dirty="0">
                <a:solidFill>
                  <a:srgbClr val="0F172A"/>
                </a:solidFill>
              </a:rPr>
              <a:t>How can edge assistance reduce motion-to-photon latency, support richer uplink interactivity, and still preserve battery life?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Performance engineering on mobile</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Performance is multidimensional: startup, smoothness, responsiveness, throughput, and stability</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400800" cy="4480560"/>
          </a:xfrm>
          <a:prstGeom prst="rect">
            <a:avLst/>
          </a:prstGeom>
          <a:noFill/>
          <a:ln/>
        </p:spPr>
        <p:txBody>
          <a:bodyPr wrap="square" rtlCol="0" anchor="t"/>
          <a:lstStyle/>
          <a:p>
            <a:pPr marL="177800" indent="-177800">
              <a:buSzPct val="100000"/>
              <a:buChar char="•"/>
            </a:pPr>
            <a:r>
              <a:rPr lang="en-US" sz="1820" dirty="0">
                <a:solidFill>
                  <a:srgbClr val="0F172A"/>
                </a:solidFill>
              </a:rPr>
              <a:t>Cold start and warm start behavior matter because many mobile sessions are short and interrupt-driven.</a:t>
            </a:r>
            <a:endParaRPr lang="en-US" sz="1820" dirty="0"/>
          </a:p>
          <a:p>
            <a:pPr marL="177800" indent="-177800">
              <a:buSzPct val="100000"/>
              <a:buChar char="•"/>
            </a:pPr>
            <a:r>
              <a:rPr lang="en-US" sz="1820" dirty="0">
                <a:solidFill>
                  <a:srgbClr val="0F172A"/>
                </a:solidFill>
              </a:rPr>
              <a:t>The user cares about perceived latency: screen readiness, interaction smoothness, and visible completion of work.</a:t>
            </a:r>
            <a:endParaRPr lang="en-US" sz="1820" dirty="0"/>
          </a:p>
          <a:p>
            <a:pPr marL="177800" indent="-177800">
              <a:buSzPct val="100000"/>
              <a:buChar char="•"/>
            </a:pPr>
            <a:r>
              <a:rPr lang="en-US" sz="1820" dirty="0">
                <a:solidFill>
                  <a:srgbClr val="0F172A"/>
                </a:solidFill>
              </a:rPr>
              <a:t>Instrumentation must span device metrics, app traces, network telemetry, and user journey analytics.</a:t>
            </a:r>
            <a:endParaRPr lang="en-US" sz="1820" dirty="0"/>
          </a:p>
          <a:p>
            <a:pPr marL="177800" indent="-177800">
              <a:buSzPct val="100000"/>
              <a:buChar char="•"/>
            </a:pPr>
            <a:r>
              <a:rPr lang="en-US" sz="1820" dirty="0">
                <a:solidFill>
                  <a:srgbClr val="0F172A"/>
                </a:solidFill>
              </a:rPr>
              <a:t>Optimization should be benchmark-driven; intuition alone is rarely sufficient on heterogeneous devices.</a:t>
            </a:r>
            <a:endParaRPr lang="en-US" sz="1820" dirty="0"/>
          </a:p>
        </p:txBody>
      </p:sp>
      <p:sp>
        <p:nvSpPr>
          <p:cNvPr id="6" name="Shape 4"/>
          <p:cNvSpPr/>
          <p:nvPr/>
        </p:nvSpPr>
        <p:spPr>
          <a:xfrm>
            <a:off x="7543800" y="1554480"/>
            <a:ext cx="3703320" cy="3840480"/>
          </a:xfrm>
          <a:prstGeom prst="roundRect">
            <a:avLst>
              <a:gd name="adj" fmla="val 1975"/>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703320" cy="347472"/>
          </a:xfrm>
          <a:prstGeom prst="rect">
            <a:avLst/>
          </a:prstGeom>
          <a:solidFill>
            <a:srgbClr val="1E8E5A"/>
          </a:solidFill>
          <a:ln w="12700">
            <a:solidFill>
              <a:srgbClr val="1E8E5A"/>
            </a:solidFill>
            <a:prstDash val="solid"/>
          </a:ln>
        </p:spPr>
      </p:sp>
      <p:sp>
        <p:nvSpPr>
          <p:cNvPr id="8" name="Text 6"/>
          <p:cNvSpPr/>
          <p:nvPr/>
        </p:nvSpPr>
        <p:spPr>
          <a:xfrm>
            <a:off x="7653528" y="1618488"/>
            <a:ext cx="3483864" cy="182880"/>
          </a:xfrm>
          <a:prstGeom prst="rect">
            <a:avLst/>
          </a:prstGeom>
          <a:noFill/>
          <a:ln/>
        </p:spPr>
        <p:txBody>
          <a:bodyPr wrap="square" rtlCol="0" anchor="ctr"/>
          <a:lstStyle/>
          <a:p>
            <a:pPr marL="0" indent="0">
              <a:buNone/>
            </a:pPr>
            <a:r>
              <a:rPr lang="en-US" sz="1600" b="1" dirty="0">
                <a:solidFill>
                  <a:srgbClr val="FFFFFF"/>
                </a:solidFill>
              </a:rPr>
              <a:t>Modern Android note</a:t>
            </a:r>
            <a:endParaRPr lang="en-US" sz="1600" dirty="0"/>
          </a:p>
        </p:txBody>
      </p:sp>
      <p:sp>
        <p:nvSpPr>
          <p:cNvPr id="9" name="Text 7"/>
          <p:cNvSpPr/>
          <p:nvPr/>
        </p:nvSpPr>
        <p:spPr>
          <a:xfrm>
            <a:off x="7690104" y="2011680"/>
            <a:ext cx="3410712" cy="3291840"/>
          </a:xfrm>
          <a:prstGeom prst="rect">
            <a:avLst/>
          </a:prstGeom>
          <a:noFill/>
          <a:ln/>
        </p:spPr>
        <p:txBody>
          <a:bodyPr wrap="square" rtlCol="0" anchor="t"/>
          <a:lstStyle/>
          <a:p>
            <a:pPr marL="0" indent="0">
              <a:buNone/>
            </a:pPr>
            <a:r>
              <a:rPr lang="en-US" sz="1600" dirty="0">
                <a:solidFill>
                  <a:srgbClr val="0F172A"/>
                </a:solidFill>
              </a:rPr>
              <a:t>Baseline Profiles can improve first-launch execution speed by roughly 30% for included code paths, and Startup Profiles can further reduce startup time in many cases.</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Energy-aware software design</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Battery is a user-facing SLA</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3474720" cy="4297680"/>
          </a:xfrm>
          <a:prstGeom prst="roundRect">
            <a:avLst>
              <a:gd name="adj" fmla="val 2105"/>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3474720" cy="347472"/>
          </a:xfrm>
          <a:prstGeom prst="rect">
            <a:avLst/>
          </a:prstGeom>
          <a:solidFill>
            <a:srgbClr val="C13B2A"/>
          </a:solidFill>
          <a:ln w="12700">
            <a:solidFill>
              <a:srgbClr val="C13B2A"/>
            </a:solidFill>
            <a:prstDash val="solid"/>
          </a:ln>
        </p:spPr>
      </p:sp>
      <p:sp>
        <p:nvSpPr>
          <p:cNvPr id="7" name="Text 5"/>
          <p:cNvSpPr/>
          <p:nvPr/>
        </p:nvSpPr>
        <p:spPr>
          <a:xfrm>
            <a:off x="795528" y="1481328"/>
            <a:ext cx="3255264" cy="182880"/>
          </a:xfrm>
          <a:prstGeom prst="rect">
            <a:avLst/>
          </a:prstGeom>
          <a:noFill/>
          <a:ln/>
        </p:spPr>
        <p:txBody>
          <a:bodyPr wrap="square" rtlCol="0" anchor="ctr"/>
          <a:lstStyle/>
          <a:p>
            <a:pPr marL="0" indent="0">
              <a:buNone/>
            </a:pPr>
            <a:r>
              <a:rPr lang="en-US" sz="1600" b="1" dirty="0">
                <a:solidFill>
                  <a:srgbClr val="FFFFFF"/>
                </a:solidFill>
              </a:rPr>
              <a:t>Typical energy drains</a:t>
            </a:r>
            <a:endParaRPr lang="en-US" sz="1600" dirty="0"/>
          </a:p>
        </p:txBody>
      </p:sp>
      <p:sp>
        <p:nvSpPr>
          <p:cNvPr id="8" name="Text 6"/>
          <p:cNvSpPr/>
          <p:nvPr/>
        </p:nvSpPr>
        <p:spPr>
          <a:xfrm>
            <a:off x="832104" y="1874520"/>
            <a:ext cx="3182112" cy="3749040"/>
          </a:xfrm>
          <a:prstGeom prst="rect">
            <a:avLst/>
          </a:prstGeom>
          <a:noFill/>
          <a:ln/>
        </p:spPr>
        <p:txBody>
          <a:bodyPr wrap="square" rtlCol="0" anchor="t"/>
          <a:lstStyle/>
          <a:p>
            <a:pPr marL="0" indent="0">
              <a:buNone/>
            </a:pPr>
            <a:r>
              <a:rPr lang="en-US" sz="1600" dirty="0">
                <a:solidFill>
                  <a:srgbClr val="0F172A"/>
                </a:solidFill>
              </a:rPr>
              <a:t>Frequent radio wakeups</a:t>
            </a:r>
            <a:endParaRPr lang="en-US" sz="1600" dirty="0"/>
          </a:p>
          <a:p>
            <a:pPr marL="0" indent="0">
              <a:buNone/>
            </a:pPr>
            <a:r>
              <a:rPr lang="en-US" sz="1600" dirty="0">
                <a:solidFill>
                  <a:srgbClr val="0F172A"/>
                </a:solidFill>
              </a:rPr>
              <a:t>Long-lived wake locks</a:t>
            </a:r>
            <a:endParaRPr lang="en-US" sz="1600" dirty="0"/>
          </a:p>
          <a:p>
            <a:pPr marL="0" indent="0">
              <a:buNone/>
            </a:pPr>
            <a:r>
              <a:rPr lang="en-US" sz="1600" dirty="0">
                <a:solidFill>
                  <a:srgbClr val="0F172A"/>
                </a:solidFill>
              </a:rPr>
              <a:t>Inefficient polling</a:t>
            </a:r>
            <a:endParaRPr lang="en-US" sz="1600" dirty="0"/>
          </a:p>
          <a:p>
            <a:pPr marL="0" indent="0">
              <a:buNone/>
            </a:pPr>
            <a:r>
              <a:rPr lang="en-US" sz="1600" dirty="0">
                <a:solidFill>
                  <a:srgbClr val="0F172A"/>
                </a:solidFill>
              </a:rPr>
              <a:t>Large media transforms</a:t>
            </a:r>
            <a:endParaRPr lang="en-US" sz="1600" dirty="0"/>
          </a:p>
          <a:p>
            <a:pPr marL="0" indent="0">
              <a:buNone/>
            </a:pPr>
            <a:r>
              <a:rPr lang="en-US" sz="1600" dirty="0">
                <a:solidFill>
                  <a:srgbClr val="0F172A"/>
                </a:solidFill>
              </a:rPr>
              <a:t>Chatty retries</a:t>
            </a:r>
            <a:endParaRPr lang="en-US" sz="1600" dirty="0"/>
          </a:p>
          <a:p>
            <a:pPr marL="0" indent="0">
              <a:buNone/>
            </a:pPr>
            <a:r>
              <a:rPr lang="en-US" sz="1600" dirty="0">
                <a:solidFill>
                  <a:srgbClr val="0F172A"/>
                </a:solidFill>
              </a:rPr>
              <a:t>Excess background location</a:t>
            </a:r>
            <a:endParaRPr lang="en-US" sz="1600" dirty="0"/>
          </a:p>
          <a:p>
            <a:pPr marL="0" indent="0">
              <a:buNone/>
            </a:pPr>
            <a:r>
              <a:rPr lang="en-US" sz="1600" dirty="0">
                <a:solidFill>
                  <a:srgbClr val="0F172A"/>
                </a:solidFill>
              </a:rPr>
              <a:t>Unbounded ML inference</a:t>
            </a:r>
            <a:endParaRPr lang="en-US" sz="1600" dirty="0"/>
          </a:p>
        </p:txBody>
      </p:sp>
      <p:sp>
        <p:nvSpPr>
          <p:cNvPr id="9" name="Shape 7"/>
          <p:cNvSpPr/>
          <p:nvPr/>
        </p:nvSpPr>
        <p:spPr>
          <a:xfrm>
            <a:off x="4389120" y="1417320"/>
            <a:ext cx="3474720" cy="4297680"/>
          </a:xfrm>
          <a:prstGeom prst="roundRect">
            <a:avLst>
              <a:gd name="adj" fmla="val 2105"/>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4389120" y="1417320"/>
            <a:ext cx="3474720" cy="347472"/>
          </a:xfrm>
          <a:prstGeom prst="rect">
            <a:avLst/>
          </a:prstGeom>
          <a:solidFill>
            <a:srgbClr val="0D9488"/>
          </a:solidFill>
          <a:ln w="12700">
            <a:solidFill>
              <a:srgbClr val="0D9488"/>
            </a:solidFill>
            <a:prstDash val="solid"/>
          </a:ln>
        </p:spPr>
      </p:sp>
      <p:sp>
        <p:nvSpPr>
          <p:cNvPr id="11" name="Text 9"/>
          <p:cNvSpPr/>
          <p:nvPr/>
        </p:nvSpPr>
        <p:spPr>
          <a:xfrm>
            <a:off x="4498848" y="1481328"/>
            <a:ext cx="3255264" cy="182880"/>
          </a:xfrm>
          <a:prstGeom prst="rect">
            <a:avLst/>
          </a:prstGeom>
          <a:noFill/>
          <a:ln/>
        </p:spPr>
        <p:txBody>
          <a:bodyPr wrap="square" rtlCol="0" anchor="ctr"/>
          <a:lstStyle/>
          <a:p>
            <a:pPr marL="0" indent="0">
              <a:buNone/>
            </a:pPr>
            <a:r>
              <a:rPr lang="en-US" sz="1600" b="1" dirty="0">
                <a:solidFill>
                  <a:srgbClr val="FFFFFF"/>
                </a:solidFill>
              </a:rPr>
              <a:t>Mitigation strategies</a:t>
            </a:r>
            <a:endParaRPr lang="en-US" sz="1600" dirty="0"/>
          </a:p>
        </p:txBody>
      </p:sp>
      <p:sp>
        <p:nvSpPr>
          <p:cNvPr id="12" name="Text 10"/>
          <p:cNvSpPr/>
          <p:nvPr/>
        </p:nvSpPr>
        <p:spPr>
          <a:xfrm>
            <a:off x="4535424" y="1874520"/>
            <a:ext cx="3182112" cy="3749040"/>
          </a:xfrm>
          <a:prstGeom prst="rect">
            <a:avLst/>
          </a:prstGeom>
          <a:noFill/>
          <a:ln/>
        </p:spPr>
        <p:txBody>
          <a:bodyPr wrap="square" rtlCol="0" anchor="t"/>
          <a:lstStyle/>
          <a:p>
            <a:pPr marL="0" indent="0">
              <a:buNone/>
            </a:pPr>
            <a:r>
              <a:rPr lang="en-US" sz="1600" dirty="0">
                <a:solidFill>
                  <a:srgbClr val="0F172A"/>
                </a:solidFill>
              </a:rPr>
              <a:t>Batch work</a:t>
            </a:r>
            <a:endParaRPr lang="en-US" sz="1600" dirty="0"/>
          </a:p>
          <a:p>
            <a:pPr marL="0" indent="0">
              <a:buNone/>
            </a:pPr>
            <a:r>
              <a:rPr lang="en-US" sz="1600" dirty="0">
                <a:solidFill>
                  <a:srgbClr val="0F172A"/>
                </a:solidFill>
              </a:rPr>
              <a:t>Exploit push where appropriate</a:t>
            </a:r>
            <a:endParaRPr lang="en-US" sz="1600" dirty="0"/>
          </a:p>
          <a:p>
            <a:pPr marL="0" indent="0">
              <a:buNone/>
            </a:pPr>
            <a:r>
              <a:rPr lang="en-US" sz="1600" dirty="0">
                <a:solidFill>
                  <a:srgbClr val="0F172A"/>
                </a:solidFill>
              </a:rPr>
              <a:t>Use constrained schedulers</a:t>
            </a:r>
            <a:endParaRPr lang="en-US" sz="1600" dirty="0"/>
          </a:p>
          <a:p>
            <a:pPr marL="0" indent="0">
              <a:buNone/>
            </a:pPr>
            <a:r>
              <a:rPr lang="en-US" sz="1600" dirty="0">
                <a:solidFill>
                  <a:srgbClr val="0F172A"/>
                </a:solidFill>
              </a:rPr>
              <a:t>Reduce payload size</a:t>
            </a:r>
            <a:endParaRPr lang="en-US" sz="1600" dirty="0"/>
          </a:p>
          <a:p>
            <a:pPr marL="0" indent="0">
              <a:buNone/>
            </a:pPr>
            <a:r>
              <a:rPr lang="en-US" sz="1600" dirty="0">
                <a:solidFill>
                  <a:srgbClr val="0F172A"/>
                </a:solidFill>
              </a:rPr>
              <a:t>Prefer incremental sync</a:t>
            </a:r>
            <a:endParaRPr lang="en-US" sz="1600" dirty="0"/>
          </a:p>
          <a:p>
            <a:pPr marL="0" indent="0">
              <a:buNone/>
            </a:pPr>
            <a:r>
              <a:rPr lang="en-US" sz="1600" dirty="0">
                <a:solidFill>
                  <a:srgbClr val="0F172A"/>
                </a:solidFill>
              </a:rPr>
              <a:t>Profile on real devices</a:t>
            </a:r>
            <a:endParaRPr lang="en-US" sz="1600" dirty="0"/>
          </a:p>
          <a:p>
            <a:pPr marL="0" indent="0">
              <a:buNone/>
            </a:pPr>
            <a:r>
              <a:rPr lang="en-US" sz="1600" dirty="0">
                <a:solidFill>
                  <a:srgbClr val="0F172A"/>
                </a:solidFill>
              </a:rPr>
              <a:t>Adapt by battery/thermal state</a:t>
            </a:r>
            <a:endParaRPr lang="en-US" sz="1600" dirty="0"/>
          </a:p>
        </p:txBody>
      </p:sp>
      <p:sp>
        <p:nvSpPr>
          <p:cNvPr id="13" name="Shape 11"/>
          <p:cNvSpPr/>
          <p:nvPr/>
        </p:nvSpPr>
        <p:spPr>
          <a:xfrm>
            <a:off x="8092440" y="1417320"/>
            <a:ext cx="3383280" cy="4297680"/>
          </a:xfrm>
          <a:prstGeom prst="roundRect">
            <a:avLst>
              <a:gd name="adj" fmla="val 2162"/>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14" name="Shape 12"/>
          <p:cNvSpPr/>
          <p:nvPr/>
        </p:nvSpPr>
        <p:spPr>
          <a:xfrm>
            <a:off x="8092440" y="1417320"/>
            <a:ext cx="3383280" cy="347472"/>
          </a:xfrm>
          <a:prstGeom prst="rect">
            <a:avLst/>
          </a:prstGeom>
          <a:solidFill>
            <a:srgbClr val="2864DC"/>
          </a:solidFill>
          <a:ln w="12700">
            <a:solidFill>
              <a:srgbClr val="2864DC"/>
            </a:solidFill>
            <a:prstDash val="solid"/>
          </a:ln>
        </p:spPr>
      </p:sp>
      <p:sp>
        <p:nvSpPr>
          <p:cNvPr id="15" name="Text 13"/>
          <p:cNvSpPr/>
          <p:nvPr/>
        </p:nvSpPr>
        <p:spPr>
          <a:xfrm>
            <a:off x="8202168" y="1481328"/>
            <a:ext cx="3163824" cy="182880"/>
          </a:xfrm>
          <a:prstGeom prst="rect">
            <a:avLst/>
          </a:prstGeom>
          <a:noFill/>
          <a:ln/>
        </p:spPr>
        <p:txBody>
          <a:bodyPr wrap="square" rtlCol="0" anchor="ctr"/>
          <a:lstStyle/>
          <a:p>
            <a:pPr marL="0" indent="0">
              <a:buNone/>
            </a:pPr>
            <a:r>
              <a:rPr lang="en-US" sz="1600" b="1" dirty="0">
                <a:solidFill>
                  <a:srgbClr val="FFFFFF"/>
                </a:solidFill>
              </a:rPr>
              <a:t>Measurement mindset</a:t>
            </a:r>
            <a:endParaRPr lang="en-US" sz="1600" dirty="0"/>
          </a:p>
        </p:txBody>
      </p:sp>
      <p:sp>
        <p:nvSpPr>
          <p:cNvPr id="16" name="Text 14"/>
          <p:cNvSpPr/>
          <p:nvPr/>
        </p:nvSpPr>
        <p:spPr>
          <a:xfrm>
            <a:off x="8238744" y="1874520"/>
            <a:ext cx="3090672" cy="3749040"/>
          </a:xfrm>
          <a:prstGeom prst="rect">
            <a:avLst/>
          </a:prstGeom>
          <a:noFill/>
          <a:ln/>
        </p:spPr>
        <p:txBody>
          <a:bodyPr wrap="square" rtlCol="0" anchor="t"/>
          <a:lstStyle/>
          <a:p>
            <a:pPr marL="0" indent="0">
              <a:buNone/>
            </a:pPr>
            <a:r>
              <a:rPr lang="en-US" sz="1600" dirty="0">
                <a:solidFill>
                  <a:srgbClr val="0F172A"/>
                </a:solidFill>
              </a:rPr>
              <a:t>Energy bugs are often workload-specific. Test under: weak network, roaming, charging vs battery, background transitions, long sessions, and low-power modes.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Quality of service vs quality of experience</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Network-level metrics do not automatically predict human satisfaction</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5394960" cy="4526280"/>
          </a:xfrm>
          <a:prstGeom prst="roundRect">
            <a:avLst>
              <a:gd name="adj" fmla="val 1616"/>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5394960" cy="347472"/>
          </a:xfrm>
          <a:prstGeom prst="rect">
            <a:avLst/>
          </a:prstGeom>
          <a:solidFill>
            <a:srgbClr val="2864DC"/>
          </a:solidFill>
          <a:ln w="12700">
            <a:solidFill>
              <a:srgbClr val="2864DC"/>
            </a:solidFill>
            <a:prstDash val="solid"/>
          </a:ln>
        </p:spPr>
      </p:sp>
      <p:sp>
        <p:nvSpPr>
          <p:cNvPr id="7" name="Text 5"/>
          <p:cNvSpPr/>
          <p:nvPr/>
        </p:nvSpPr>
        <p:spPr>
          <a:xfrm>
            <a:off x="795528" y="1481328"/>
            <a:ext cx="5175504" cy="182880"/>
          </a:xfrm>
          <a:prstGeom prst="rect">
            <a:avLst/>
          </a:prstGeom>
          <a:noFill/>
          <a:ln/>
        </p:spPr>
        <p:txBody>
          <a:bodyPr wrap="square" rtlCol="0" anchor="ctr"/>
          <a:lstStyle/>
          <a:p>
            <a:pPr marL="0" indent="0">
              <a:buNone/>
            </a:pPr>
            <a:r>
              <a:rPr lang="en-US" sz="1600" b="1" dirty="0">
                <a:solidFill>
                  <a:srgbClr val="FFFFFF"/>
                </a:solidFill>
              </a:rPr>
              <a:t>QoS variables</a:t>
            </a:r>
            <a:endParaRPr lang="en-US" sz="1600" dirty="0"/>
          </a:p>
        </p:txBody>
      </p:sp>
      <p:sp>
        <p:nvSpPr>
          <p:cNvPr id="8" name="Text 6"/>
          <p:cNvSpPr/>
          <p:nvPr/>
        </p:nvSpPr>
        <p:spPr>
          <a:xfrm>
            <a:off x="832104" y="1874520"/>
            <a:ext cx="5102352" cy="3977640"/>
          </a:xfrm>
          <a:prstGeom prst="rect">
            <a:avLst/>
          </a:prstGeom>
          <a:noFill/>
          <a:ln/>
        </p:spPr>
        <p:txBody>
          <a:bodyPr wrap="square" rtlCol="0" anchor="t"/>
          <a:lstStyle/>
          <a:p>
            <a:pPr marL="0" indent="0">
              <a:buNone/>
            </a:pPr>
            <a:r>
              <a:rPr lang="en-US" dirty="0">
                <a:solidFill>
                  <a:srgbClr val="0F172A"/>
                </a:solidFill>
              </a:rPr>
              <a:t>Bandwidth, jitter, packet loss, RTT, connection setup time, handover success, radio quality, and backend availability.</a:t>
            </a:r>
            <a:endParaRPr lang="en-US" dirty="0"/>
          </a:p>
        </p:txBody>
      </p:sp>
      <p:sp>
        <p:nvSpPr>
          <p:cNvPr id="9" name="Shape 7"/>
          <p:cNvSpPr/>
          <p:nvPr/>
        </p:nvSpPr>
        <p:spPr>
          <a:xfrm>
            <a:off x="6309360" y="1417320"/>
            <a:ext cx="5212080" cy="4526280"/>
          </a:xfrm>
          <a:prstGeom prst="roundRect">
            <a:avLst>
              <a:gd name="adj" fmla="val 1616"/>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6309360" y="1417320"/>
            <a:ext cx="5212080" cy="347472"/>
          </a:xfrm>
          <a:prstGeom prst="rect">
            <a:avLst/>
          </a:prstGeom>
          <a:solidFill>
            <a:srgbClr val="0D9488"/>
          </a:solidFill>
          <a:ln w="12700">
            <a:solidFill>
              <a:srgbClr val="0D9488"/>
            </a:solidFill>
            <a:prstDash val="solid"/>
          </a:ln>
        </p:spPr>
      </p:sp>
      <p:sp>
        <p:nvSpPr>
          <p:cNvPr id="11" name="Text 9"/>
          <p:cNvSpPr/>
          <p:nvPr/>
        </p:nvSpPr>
        <p:spPr>
          <a:xfrm>
            <a:off x="6419088" y="1481328"/>
            <a:ext cx="4992624" cy="182880"/>
          </a:xfrm>
          <a:prstGeom prst="rect">
            <a:avLst/>
          </a:prstGeom>
          <a:noFill/>
          <a:ln/>
        </p:spPr>
        <p:txBody>
          <a:bodyPr wrap="square" rtlCol="0" anchor="ctr"/>
          <a:lstStyle/>
          <a:p>
            <a:pPr marL="0" indent="0">
              <a:buNone/>
            </a:pPr>
            <a:r>
              <a:rPr lang="en-US" sz="1600" b="1" dirty="0">
                <a:solidFill>
                  <a:srgbClr val="FFFFFF"/>
                </a:solidFill>
              </a:rPr>
              <a:t>QoE variables</a:t>
            </a:r>
            <a:endParaRPr lang="en-US" sz="1600" dirty="0"/>
          </a:p>
        </p:txBody>
      </p:sp>
      <p:sp>
        <p:nvSpPr>
          <p:cNvPr id="12" name="Text 10"/>
          <p:cNvSpPr/>
          <p:nvPr/>
        </p:nvSpPr>
        <p:spPr>
          <a:xfrm>
            <a:off x="6455664" y="1874520"/>
            <a:ext cx="4919472" cy="3977640"/>
          </a:xfrm>
          <a:prstGeom prst="rect">
            <a:avLst/>
          </a:prstGeom>
          <a:noFill/>
          <a:ln/>
        </p:spPr>
        <p:txBody>
          <a:bodyPr wrap="square" rtlCol="0" anchor="t"/>
          <a:lstStyle/>
          <a:p>
            <a:pPr marL="0" indent="0">
              <a:buNone/>
            </a:pPr>
            <a:r>
              <a:rPr lang="en-US" dirty="0">
                <a:solidFill>
                  <a:srgbClr val="0F172A"/>
                </a:solidFill>
              </a:rPr>
              <a:t>Perceived startup delay, visual fluidity, intelligibility of audio/video, transaction confidence, error transparency, and cognitive load during recovery.</a:t>
            </a:r>
            <a:endParaRPr lang="en-US" dirty="0"/>
          </a:p>
        </p:txBody>
      </p:sp>
      <p:sp>
        <p:nvSpPr>
          <p:cNvPr id="13" name="Shape 11"/>
          <p:cNvSpPr/>
          <p:nvPr/>
        </p:nvSpPr>
        <p:spPr>
          <a:xfrm>
            <a:off x="731520" y="5303520"/>
            <a:ext cx="10789920" cy="658368"/>
          </a:xfrm>
          <a:prstGeom prst="roundRect">
            <a:avLst>
              <a:gd name="adj" fmla="val 11111"/>
            </a:avLst>
          </a:prstGeom>
          <a:solidFill>
            <a:srgbClr val="FFFFFF"/>
          </a:solidFill>
          <a:ln w="12700">
            <a:solidFill>
              <a:srgbClr val="C98B00"/>
            </a:solidFill>
            <a:prstDash val="solid"/>
          </a:ln>
          <a:effectLst>
            <a:outerShdw blurRad="12700" dist="12700" dir="2700000" algn="bl" rotWithShape="0">
              <a:srgbClr val="000000">
                <a:alpha val="12000"/>
              </a:srgbClr>
            </a:outerShdw>
          </a:effectLst>
        </p:spPr>
      </p:sp>
      <p:sp>
        <p:nvSpPr>
          <p:cNvPr id="14" name="Shape 12"/>
          <p:cNvSpPr/>
          <p:nvPr/>
        </p:nvSpPr>
        <p:spPr>
          <a:xfrm>
            <a:off x="716280" y="4983480"/>
            <a:ext cx="10789920" cy="347472"/>
          </a:xfrm>
          <a:prstGeom prst="rect">
            <a:avLst/>
          </a:prstGeom>
          <a:solidFill>
            <a:srgbClr val="C98B00"/>
          </a:solidFill>
          <a:ln w="12700">
            <a:solidFill>
              <a:srgbClr val="C98B00"/>
            </a:solidFill>
            <a:prstDash val="solid"/>
          </a:ln>
        </p:spPr>
        <p:txBody>
          <a:bodyPr/>
          <a:lstStyle/>
          <a:p>
            <a:endParaRPr lang="en-US" dirty="0"/>
          </a:p>
        </p:txBody>
      </p:sp>
      <p:sp>
        <p:nvSpPr>
          <p:cNvPr id="15" name="Text 13"/>
          <p:cNvSpPr/>
          <p:nvPr/>
        </p:nvSpPr>
        <p:spPr>
          <a:xfrm>
            <a:off x="978408" y="5550408"/>
            <a:ext cx="10570464" cy="182880"/>
          </a:xfrm>
          <a:prstGeom prst="rect">
            <a:avLst/>
          </a:prstGeom>
          <a:noFill/>
          <a:ln/>
        </p:spPr>
        <p:txBody>
          <a:bodyPr wrap="square" rtlCol="0" anchor="ctr"/>
          <a:lstStyle/>
          <a:p>
            <a:pPr marL="0" indent="0">
              <a:buNone/>
            </a:pPr>
            <a:r>
              <a:rPr lang="en-US" sz="1600" b="1" dirty="0">
                <a:solidFill>
                  <a:srgbClr val="FFFFFF"/>
                </a:solidFill>
              </a:rPr>
              <a:t>Critical insight</a:t>
            </a:r>
            <a:endParaRPr lang="en-US" sz="1600" dirty="0"/>
          </a:p>
        </p:txBody>
      </p:sp>
      <p:sp>
        <p:nvSpPr>
          <p:cNvPr id="16" name="Text 14"/>
          <p:cNvSpPr/>
          <p:nvPr/>
        </p:nvSpPr>
        <p:spPr>
          <a:xfrm>
            <a:off x="1170432" y="5458968"/>
            <a:ext cx="10497312" cy="109728"/>
          </a:xfrm>
          <a:prstGeom prst="rect">
            <a:avLst/>
          </a:prstGeom>
          <a:noFill/>
          <a:ln/>
        </p:spPr>
        <p:txBody>
          <a:bodyPr wrap="square" rtlCol="0" anchor="t"/>
          <a:lstStyle/>
          <a:p>
            <a:pPr marL="0" indent="0">
              <a:buNone/>
            </a:pPr>
            <a:r>
              <a:rPr lang="en-US" sz="1350" dirty="0">
                <a:solidFill>
                  <a:srgbClr val="0F172A"/>
                </a:solidFill>
              </a:rPr>
              <a:t>A system can meet technical thresholds and still feel poor if the interaction design hides state badly or handles failure opaquely.</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Security model of mobile platforms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Security is a composition of platform guarantees and application discipline</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492240" cy="4572000"/>
          </a:xfrm>
          <a:prstGeom prst="rect">
            <a:avLst/>
          </a:prstGeom>
          <a:noFill/>
          <a:ln/>
        </p:spPr>
        <p:txBody>
          <a:bodyPr wrap="square" rtlCol="0" anchor="t"/>
          <a:lstStyle/>
          <a:p>
            <a:pPr marL="177800" indent="-177800">
              <a:buSzPct val="100000"/>
              <a:buChar char="•"/>
            </a:pPr>
            <a:r>
              <a:rPr lang="en-US" sz="1810" dirty="0">
                <a:solidFill>
                  <a:srgbClr val="0F172A"/>
                </a:solidFill>
              </a:rPr>
              <a:t>Key platform concepts include sandboxing, app signing, permission mediation, secure storage, hardware-backed keys, biometrics, attestation, and verified boot.</a:t>
            </a:r>
            <a:endParaRPr lang="en-US" sz="1810" dirty="0"/>
          </a:p>
          <a:p>
            <a:pPr marL="177800" indent="-177800">
              <a:buSzPct val="100000"/>
              <a:buChar char="•"/>
            </a:pPr>
            <a:r>
              <a:rPr lang="en-US" sz="1810" dirty="0">
                <a:solidFill>
                  <a:srgbClr val="0F172A"/>
                </a:solidFill>
              </a:rPr>
              <a:t>These platform guarantees reduce risk but do not eliminate application-level vulnerabilities such as insecure API usage, sensitive logging, poor certificate validation, or weak auth recovery.</a:t>
            </a:r>
            <a:endParaRPr lang="en-US" sz="1810" dirty="0"/>
          </a:p>
          <a:p>
            <a:pPr marL="177800" indent="-177800">
              <a:buSzPct val="100000"/>
              <a:buChar char="•"/>
            </a:pPr>
            <a:r>
              <a:rPr lang="en-US" sz="1810" dirty="0">
                <a:solidFill>
                  <a:srgbClr val="0F172A"/>
                </a:solidFill>
              </a:rPr>
              <a:t>Threat models must include both remote and local adversaries: malware, rooted devices, shoulder surfing, phishing overlays, and stolen-device scenarios.</a:t>
            </a:r>
            <a:endParaRPr lang="en-US" sz="1810" dirty="0"/>
          </a:p>
          <a:p>
            <a:pPr marL="177800" indent="-177800">
              <a:buSzPct val="100000"/>
              <a:buChar char="•"/>
            </a:pPr>
            <a:r>
              <a:rPr lang="en-US" sz="1810" dirty="0">
                <a:solidFill>
                  <a:srgbClr val="0F172A"/>
                </a:solidFill>
              </a:rPr>
              <a:t>Good mobile security architecture begins with data classification and abuse-case analysis, not with a checklist alone.</a:t>
            </a:r>
            <a:endParaRPr lang="en-US" sz="1810" dirty="0"/>
          </a:p>
        </p:txBody>
      </p:sp>
      <p:sp>
        <p:nvSpPr>
          <p:cNvPr id="6" name="Shape 4"/>
          <p:cNvSpPr/>
          <p:nvPr/>
        </p:nvSpPr>
        <p:spPr>
          <a:xfrm>
            <a:off x="7543800" y="1554480"/>
            <a:ext cx="3703320" cy="3840480"/>
          </a:xfrm>
          <a:prstGeom prst="roundRect">
            <a:avLst>
              <a:gd name="adj" fmla="val 1975"/>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703320" cy="347472"/>
          </a:xfrm>
          <a:prstGeom prst="rect">
            <a:avLst/>
          </a:prstGeom>
          <a:solidFill>
            <a:srgbClr val="1E8E5A"/>
          </a:solidFill>
          <a:ln w="12700">
            <a:solidFill>
              <a:srgbClr val="1E8E5A"/>
            </a:solidFill>
            <a:prstDash val="solid"/>
          </a:ln>
        </p:spPr>
      </p:sp>
      <p:sp>
        <p:nvSpPr>
          <p:cNvPr id="8" name="Text 6"/>
          <p:cNvSpPr/>
          <p:nvPr/>
        </p:nvSpPr>
        <p:spPr>
          <a:xfrm>
            <a:off x="7653528" y="1618488"/>
            <a:ext cx="3483864" cy="182880"/>
          </a:xfrm>
          <a:prstGeom prst="rect">
            <a:avLst/>
          </a:prstGeom>
          <a:noFill/>
          <a:ln/>
        </p:spPr>
        <p:txBody>
          <a:bodyPr wrap="square" rtlCol="0" anchor="ctr"/>
          <a:lstStyle/>
          <a:p>
            <a:pPr marL="0" indent="0">
              <a:buNone/>
            </a:pPr>
            <a:r>
              <a:rPr lang="en-US" sz="1600" b="1" dirty="0">
                <a:solidFill>
                  <a:srgbClr val="FFFFFF"/>
                </a:solidFill>
              </a:rPr>
              <a:t>Standards view</a:t>
            </a:r>
            <a:endParaRPr lang="en-US" sz="1600" dirty="0"/>
          </a:p>
        </p:txBody>
      </p:sp>
      <p:sp>
        <p:nvSpPr>
          <p:cNvPr id="9" name="Text 7"/>
          <p:cNvSpPr/>
          <p:nvPr/>
        </p:nvSpPr>
        <p:spPr>
          <a:xfrm>
            <a:off x="7690104" y="2011680"/>
            <a:ext cx="3410712" cy="3291840"/>
          </a:xfrm>
          <a:prstGeom prst="rect">
            <a:avLst/>
          </a:prstGeom>
          <a:noFill/>
          <a:ln/>
        </p:spPr>
        <p:txBody>
          <a:bodyPr wrap="square" rtlCol="0" anchor="t"/>
          <a:lstStyle/>
          <a:p>
            <a:pPr marL="0" indent="0">
              <a:buNone/>
            </a:pPr>
            <a:r>
              <a:rPr lang="en-US" sz="1350" dirty="0">
                <a:solidFill>
                  <a:srgbClr val="0F172A"/>
                </a:solidFill>
              </a:rPr>
              <a:t>OWASP MASVS is a practical baseline for security verification, while NIST guidance is valuable for enterprise device management and risk control.</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Privacy engineering for mobile usage</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Mobile systems collect intimate data; therefore privacy cannot be an afterthought</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537960" cy="4526280"/>
          </a:xfrm>
          <a:prstGeom prst="rect">
            <a:avLst/>
          </a:prstGeom>
          <a:noFill/>
          <a:ln/>
        </p:spPr>
        <p:txBody>
          <a:bodyPr wrap="square" rtlCol="0" anchor="t"/>
          <a:lstStyle/>
          <a:p>
            <a:pPr marL="177800" indent="-177800">
              <a:buSzPct val="100000"/>
              <a:buChar char="•"/>
            </a:pPr>
            <a:r>
              <a:rPr lang="en-US" sz="1810" dirty="0">
                <a:solidFill>
                  <a:srgbClr val="0F172A"/>
                </a:solidFill>
              </a:rPr>
              <a:t>Sensitive categories can include location history, contacts, health indicators, microphone/camera streams, identifiers, and behavioral traces.</a:t>
            </a:r>
            <a:endParaRPr lang="en-US" sz="1810" dirty="0"/>
          </a:p>
          <a:p>
            <a:pPr marL="177800" indent="-177800">
              <a:buSzPct val="100000"/>
              <a:buChar char="•"/>
            </a:pPr>
            <a:r>
              <a:rPr lang="en-US" sz="1810" dirty="0">
                <a:solidFill>
                  <a:srgbClr val="0F172A"/>
                </a:solidFill>
              </a:rPr>
              <a:t>Privacy engineering requires data minimization, transparent consent, bounded retention, purpose limitation, and robust deletion semantics.</a:t>
            </a:r>
            <a:endParaRPr lang="en-US" sz="1810" dirty="0"/>
          </a:p>
          <a:p>
            <a:pPr marL="177800" indent="-177800">
              <a:buSzPct val="100000"/>
              <a:buChar char="•"/>
            </a:pPr>
            <a:r>
              <a:rPr lang="en-US" sz="1810" dirty="0">
                <a:solidFill>
                  <a:srgbClr val="0F172A"/>
                </a:solidFill>
              </a:rPr>
              <a:t>On-device processing can improve privacy posture, but only if models, logs, and sync paths are also governed properly.</a:t>
            </a:r>
            <a:endParaRPr lang="en-US" sz="1810" dirty="0"/>
          </a:p>
          <a:p>
            <a:pPr marL="177800" indent="-177800">
              <a:buSzPct val="100000"/>
              <a:buChar char="•"/>
            </a:pPr>
            <a:r>
              <a:rPr lang="en-US" sz="1810" dirty="0">
                <a:solidFill>
                  <a:srgbClr val="0F172A"/>
                </a:solidFill>
              </a:rPr>
              <a:t>Privacy is sociotechnical: permissions UX, defaults, dark patterns, and policy wording materially influence real outcomes.</a:t>
            </a:r>
            <a:endParaRPr lang="en-US" sz="1810" dirty="0"/>
          </a:p>
        </p:txBody>
      </p:sp>
      <p:sp>
        <p:nvSpPr>
          <p:cNvPr id="6" name="Shape 4"/>
          <p:cNvSpPr/>
          <p:nvPr/>
        </p:nvSpPr>
        <p:spPr>
          <a:xfrm>
            <a:off x="7543800" y="1554480"/>
            <a:ext cx="3703320" cy="3840480"/>
          </a:xfrm>
          <a:prstGeom prst="roundRect">
            <a:avLst>
              <a:gd name="adj" fmla="val 1975"/>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703320" cy="347472"/>
          </a:xfrm>
          <a:prstGeom prst="rect">
            <a:avLst/>
          </a:prstGeom>
          <a:solidFill>
            <a:srgbClr val="C13B2A"/>
          </a:solidFill>
          <a:ln w="12700">
            <a:solidFill>
              <a:srgbClr val="C13B2A"/>
            </a:solidFill>
            <a:prstDash val="solid"/>
          </a:ln>
        </p:spPr>
      </p:sp>
      <p:sp>
        <p:nvSpPr>
          <p:cNvPr id="8" name="Text 6"/>
          <p:cNvSpPr/>
          <p:nvPr/>
        </p:nvSpPr>
        <p:spPr>
          <a:xfrm>
            <a:off x="7653528" y="1618488"/>
            <a:ext cx="3483864" cy="182880"/>
          </a:xfrm>
          <a:prstGeom prst="rect">
            <a:avLst/>
          </a:prstGeom>
          <a:noFill/>
          <a:ln/>
        </p:spPr>
        <p:txBody>
          <a:bodyPr wrap="square" rtlCol="0" anchor="ctr"/>
          <a:lstStyle/>
          <a:p>
            <a:pPr marL="0" indent="0">
              <a:buNone/>
            </a:pPr>
            <a:r>
              <a:rPr lang="en-US" sz="1600" b="1" dirty="0">
                <a:solidFill>
                  <a:srgbClr val="FFFFFF"/>
                </a:solidFill>
              </a:rPr>
              <a:t>Research challenge</a:t>
            </a:r>
            <a:endParaRPr lang="en-US" sz="1600" dirty="0"/>
          </a:p>
        </p:txBody>
      </p:sp>
      <p:sp>
        <p:nvSpPr>
          <p:cNvPr id="9" name="Text 7"/>
          <p:cNvSpPr/>
          <p:nvPr/>
        </p:nvSpPr>
        <p:spPr>
          <a:xfrm>
            <a:off x="7690104" y="2011680"/>
            <a:ext cx="3410712" cy="3291840"/>
          </a:xfrm>
          <a:prstGeom prst="rect">
            <a:avLst/>
          </a:prstGeom>
          <a:noFill/>
          <a:ln/>
        </p:spPr>
        <p:txBody>
          <a:bodyPr wrap="square" rtlCol="0" anchor="t"/>
          <a:lstStyle/>
          <a:p>
            <a:pPr marL="0" indent="0">
              <a:buNone/>
            </a:pPr>
            <a:r>
              <a:rPr lang="en-US" sz="1350" dirty="0">
                <a:solidFill>
                  <a:srgbClr val="0F172A"/>
                </a:solidFill>
              </a:rPr>
              <a:t>How do we maximize contextual usefulness while minimizing surveillance risk and preserving meaningful user agency?</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Secure development workflow</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Security quality emerges from the pipeline, not only from the final binary</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63040"/>
            <a:ext cx="2057400" cy="4389120"/>
          </a:xfrm>
          <a:prstGeom prst="roundRect">
            <a:avLst>
              <a:gd name="adj" fmla="val 3556"/>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63040"/>
            <a:ext cx="2057400" cy="347472"/>
          </a:xfrm>
          <a:prstGeom prst="rect">
            <a:avLst/>
          </a:prstGeom>
          <a:solidFill>
            <a:srgbClr val="2864DC"/>
          </a:solidFill>
          <a:ln w="12700">
            <a:solidFill>
              <a:srgbClr val="2864DC"/>
            </a:solidFill>
            <a:prstDash val="solid"/>
          </a:ln>
        </p:spPr>
      </p:sp>
      <p:sp>
        <p:nvSpPr>
          <p:cNvPr id="7" name="Text 5"/>
          <p:cNvSpPr/>
          <p:nvPr/>
        </p:nvSpPr>
        <p:spPr>
          <a:xfrm>
            <a:off x="795528" y="1527048"/>
            <a:ext cx="1837944" cy="182880"/>
          </a:xfrm>
          <a:prstGeom prst="rect">
            <a:avLst/>
          </a:prstGeom>
          <a:noFill/>
          <a:ln/>
        </p:spPr>
        <p:txBody>
          <a:bodyPr wrap="square" rtlCol="0" anchor="ctr"/>
          <a:lstStyle/>
          <a:p>
            <a:pPr marL="0" indent="0">
              <a:buNone/>
            </a:pPr>
            <a:r>
              <a:rPr lang="en-US" sz="1600" b="1" dirty="0">
                <a:solidFill>
                  <a:srgbClr val="FFFFFF"/>
                </a:solidFill>
              </a:rPr>
              <a:t>1. Design</a:t>
            </a:r>
            <a:endParaRPr lang="en-US" sz="1600" dirty="0"/>
          </a:p>
        </p:txBody>
      </p:sp>
      <p:sp>
        <p:nvSpPr>
          <p:cNvPr id="8" name="Text 6"/>
          <p:cNvSpPr/>
          <p:nvPr/>
        </p:nvSpPr>
        <p:spPr>
          <a:xfrm>
            <a:off x="832104" y="1920240"/>
            <a:ext cx="1764792" cy="3840480"/>
          </a:xfrm>
          <a:prstGeom prst="rect">
            <a:avLst/>
          </a:prstGeom>
          <a:noFill/>
          <a:ln/>
        </p:spPr>
        <p:txBody>
          <a:bodyPr wrap="square" rtlCol="0" anchor="t"/>
          <a:lstStyle/>
          <a:p>
            <a:pPr marL="0" indent="0">
              <a:buNone/>
            </a:pPr>
            <a:r>
              <a:rPr lang="en-US" sz="1350" dirty="0">
                <a:solidFill>
                  <a:srgbClr val="0F172A"/>
                </a:solidFill>
              </a:rPr>
              <a:t>Threat modeling</a:t>
            </a:r>
            <a:endParaRPr lang="en-US" sz="1350" dirty="0"/>
          </a:p>
          <a:p>
            <a:pPr marL="0" indent="0">
              <a:buNone/>
            </a:pPr>
            <a:r>
              <a:rPr lang="en-US" sz="1350" dirty="0">
                <a:solidFill>
                  <a:srgbClr val="0F172A"/>
                </a:solidFill>
              </a:rPr>
              <a:t>Data-flow diagrams</a:t>
            </a:r>
            <a:endParaRPr lang="en-US" sz="1350" dirty="0"/>
          </a:p>
          <a:p>
            <a:pPr marL="0" indent="0">
              <a:buNone/>
            </a:pPr>
            <a:r>
              <a:rPr lang="en-US" sz="1350" dirty="0">
                <a:solidFill>
                  <a:srgbClr val="0F172A"/>
                </a:solidFill>
              </a:rPr>
              <a:t>Abuse cases</a:t>
            </a:r>
            <a:endParaRPr lang="en-US" sz="1350" dirty="0"/>
          </a:p>
          <a:p>
            <a:pPr marL="0" indent="0">
              <a:buNone/>
            </a:pPr>
            <a:r>
              <a:rPr lang="en-US" sz="1350" dirty="0">
                <a:solidFill>
                  <a:srgbClr val="0F172A"/>
                </a:solidFill>
              </a:rPr>
              <a:t>Trust boundaries</a:t>
            </a:r>
            <a:endParaRPr lang="en-US" sz="1350" dirty="0"/>
          </a:p>
        </p:txBody>
      </p:sp>
      <p:sp>
        <p:nvSpPr>
          <p:cNvPr id="9" name="Shape 7"/>
          <p:cNvSpPr/>
          <p:nvPr/>
        </p:nvSpPr>
        <p:spPr>
          <a:xfrm>
            <a:off x="2926080" y="1463040"/>
            <a:ext cx="2057400" cy="4389120"/>
          </a:xfrm>
          <a:prstGeom prst="roundRect">
            <a:avLst>
              <a:gd name="adj" fmla="val 3556"/>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2926080" y="1463040"/>
            <a:ext cx="2057400" cy="347472"/>
          </a:xfrm>
          <a:prstGeom prst="rect">
            <a:avLst/>
          </a:prstGeom>
          <a:solidFill>
            <a:srgbClr val="0D9488"/>
          </a:solidFill>
          <a:ln w="12700">
            <a:solidFill>
              <a:srgbClr val="0D9488"/>
            </a:solidFill>
            <a:prstDash val="solid"/>
          </a:ln>
        </p:spPr>
      </p:sp>
      <p:sp>
        <p:nvSpPr>
          <p:cNvPr id="11" name="Text 9"/>
          <p:cNvSpPr/>
          <p:nvPr/>
        </p:nvSpPr>
        <p:spPr>
          <a:xfrm>
            <a:off x="3035808" y="1527048"/>
            <a:ext cx="1837944" cy="182880"/>
          </a:xfrm>
          <a:prstGeom prst="rect">
            <a:avLst/>
          </a:prstGeom>
          <a:noFill/>
          <a:ln/>
        </p:spPr>
        <p:txBody>
          <a:bodyPr wrap="square" rtlCol="0" anchor="ctr"/>
          <a:lstStyle/>
          <a:p>
            <a:pPr marL="0" indent="0">
              <a:buNone/>
            </a:pPr>
            <a:r>
              <a:rPr lang="en-US" sz="1600" b="1" dirty="0">
                <a:solidFill>
                  <a:srgbClr val="FFFFFF"/>
                </a:solidFill>
              </a:rPr>
              <a:t>2. Build</a:t>
            </a:r>
            <a:endParaRPr lang="en-US" sz="1600" dirty="0"/>
          </a:p>
        </p:txBody>
      </p:sp>
      <p:sp>
        <p:nvSpPr>
          <p:cNvPr id="12" name="Text 10"/>
          <p:cNvSpPr/>
          <p:nvPr/>
        </p:nvSpPr>
        <p:spPr>
          <a:xfrm>
            <a:off x="3072384" y="1920240"/>
            <a:ext cx="1764792" cy="3840480"/>
          </a:xfrm>
          <a:prstGeom prst="rect">
            <a:avLst/>
          </a:prstGeom>
          <a:noFill/>
          <a:ln/>
        </p:spPr>
        <p:txBody>
          <a:bodyPr wrap="square" rtlCol="0" anchor="t"/>
          <a:lstStyle/>
          <a:p>
            <a:pPr marL="0" indent="0">
              <a:buNone/>
            </a:pPr>
            <a:r>
              <a:rPr lang="en-US" sz="1350" dirty="0">
                <a:solidFill>
                  <a:srgbClr val="0F172A"/>
                </a:solidFill>
              </a:rPr>
              <a:t>Secret hygiene</a:t>
            </a:r>
            <a:endParaRPr lang="en-US" sz="1350" dirty="0"/>
          </a:p>
          <a:p>
            <a:pPr marL="0" indent="0">
              <a:buNone/>
            </a:pPr>
            <a:r>
              <a:rPr lang="en-US" sz="1350" dirty="0">
                <a:solidFill>
                  <a:srgbClr val="0F172A"/>
                </a:solidFill>
              </a:rPr>
              <a:t>Dependency review</a:t>
            </a:r>
            <a:endParaRPr lang="en-US" sz="1350" dirty="0"/>
          </a:p>
          <a:p>
            <a:pPr marL="0" indent="0">
              <a:buNone/>
            </a:pPr>
            <a:r>
              <a:rPr lang="en-US" sz="1350" dirty="0">
                <a:solidFill>
                  <a:srgbClr val="0F172A"/>
                </a:solidFill>
              </a:rPr>
              <a:t>Reproducible CI/CD</a:t>
            </a:r>
            <a:endParaRPr lang="en-US" sz="1350" dirty="0"/>
          </a:p>
          <a:p>
            <a:pPr marL="0" indent="0">
              <a:buNone/>
            </a:pPr>
            <a:r>
              <a:rPr lang="en-US" sz="1350" dirty="0">
                <a:solidFill>
                  <a:srgbClr val="0F172A"/>
                </a:solidFill>
              </a:rPr>
              <a:t>Secure config</a:t>
            </a:r>
            <a:endParaRPr lang="en-US" sz="1350" dirty="0"/>
          </a:p>
        </p:txBody>
      </p:sp>
      <p:sp>
        <p:nvSpPr>
          <p:cNvPr id="13" name="Shape 11"/>
          <p:cNvSpPr/>
          <p:nvPr/>
        </p:nvSpPr>
        <p:spPr>
          <a:xfrm>
            <a:off x="5166360" y="1463040"/>
            <a:ext cx="2057400" cy="4389120"/>
          </a:xfrm>
          <a:prstGeom prst="roundRect">
            <a:avLst>
              <a:gd name="adj" fmla="val 3556"/>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14" name="Shape 12"/>
          <p:cNvSpPr/>
          <p:nvPr/>
        </p:nvSpPr>
        <p:spPr>
          <a:xfrm>
            <a:off x="5166360" y="1463040"/>
            <a:ext cx="2057400" cy="347472"/>
          </a:xfrm>
          <a:prstGeom prst="rect">
            <a:avLst/>
          </a:prstGeom>
          <a:solidFill>
            <a:srgbClr val="1E8E5A"/>
          </a:solidFill>
          <a:ln w="12700">
            <a:solidFill>
              <a:srgbClr val="1E8E5A"/>
            </a:solidFill>
            <a:prstDash val="solid"/>
          </a:ln>
        </p:spPr>
      </p:sp>
      <p:sp>
        <p:nvSpPr>
          <p:cNvPr id="15" name="Text 13"/>
          <p:cNvSpPr/>
          <p:nvPr/>
        </p:nvSpPr>
        <p:spPr>
          <a:xfrm>
            <a:off x="5276088" y="1527048"/>
            <a:ext cx="1837944" cy="182880"/>
          </a:xfrm>
          <a:prstGeom prst="rect">
            <a:avLst/>
          </a:prstGeom>
          <a:noFill/>
          <a:ln/>
        </p:spPr>
        <p:txBody>
          <a:bodyPr wrap="square" rtlCol="0" anchor="ctr"/>
          <a:lstStyle/>
          <a:p>
            <a:pPr marL="0" indent="0">
              <a:buNone/>
            </a:pPr>
            <a:r>
              <a:rPr lang="en-US" sz="1600" b="1" dirty="0">
                <a:solidFill>
                  <a:srgbClr val="FFFFFF"/>
                </a:solidFill>
              </a:rPr>
              <a:t>3. Test</a:t>
            </a:r>
            <a:endParaRPr lang="en-US" sz="1600" dirty="0"/>
          </a:p>
        </p:txBody>
      </p:sp>
      <p:sp>
        <p:nvSpPr>
          <p:cNvPr id="16" name="Text 14"/>
          <p:cNvSpPr/>
          <p:nvPr/>
        </p:nvSpPr>
        <p:spPr>
          <a:xfrm>
            <a:off x="5312664" y="1920240"/>
            <a:ext cx="1764792" cy="3840480"/>
          </a:xfrm>
          <a:prstGeom prst="rect">
            <a:avLst/>
          </a:prstGeom>
          <a:noFill/>
          <a:ln/>
        </p:spPr>
        <p:txBody>
          <a:bodyPr wrap="square" rtlCol="0" anchor="t"/>
          <a:lstStyle/>
          <a:p>
            <a:pPr marL="0" indent="0">
              <a:buNone/>
            </a:pPr>
            <a:r>
              <a:rPr lang="en-US" sz="1350" dirty="0">
                <a:solidFill>
                  <a:srgbClr val="0F172A"/>
                </a:solidFill>
              </a:rPr>
              <a:t>Dynamic analysis</a:t>
            </a:r>
            <a:endParaRPr lang="en-US" sz="1350" dirty="0"/>
          </a:p>
          <a:p>
            <a:pPr marL="0" indent="0">
              <a:buNone/>
            </a:pPr>
            <a:r>
              <a:rPr lang="en-US" sz="1350" dirty="0">
                <a:solidFill>
                  <a:srgbClr val="0F172A"/>
                </a:solidFill>
              </a:rPr>
              <a:t>Fuzzing</a:t>
            </a:r>
            <a:endParaRPr lang="en-US" sz="1350" dirty="0"/>
          </a:p>
          <a:p>
            <a:pPr marL="0" indent="0">
              <a:buNone/>
            </a:pPr>
            <a:r>
              <a:rPr lang="en-US" sz="1350" dirty="0">
                <a:solidFill>
                  <a:srgbClr val="0F172A"/>
                </a:solidFill>
              </a:rPr>
              <a:t>Device matrix</a:t>
            </a:r>
            <a:endParaRPr lang="en-US" sz="1350" dirty="0"/>
          </a:p>
          <a:p>
            <a:pPr marL="0" indent="0">
              <a:buNone/>
            </a:pPr>
            <a:r>
              <a:rPr lang="en-US" sz="1350" dirty="0">
                <a:solidFill>
                  <a:srgbClr val="0F172A"/>
                </a:solidFill>
              </a:rPr>
              <a:t>Security regression</a:t>
            </a:r>
            <a:endParaRPr lang="en-US" sz="1350" dirty="0"/>
          </a:p>
        </p:txBody>
      </p:sp>
      <p:sp>
        <p:nvSpPr>
          <p:cNvPr id="17" name="Shape 15"/>
          <p:cNvSpPr/>
          <p:nvPr/>
        </p:nvSpPr>
        <p:spPr>
          <a:xfrm>
            <a:off x="7406640" y="1463040"/>
            <a:ext cx="2057400" cy="4389120"/>
          </a:xfrm>
          <a:prstGeom prst="roundRect">
            <a:avLst>
              <a:gd name="adj" fmla="val 3556"/>
            </a:avLst>
          </a:prstGeom>
          <a:solidFill>
            <a:srgbClr val="FFFFFF"/>
          </a:solidFill>
          <a:ln w="12700">
            <a:solidFill>
              <a:srgbClr val="C98B00"/>
            </a:solidFill>
            <a:prstDash val="solid"/>
          </a:ln>
          <a:effectLst>
            <a:outerShdw blurRad="12700" dist="12700" dir="2700000" algn="bl" rotWithShape="0">
              <a:srgbClr val="000000">
                <a:alpha val="12000"/>
              </a:srgbClr>
            </a:outerShdw>
          </a:effectLst>
        </p:spPr>
      </p:sp>
      <p:sp>
        <p:nvSpPr>
          <p:cNvPr id="18" name="Shape 16"/>
          <p:cNvSpPr/>
          <p:nvPr/>
        </p:nvSpPr>
        <p:spPr>
          <a:xfrm>
            <a:off x="7406640" y="1463040"/>
            <a:ext cx="2057400" cy="347472"/>
          </a:xfrm>
          <a:prstGeom prst="rect">
            <a:avLst/>
          </a:prstGeom>
          <a:solidFill>
            <a:srgbClr val="C98B00"/>
          </a:solidFill>
          <a:ln w="12700">
            <a:solidFill>
              <a:srgbClr val="C98B00"/>
            </a:solidFill>
            <a:prstDash val="solid"/>
          </a:ln>
        </p:spPr>
      </p:sp>
      <p:sp>
        <p:nvSpPr>
          <p:cNvPr id="19" name="Text 17"/>
          <p:cNvSpPr/>
          <p:nvPr/>
        </p:nvSpPr>
        <p:spPr>
          <a:xfrm>
            <a:off x="7516368" y="1527048"/>
            <a:ext cx="1837944" cy="182880"/>
          </a:xfrm>
          <a:prstGeom prst="rect">
            <a:avLst/>
          </a:prstGeom>
          <a:noFill/>
          <a:ln/>
        </p:spPr>
        <p:txBody>
          <a:bodyPr wrap="square" rtlCol="0" anchor="ctr"/>
          <a:lstStyle/>
          <a:p>
            <a:pPr marL="0" indent="0">
              <a:buNone/>
            </a:pPr>
            <a:r>
              <a:rPr lang="en-US" sz="1600" b="1" dirty="0">
                <a:solidFill>
                  <a:srgbClr val="FFFFFF"/>
                </a:solidFill>
              </a:rPr>
              <a:t>4. Release</a:t>
            </a:r>
            <a:endParaRPr lang="en-US" sz="1600" dirty="0"/>
          </a:p>
        </p:txBody>
      </p:sp>
      <p:sp>
        <p:nvSpPr>
          <p:cNvPr id="20" name="Text 18"/>
          <p:cNvSpPr/>
          <p:nvPr/>
        </p:nvSpPr>
        <p:spPr>
          <a:xfrm>
            <a:off x="7552944" y="1920240"/>
            <a:ext cx="1764792" cy="3840480"/>
          </a:xfrm>
          <a:prstGeom prst="rect">
            <a:avLst/>
          </a:prstGeom>
          <a:noFill/>
          <a:ln/>
        </p:spPr>
        <p:txBody>
          <a:bodyPr wrap="square" rtlCol="0" anchor="t"/>
          <a:lstStyle/>
          <a:p>
            <a:pPr marL="0" indent="0">
              <a:buNone/>
            </a:pPr>
            <a:r>
              <a:rPr lang="en-US" sz="1350" dirty="0">
                <a:solidFill>
                  <a:srgbClr val="0F172A"/>
                </a:solidFill>
              </a:rPr>
              <a:t>Store policies</a:t>
            </a:r>
            <a:endParaRPr lang="en-US" sz="1350" dirty="0"/>
          </a:p>
          <a:p>
            <a:pPr marL="0" indent="0">
              <a:buNone/>
            </a:pPr>
            <a:r>
              <a:rPr lang="en-US" sz="1350" dirty="0">
                <a:solidFill>
                  <a:srgbClr val="0F172A"/>
                </a:solidFill>
              </a:rPr>
              <a:t>Rollout controls</a:t>
            </a:r>
            <a:endParaRPr lang="en-US" sz="1350" dirty="0"/>
          </a:p>
          <a:p>
            <a:pPr marL="0" indent="0">
              <a:buNone/>
            </a:pPr>
            <a:r>
              <a:rPr lang="en-US" sz="1350" dirty="0">
                <a:solidFill>
                  <a:srgbClr val="0F172A"/>
                </a:solidFill>
              </a:rPr>
              <a:t>Runtime monitoring</a:t>
            </a:r>
            <a:endParaRPr lang="en-US" sz="1350" dirty="0"/>
          </a:p>
          <a:p>
            <a:pPr marL="0" indent="0">
              <a:buNone/>
            </a:pPr>
            <a:r>
              <a:rPr lang="en-US" sz="1350" dirty="0">
                <a:solidFill>
                  <a:srgbClr val="0F172A"/>
                </a:solidFill>
              </a:rPr>
              <a:t>Incident response</a:t>
            </a:r>
            <a:endParaRPr lang="en-US" sz="1350" dirty="0"/>
          </a:p>
        </p:txBody>
      </p:sp>
      <p:sp>
        <p:nvSpPr>
          <p:cNvPr id="21" name="Shape 19"/>
          <p:cNvSpPr/>
          <p:nvPr/>
        </p:nvSpPr>
        <p:spPr>
          <a:xfrm>
            <a:off x="9646920" y="1463040"/>
            <a:ext cx="1920240" cy="4389120"/>
          </a:xfrm>
          <a:prstGeom prst="roundRect">
            <a:avLst>
              <a:gd name="adj" fmla="val 3810"/>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22" name="Shape 20"/>
          <p:cNvSpPr/>
          <p:nvPr/>
        </p:nvSpPr>
        <p:spPr>
          <a:xfrm>
            <a:off x="9646920" y="1463040"/>
            <a:ext cx="1920240" cy="347472"/>
          </a:xfrm>
          <a:prstGeom prst="rect">
            <a:avLst/>
          </a:prstGeom>
          <a:solidFill>
            <a:srgbClr val="C13B2A"/>
          </a:solidFill>
          <a:ln w="12700">
            <a:solidFill>
              <a:srgbClr val="C13B2A"/>
            </a:solidFill>
            <a:prstDash val="solid"/>
          </a:ln>
        </p:spPr>
      </p:sp>
      <p:sp>
        <p:nvSpPr>
          <p:cNvPr id="23" name="Text 21"/>
          <p:cNvSpPr/>
          <p:nvPr/>
        </p:nvSpPr>
        <p:spPr>
          <a:xfrm>
            <a:off x="9756648" y="1527048"/>
            <a:ext cx="1700784" cy="182880"/>
          </a:xfrm>
          <a:prstGeom prst="rect">
            <a:avLst/>
          </a:prstGeom>
          <a:noFill/>
          <a:ln/>
        </p:spPr>
        <p:txBody>
          <a:bodyPr wrap="square" rtlCol="0" anchor="ctr"/>
          <a:lstStyle/>
          <a:p>
            <a:pPr marL="0" indent="0">
              <a:buNone/>
            </a:pPr>
            <a:r>
              <a:rPr lang="en-US" sz="1600" b="1" dirty="0">
                <a:solidFill>
                  <a:srgbClr val="FFFFFF"/>
                </a:solidFill>
              </a:rPr>
              <a:t>5. Operate</a:t>
            </a:r>
            <a:endParaRPr lang="en-US" sz="1600" dirty="0"/>
          </a:p>
        </p:txBody>
      </p:sp>
      <p:sp>
        <p:nvSpPr>
          <p:cNvPr id="24" name="Text 22"/>
          <p:cNvSpPr/>
          <p:nvPr/>
        </p:nvSpPr>
        <p:spPr>
          <a:xfrm>
            <a:off x="9793224" y="1920240"/>
            <a:ext cx="1627632" cy="3840480"/>
          </a:xfrm>
          <a:prstGeom prst="rect">
            <a:avLst/>
          </a:prstGeom>
          <a:noFill/>
          <a:ln/>
        </p:spPr>
        <p:txBody>
          <a:bodyPr wrap="square" rtlCol="0" anchor="t"/>
          <a:lstStyle/>
          <a:p>
            <a:pPr marL="0" indent="0">
              <a:buNone/>
            </a:pPr>
            <a:r>
              <a:rPr lang="en-US" sz="1350" dirty="0">
                <a:solidFill>
                  <a:srgbClr val="0F172A"/>
                </a:solidFill>
              </a:rPr>
              <a:t>Telemetry</a:t>
            </a:r>
            <a:endParaRPr lang="en-US" sz="1350" dirty="0"/>
          </a:p>
          <a:p>
            <a:pPr marL="0" indent="0">
              <a:buNone/>
            </a:pPr>
            <a:r>
              <a:rPr lang="en-US" sz="1350" dirty="0">
                <a:solidFill>
                  <a:srgbClr val="0F172A"/>
                </a:solidFill>
              </a:rPr>
              <a:t>Revocation</a:t>
            </a:r>
            <a:endParaRPr lang="en-US" sz="1350" dirty="0"/>
          </a:p>
          <a:p>
            <a:pPr marL="0" indent="0">
              <a:buNone/>
            </a:pPr>
            <a:r>
              <a:rPr lang="en-US" sz="1350" dirty="0">
                <a:solidFill>
                  <a:srgbClr val="0F172A"/>
                </a:solidFill>
              </a:rPr>
              <a:t>Kill switches</a:t>
            </a:r>
            <a:endParaRPr lang="en-US" sz="1350" dirty="0"/>
          </a:p>
          <a:p>
            <a:pPr marL="0" indent="0">
              <a:buNone/>
            </a:pPr>
            <a:r>
              <a:rPr lang="en-US" sz="1350" dirty="0">
                <a:solidFill>
                  <a:srgbClr val="0F172A"/>
                </a:solidFill>
              </a:rPr>
              <a:t>Forensics support</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Edge computing and mobile offloading</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The right execution location depends on latency, privacy, bandwidth, and energy trade-offs</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Shape 3"/>
          <p:cNvSpPr/>
          <p:nvPr/>
        </p:nvSpPr>
        <p:spPr>
          <a:xfrm>
            <a:off x="685800" y="1417320"/>
            <a:ext cx="5394960" cy="4526280"/>
          </a:xfrm>
          <a:prstGeom prst="roundRect">
            <a:avLst>
              <a:gd name="adj" fmla="val 1616"/>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5394960" cy="347472"/>
          </a:xfrm>
          <a:prstGeom prst="rect">
            <a:avLst/>
          </a:prstGeom>
          <a:solidFill>
            <a:srgbClr val="2864DC"/>
          </a:solidFill>
          <a:ln w="12700">
            <a:solidFill>
              <a:srgbClr val="2864DC"/>
            </a:solidFill>
            <a:prstDash val="solid"/>
          </a:ln>
        </p:spPr>
      </p:sp>
      <p:sp>
        <p:nvSpPr>
          <p:cNvPr id="7" name="Text 5"/>
          <p:cNvSpPr/>
          <p:nvPr/>
        </p:nvSpPr>
        <p:spPr>
          <a:xfrm>
            <a:off x="795528" y="1481328"/>
            <a:ext cx="5175504" cy="182880"/>
          </a:xfrm>
          <a:prstGeom prst="rect">
            <a:avLst/>
          </a:prstGeom>
          <a:noFill/>
          <a:ln/>
        </p:spPr>
        <p:txBody>
          <a:bodyPr wrap="square" rtlCol="0" anchor="ctr"/>
          <a:lstStyle/>
          <a:p>
            <a:pPr marL="0" indent="0">
              <a:buNone/>
            </a:pPr>
            <a:r>
              <a:rPr lang="en-US" sz="1600" b="1" dirty="0">
                <a:solidFill>
                  <a:srgbClr val="FFFFFF"/>
                </a:solidFill>
              </a:rPr>
              <a:t>Why offload?</a:t>
            </a:r>
            <a:endParaRPr lang="en-US" sz="1600" dirty="0"/>
          </a:p>
        </p:txBody>
      </p:sp>
      <p:sp>
        <p:nvSpPr>
          <p:cNvPr id="8" name="Text 6"/>
          <p:cNvSpPr/>
          <p:nvPr/>
        </p:nvSpPr>
        <p:spPr>
          <a:xfrm>
            <a:off x="832104" y="1874520"/>
            <a:ext cx="5102352" cy="3977640"/>
          </a:xfrm>
          <a:prstGeom prst="rect">
            <a:avLst/>
          </a:prstGeom>
          <a:noFill/>
          <a:ln/>
        </p:spPr>
        <p:txBody>
          <a:bodyPr wrap="square" rtlCol="0" anchor="t"/>
          <a:lstStyle/>
          <a:p>
            <a:pPr marL="0" indent="0">
              <a:buNone/>
            </a:pPr>
            <a:r>
              <a:rPr lang="en-US" sz="1350" dirty="0">
                <a:solidFill>
                  <a:srgbClr val="0F172A"/>
                </a:solidFill>
              </a:rPr>
              <a:t>Offloading can reduce on-device compute burden, support heavier AI or rendering workloads, and shorten response times when an edge node is physically and topologically close to the user.</a:t>
            </a:r>
            <a:endParaRPr lang="en-US" sz="1350" dirty="0"/>
          </a:p>
        </p:txBody>
      </p:sp>
      <p:sp>
        <p:nvSpPr>
          <p:cNvPr id="9" name="Shape 7"/>
          <p:cNvSpPr/>
          <p:nvPr/>
        </p:nvSpPr>
        <p:spPr>
          <a:xfrm>
            <a:off x="6309360" y="1417320"/>
            <a:ext cx="5212080" cy="4526280"/>
          </a:xfrm>
          <a:prstGeom prst="roundRect">
            <a:avLst>
              <a:gd name="adj" fmla="val 1616"/>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10" name="Shape 8"/>
          <p:cNvSpPr/>
          <p:nvPr/>
        </p:nvSpPr>
        <p:spPr>
          <a:xfrm>
            <a:off x="6309360" y="1417320"/>
            <a:ext cx="5212080" cy="347472"/>
          </a:xfrm>
          <a:prstGeom prst="rect">
            <a:avLst/>
          </a:prstGeom>
          <a:solidFill>
            <a:srgbClr val="0D9488"/>
          </a:solidFill>
          <a:ln w="12700">
            <a:solidFill>
              <a:srgbClr val="0D9488"/>
            </a:solidFill>
            <a:prstDash val="solid"/>
          </a:ln>
        </p:spPr>
      </p:sp>
      <p:sp>
        <p:nvSpPr>
          <p:cNvPr id="11" name="Text 9"/>
          <p:cNvSpPr/>
          <p:nvPr/>
        </p:nvSpPr>
        <p:spPr>
          <a:xfrm>
            <a:off x="6419088" y="1481328"/>
            <a:ext cx="4992624" cy="182880"/>
          </a:xfrm>
          <a:prstGeom prst="rect">
            <a:avLst/>
          </a:prstGeom>
          <a:noFill/>
          <a:ln/>
        </p:spPr>
        <p:txBody>
          <a:bodyPr wrap="square" rtlCol="0" anchor="ctr"/>
          <a:lstStyle/>
          <a:p>
            <a:pPr marL="0" indent="0">
              <a:buNone/>
            </a:pPr>
            <a:r>
              <a:rPr lang="en-US" sz="1600" b="1" dirty="0">
                <a:solidFill>
                  <a:srgbClr val="FFFFFF"/>
                </a:solidFill>
              </a:rPr>
              <a:t>Why keep work on-device?</a:t>
            </a:r>
            <a:endParaRPr lang="en-US" sz="1600" dirty="0"/>
          </a:p>
        </p:txBody>
      </p:sp>
      <p:sp>
        <p:nvSpPr>
          <p:cNvPr id="12" name="Text 10"/>
          <p:cNvSpPr/>
          <p:nvPr/>
        </p:nvSpPr>
        <p:spPr>
          <a:xfrm>
            <a:off x="6455664" y="1874520"/>
            <a:ext cx="4919472" cy="3977640"/>
          </a:xfrm>
          <a:prstGeom prst="rect">
            <a:avLst/>
          </a:prstGeom>
          <a:noFill/>
          <a:ln/>
        </p:spPr>
        <p:txBody>
          <a:bodyPr wrap="square" rtlCol="0" anchor="t"/>
          <a:lstStyle/>
          <a:p>
            <a:pPr marL="0" indent="0">
              <a:buNone/>
            </a:pPr>
            <a:r>
              <a:rPr lang="en-US" sz="1350" dirty="0">
                <a:solidFill>
                  <a:srgbClr val="0F172A"/>
                </a:solidFill>
              </a:rPr>
              <a:t>On-device execution can preserve privacy, reduce uplink dependence, continue offline, and avoid round-trip variability. Many modern systems mix both paths dynamically.</a:t>
            </a:r>
            <a:endParaRPr lang="en-US" sz="1350" dirty="0"/>
          </a:p>
        </p:txBody>
      </p:sp>
      <p:sp>
        <p:nvSpPr>
          <p:cNvPr id="13" name="Shape 11"/>
          <p:cNvSpPr/>
          <p:nvPr/>
        </p:nvSpPr>
        <p:spPr>
          <a:xfrm>
            <a:off x="914400" y="5281954"/>
            <a:ext cx="10789920" cy="658368"/>
          </a:xfrm>
          <a:prstGeom prst="roundRect">
            <a:avLst>
              <a:gd name="adj" fmla="val 11111"/>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14" name="Shape 12"/>
          <p:cNvSpPr/>
          <p:nvPr/>
        </p:nvSpPr>
        <p:spPr>
          <a:xfrm>
            <a:off x="862586" y="4919473"/>
            <a:ext cx="10841734" cy="347472"/>
          </a:xfrm>
          <a:prstGeom prst="rect">
            <a:avLst/>
          </a:prstGeom>
          <a:solidFill>
            <a:srgbClr val="2864DC"/>
          </a:solidFill>
          <a:ln w="12700">
            <a:solidFill>
              <a:srgbClr val="2864DC"/>
            </a:solidFill>
            <a:prstDash val="solid"/>
          </a:ln>
        </p:spPr>
      </p:sp>
      <p:sp>
        <p:nvSpPr>
          <p:cNvPr id="15" name="Text 13"/>
          <p:cNvSpPr/>
          <p:nvPr/>
        </p:nvSpPr>
        <p:spPr>
          <a:xfrm>
            <a:off x="978408" y="5550408"/>
            <a:ext cx="10570464" cy="182880"/>
          </a:xfrm>
          <a:prstGeom prst="rect">
            <a:avLst/>
          </a:prstGeom>
          <a:noFill/>
          <a:ln/>
        </p:spPr>
        <p:txBody>
          <a:bodyPr wrap="square" rtlCol="0" anchor="ctr"/>
          <a:lstStyle/>
          <a:p>
            <a:pPr marL="0" indent="0">
              <a:buNone/>
            </a:pPr>
            <a:r>
              <a:rPr lang="en-US" sz="1600" b="1" dirty="0">
                <a:solidFill>
                  <a:srgbClr val="FFFFFF"/>
                </a:solidFill>
              </a:rPr>
              <a:t>Master-level framing</a:t>
            </a:r>
            <a:endParaRPr lang="en-US" sz="1600" dirty="0"/>
          </a:p>
        </p:txBody>
      </p:sp>
      <p:sp>
        <p:nvSpPr>
          <p:cNvPr id="16" name="Text 14"/>
          <p:cNvSpPr/>
          <p:nvPr/>
        </p:nvSpPr>
        <p:spPr>
          <a:xfrm>
            <a:off x="1060704" y="5451766"/>
            <a:ext cx="10497312" cy="109728"/>
          </a:xfrm>
          <a:prstGeom prst="rect">
            <a:avLst/>
          </a:prstGeom>
          <a:noFill/>
          <a:ln/>
        </p:spPr>
        <p:txBody>
          <a:bodyPr wrap="square" rtlCol="0" anchor="t"/>
          <a:lstStyle/>
          <a:p>
            <a:pPr marL="0" indent="0">
              <a:buNone/>
            </a:pPr>
            <a:r>
              <a:rPr lang="en-US" sz="1350" dirty="0">
                <a:solidFill>
                  <a:srgbClr val="0F172A"/>
                </a:solidFill>
              </a:rPr>
              <a:t>This is an online optimization problem under uncertainty: choose execution placement based on context and service-level objectives.</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On-device AI in mobile systems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Mobile AI is constrained inference, adaptive sensing, and user-specific personalization at the edge of the system</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417320"/>
            <a:ext cx="6492240" cy="4572000"/>
          </a:xfrm>
          <a:prstGeom prst="rect">
            <a:avLst/>
          </a:prstGeom>
          <a:noFill/>
          <a:ln/>
        </p:spPr>
        <p:txBody>
          <a:bodyPr wrap="square" rtlCol="0" anchor="t"/>
          <a:lstStyle/>
          <a:p>
            <a:pPr marL="177800" indent="-177800">
              <a:buSzPct val="100000"/>
              <a:buChar char="•"/>
            </a:pPr>
            <a:r>
              <a:rPr lang="en-US" sz="1800" dirty="0">
                <a:solidFill>
                  <a:srgbClr val="0F172A"/>
                </a:solidFill>
              </a:rPr>
              <a:t>On-device models enable low-latency inference for vision, speech, ranking, summarization, anomaly detection, and personalization.</a:t>
            </a:r>
            <a:endParaRPr lang="en-US" sz="1800" dirty="0"/>
          </a:p>
          <a:p>
            <a:pPr marL="177800" indent="-177800">
              <a:buSzPct val="100000"/>
              <a:buChar char="•"/>
            </a:pPr>
            <a:r>
              <a:rPr lang="en-US" sz="1800" dirty="0">
                <a:solidFill>
                  <a:srgbClr val="0F172A"/>
                </a:solidFill>
              </a:rPr>
              <a:t>Apple states Core ML is optimized for on-device performance using device compute engines while minimizing memory footprint and power consumption.</a:t>
            </a:r>
            <a:endParaRPr lang="en-US" sz="1800" dirty="0"/>
          </a:p>
          <a:p>
            <a:pPr marL="177800" indent="-177800">
              <a:buSzPct val="100000"/>
              <a:buChar char="•"/>
            </a:pPr>
            <a:r>
              <a:rPr lang="en-US" sz="1800" dirty="0">
                <a:solidFill>
                  <a:srgbClr val="0F172A"/>
                </a:solidFill>
              </a:rPr>
              <a:t>The key constraints are model size, quantization quality, thermal envelope, memory bandwidth, and privacy-sensitive training data.</a:t>
            </a:r>
            <a:endParaRPr lang="en-US" sz="1800" dirty="0"/>
          </a:p>
          <a:p>
            <a:pPr marL="177800" indent="-177800">
              <a:buSzPct val="100000"/>
              <a:buChar char="•"/>
            </a:pPr>
            <a:r>
              <a:rPr lang="en-US" sz="1800" dirty="0">
                <a:solidFill>
                  <a:srgbClr val="0F172A"/>
                </a:solidFill>
              </a:rPr>
              <a:t>Hybrid pipelines are common: light on-device filtering + edge/cloud reranking or large-model fallback.</a:t>
            </a:r>
            <a:endParaRPr lang="en-US" sz="1800" dirty="0"/>
          </a:p>
        </p:txBody>
      </p:sp>
      <p:sp>
        <p:nvSpPr>
          <p:cNvPr id="6" name="Shape 4"/>
          <p:cNvSpPr/>
          <p:nvPr/>
        </p:nvSpPr>
        <p:spPr>
          <a:xfrm>
            <a:off x="7543800" y="1554480"/>
            <a:ext cx="3703320" cy="3840480"/>
          </a:xfrm>
          <a:prstGeom prst="roundRect">
            <a:avLst>
              <a:gd name="adj" fmla="val 1975"/>
            </a:avLst>
          </a:prstGeom>
          <a:solidFill>
            <a:srgbClr val="FFFFFF"/>
          </a:solidFill>
          <a:ln w="12700">
            <a:solidFill>
              <a:srgbClr val="0D9488"/>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703320" cy="347472"/>
          </a:xfrm>
          <a:prstGeom prst="rect">
            <a:avLst/>
          </a:prstGeom>
          <a:solidFill>
            <a:srgbClr val="0D9488"/>
          </a:solidFill>
          <a:ln w="12700">
            <a:solidFill>
              <a:srgbClr val="0D9488"/>
            </a:solidFill>
            <a:prstDash val="solid"/>
          </a:ln>
        </p:spPr>
      </p:sp>
      <p:sp>
        <p:nvSpPr>
          <p:cNvPr id="8" name="Text 6"/>
          <p:cNvSpPr/>
          <p:nvPr/>
        </p:nvSpPr>
        <p:spPr>
          <a:xfrm>
            <a:off x="7653528" y="1618488"/>
            <a:ext cx="3483864" cy="182880"/>
          </a:xfrm>
          <a:prstGeom prst="rect">
            <a:avLst/>
          </a:prstGeom>
          <a:noFill/>
          <a:ln/>
        </p:spPr>
        <p:txBody>
          <a:bodyPr wrap="square" rtlCol="0" anchor="ctr"/>
          <a:lstStyle/>
          <a:p>
            <a:pPr marL="0" indent="0">
              <a:buNone/>
            </a:pPr>
            <a:r>
              <a:rPr lang="en-US" sz="1600" b="1" dirty="0">
                <a:solidFill>
                  <a:srgbClr val="FFFFFF"/>
                </a:solidFill>
              </a:rPr>
              <a:t>Open question</a:t>
            </a:r>
            <a:endParaRPr lang="en-US" sz="1600" dirty="0"/>
          </a:p>
        </p:txBody>
      </p:sp>
      <p:sp>
        <p:nvSpPr>
          <p:cNvPr id="9" name="Text 7"/>
          <p:cNvSpPr/>
          <p:nvPr/>
        </p:nvSpPr>
        <p:spPr>
          <a:xfrm>
            <a:off x="7690104" y="2011680"/>
            <a:ext cx="3410712" cy="3291840"/>
          </a:xfrm>
          <a:prstGeom prst="rect">
            <a:avLst/>
          </a:prstGeom>
          <a:noFill/>
          <a:ln/>
        </p:spPr>
        <p:txBody>
          <a:bodyPr wrap="square" rtlCol="0" anchor="t"/>
          <a:lstStyle/>
          <a:p>
            <a:pPr marL="0" indent="0">
              <a:buNone/>
            </a:pPr>
            <a:r>
              <a:rPr lang="en-US" sz="1600" dirty="0">
                <a:solidFill>
                  <a:srgbClr val="0F172A"/>
                </a:solidFill>
              </a:rPr>
              <a:t>How should we partition models and prompts across device, edge, and cloud to optimize cost, latency, and privacy simultaneously?</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Case study mini-analysis — Designing a mobile emergency response app</a:t>
            </a:r>
            <a:endParaRPr lang="en-US" sz="2400" dirty="0"/>
          </a:p>
        </p:txBody>
      </p:sp>
      <p:sp>
        <p:nvSpPr>
          <p:cNvPr id="3" name="Text 1"/>
          <p:cNvSpPr/>
          <p:nvPr/>
        </p:nvSpPr>
        <p:spPr>
          <a:xfrm>
            <a:off x="502920" y="945800"/>
            <a:ext cx="9875520" cy="256032"/>
          </a:xfrm>
          <a:prstGeom prst="rect">
            <a:avLst/>
          </a:prstGeom>
          <a:noFill/>
          <a:ln/>
        </p:spPr>
        <p:txBody>
          <a:bodyPr wrap="square" rtlCol="0" anchor="ctr"/>
          <a:lstStyle/>
          <a:p>
            <a:pPr marL="0" indent="0">
              <a:buNone/>
            </a:pPr>
            <a:r>
              <a:rPr lang="en-US" sz="1050" i="1" dirty="0">
                <a:solidFill>
                  <a:srgbClr val="44556B"/>
                </a:solidFill>
              </a:rPr>
              <a:t>How the theory translates into systems choices</a:t>
            </a:r>
            <a:endParaRPr lang="en-US" sz="1050" dirty="0"/>
          </a:p>
        </p:txBody>
      </p:sp>
      <p:sp>
        <p:nvSpPr>
          <p:cNvPr id="4" name="Shape 2"/>
          <p:cNvSpPr/>
          <p:nvPr/>
        </p:nvSpPr>
        <p:spPr>
          <a:xfrm>
            <a:off x="502920" y="1201832"/>
            <a:ext cx="10972800" cy="0"/>
          </a:xfrm>
          <a:prstGeom prst="line">
            <a:avLst/>
          </a:prstGeom>
          <a:noFill/>
          <a:ln w="12700">
            <a:solidFill>
              <a:srgbClr val="B8C7DD"/>
            </a:solidFill>
            <a:prstDash val="solid"/>
          </a:ln>
        </p:spPr>
      </p:sp>
      <p:sp>
        <p:nvSpPr>
          <p:cNvPr id="5" name="Shape 3"/>
          <p:cNvSpPr/>
          <p:nvPr/>
        </p:nvSpPr>
        <p:spPr>
          <a:xfrm>
            <a:off x="685800" y="1417320"/>
            <a:ext cx="3429000" cy="4526280"/>
          </a:xfrm>
          <a:prstGeom prst="roundRect">
            <a:avLst>
              <a:gd name="adj" fmla="val 2133"/>
            </a:avLst>
          </a:prstGeom>
          <a:solidFill>
            <a:srgbClr val="FFFFFF"/>
          </a:solidFill>
          <a:ln w="12700">
            <a:solidFill>
              <a:srgbClr val="C13B2A"/>
            </a:solidFill>
            <a:prstDash val="solid"/>
          </a:ln>
          <a:effectLst>
            <a:outerShdw blurRad="12700" dist="12700" dir="2700000" algn="bl" rotWithShape="0">
              <a:srgbClr val="000000">
                <a:alpha val="12000"/>
              </a:srgbClr>
            </a:outerShdw>
          </a:effectLst>
        </p:spPr>
      </p:sp>
      <p:sp>
        <p:nvSpPr>
          <p:cNvPr id="6" name="Shape 4"/>
          <p:cNvSpPr/>
          <p:nvPr/>
        </p:nvSpPr>
        <p:spPr>
          <a:xfrm>
            <a:off x="685800" y="1417320"/>
            <a:ext cx="3429000" cy="347472"/>
          </a:xfrm>
          <a:prstGeom prst="rect">
            <a:avLst/>
          </a:prstGeom>
          <a:solidFill>
            <a:srgbClr val="C13B2A"/>
          </a:solidFill>
          <a:ln w="12700">
            <a:solidFill>
              <a:srgbClr val="C13B2A"/>
            </a:solidFill>
            <a:prstDash val="solid"/>
          </a:ln>
        </p:spPr>
      </p:sp>
      <p:sp>
        <p:nvSpPr>
          <p:cNvPr id="7" name="Text 5"/>
          <p:cNvSpPr/>
          <p:nvPr/>
        </p:nvSpPr>
        <p:spPr>
          <a:xfrm>
            <a:off x="795528" y="1481328"/>
            <a:ext cx="3209544" cy="182880"/>
          </a:xfrm>
          <a:prstGeom prst="rect">
            <a:avLst/>
          </a:prstGeom>
          <a:noFill/>
          <a:ln/>
        </p:spPr>
        <p:txBody>
          <a:bodyPr wrap="square" rtlCol="0" anchor="ctr"/>
          <a:lstStyle/>
          <a:p>
            <a:pPr marL="0" indent="0">
              <a:buNone/>
            </a:pPr>
            <a:r>
              <a:rPr lang="en-US" sz="1600" b="1" dirty="0">
                <a:solidFill>
                  <a:srgbClr val="FFFFFF"/>
                </a:solidFill>
              </a:rPr>
              <a:t>Requirements</a:t>
            </a:r>
            <a:endParaRPr lang="en-US" sz="1600" dirty="0"/>
          </a:p>
        </p:txBody>
      </p:sp>
      <p:sp>
        <p:nvSpPr>
          <p:cNvPr id="8" name="Text 6"/>
          <p:cNvSpPr/>
          <p:nvPr/>
        </p:nvSpPr>
        <p:spPr>
          <a:xfrm>
            <a:off x="832104" y="1874520"/>
            <a:ext cx="3136392" cy="3977640"/>
          </a:xfrm>
          <a:prstGeom prst="rect">
            <a:avLst/>
          </a:prstGeom>
          <a:noFill/>
          <a:ln/>
        </p:spPr>
        <p:txBody>
          <a:bodyPr wrap="square" rtlCol="0" anchor="t"/>
          <a:lstStyle/>
          <a:p>
            <a:pPr marL="0" indent="0">
              <a:buNone/>
            </a:pPr>
            <a:r>
              <a:rPr lang="en-US" sz="1350" dirty="0">
                <a:solidFill>
                  <a:srgbClr val="0F172A"/>
                </a:solidFill>
              </a:rPr>
              <a:t>Fast launch</a:t>
            </a:r>
            <a:endParaRPr lang="en-US" sz="1350" dirty="0"/>
          </a:p>
          <a:p>
            <a:pPr marL="0" indent="0">
              <a:buNone/>
            </a:pPr>
            <a:r>
              <a:rPr lang="en-US" sz="1350" dirty="0">
                <a:solidFill>
                  <a:srgbClr val="0F172A"/>
                </a:solidFill>
              </a:rPr>
              <a:t>Location accuracy under movement</a:t>
            </a:r>
            <a:endParaRPr lang="en-US" sz="1350" dirty="0"/>
          </a:p>
          <a:p>
            <a:pPr marL="0" indent="0">
              <a:buNone/>
            </a:pPr>
            <a:r>
              <a:rPr lang="en-US" sz="1350" dirty="0">
                <a:solidFill>
                  <a:srgbClr val="0F172A"/>
                </a:solidFill>
              </a:rPr>
              <a:t>Offline/poor-network operation</a:t>
            </a:r>
            <a:endParaRPr lang="en-US" sz="1350" dirty="0"/>
          </a:p>
          <a:p>
            <a:pPr marL="0" indent="0">
              <a:buNone/>
            </a:pPr>
            <a:r>
              <a:rPr lang="en-US" sz="1350" dirty="0">
                <a:solidFill>
                  <a:srgbClr val="0F172A"/>
                </a:solidFill>
              </a:rPr>
              <a:t>Battery tolerance for long shifts</a:t>
            </a:r>
            <a:endParaRPr lang="en-US" sz="1350" dirty="0"/>
          </a:p>
          <a:p>
            <a:pPr marL="0" indent="0">
              <a:buNone/>
            </a:pPr>
            <a:r>
              <a:rPr lang="en-US" sz="1350" dirty="0">
                <a:solidFill>
                  <a:srgbClr val="0F172A"/>
                </a:solidFill>
              </a:rPr>
              <a:t>Auditability</a:t>
            </a:r>
            <a:endParaRPr lang="en-US" sz="1350" dirty="0"/>
          </a:p>
          <a:p>
            <a:pPr marL="0" indent="0">
              <a:buNone/>
            </a:pPr>
            <a:r>
              <a:rPr lang="en-US" sz="1350" dirty="0">
                <a:solidFill>
                  <a:srgbClr val="0F172A"/>
                </a:solidFill>
              </a:rPr>
              <a:t>Privacy-preserving handling of patient/incident data</a:t>
            </a:r>
            <a:endParaRPr lang="en-US" sz="1350" dirty="0"/>
          </a:p>
        </p:txBody>
      </p:sp>
      <p:sp>
        <p:nvSpPr>
          <p:cNvPr id="9" name="Shape 7"/>
          <p:cNvSpPr/>
          <p:nvPr/>
        </p:nvSpPr>
        <p:spPr>
          <a:xfrm>
            <a:off x="4370832" y="1417320"/>
            <a:ext cx="3429000" cy="4526280"/>
          </a:xfrm>
          <a:prstGeom prst="roundRect">
            <a:avLst>
              <a:gd name="adj" fmla="val 2133"/>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10" name="Shape 8"/>
          <p:cNvSpPr/>
          <p:nvPr/>
        </p:nvSpPr>
        <p:spPr>
          <a:xfrm>
            <a:off x="4370832" y="1417320"/>
            <a:ext cx="3429000" cy="347472"/>
          </a:xfrm>
          <a:prstGeom prst="rect">
            <a:avLst/>
          </a:prstGeom>
          <a:solidFill>
            <a:srgbClr val="2864DC"/>
          </a:solidFill>
          <a:ln w="12700">
            <a:solidFill>
              <a:srgbClr val="2864DC"/>
            </a:solidFill>
            <a:prstDash val="solid"/>
          </a:ln>
        </p:spPr>
      </p:sp>
      <p:sp>
        <p:nvSpPr>
          <p:cNvPr id="11" name="Text 9"/>
          <p:cNvSpPr/>
          <p:nvPr/>
        </p:nvSpPr>
        <p:spPr>
          <a:xfrm>
            <a:off x="4480560" y="1481328"/>
            <a:ext cx="3209544" cy="182880"/>
          </a:xfrm>
          <a:prstGeom prst="rect">
            <a:avLst/>
          </a:prstGeom>
          <a:noFill/>
          <a:ln/>
        </p:spPr>
        <p:txBody>
          <a:bodyPr wrap="square" rtlCol="0" anchor="ctr"/>
          <a:lstStyle/>
          <a:p>
            <a:pPr marL="0" indent="0">
              <a:buNone/>
            </a:pPr>
            <a:r>
              <a:rPr lang="en-US" sz="1600" b="1" dirty="0">
                <a:solidFill>
                  <a:srgbClr val="FFFFFF"/>
                </a:solidFill>
              </a:rPr>
              <a:t>Architecture</a:t>
            </a:r>
            <a:endParaRPr lang="en-US" sz="1600" dirty="0"/>
          </a:p>
        </p:txBody>
      </p:sp>
      <p:sp>
        <p:nvSpPr>
          <p:cNvPr id="12" name="Text 10"/>
          <p:cNvSpPr/>
          <p:nvPr/>
        </p:nvSpPr>
        <p:spPr>
          <a:xfrm>
            <a:off x="4517136" y="1874520"/>
            <a:ext cx="3136392" cy="3977640"/>
          </a:xfrm>
          <a:prstGeom prst="rect">
            <a:avLst/>
          </a:prstGeom>
          <a:noFill/>
          <a:ln/>
        </p:spPr>
        <p:txBody>
          <a:bodyPr wrap="square" rtlCol="0" anchor="t"/>
          <a:lstStyle/>
          <a:p>
            <a:pPr marL="0" indent="0">
              <a:buNone/>
            </a:pPr>
            <a:r>
              <a:rPr lang="en-US" sz="1350" dirty="0">
                <a:solidFill>
                  <a:srgbClr val="0F172A"/>
                </a:solidFill>
              </a:rPr>
              <a:t>Local queue + encrypted cache</a:t>
            </a:r>
            <a:endParaRPr lang="en-US" sz="1350" dirty="0"/>
          </a:p>
          <a:p>
            <a:pPr marL="0" indent="0">
              <a:buNone/>
            </a:pPr>
            <a:r>
              <a:rPr lang="en-US" sz="1350" dirty="0">
                <a:solidFill>
                  <a:srgbClr val="0F172A"/>
                </a:solidFill>
              </a:rPr>
              <a:t>Push-triggered sync</a:t>
            </a:r>
            <a:endParaRPr lang="en-US" sz="1350" dirty="0"/>
          </a:p>
          <a:p>
            <a:pPr marL="0" indent="0">
              <a:buNone/>
            </a:pPr>
            <a:r>
              <a:rPr lang="en-US" sz="1350" dirty="0">
                <a:solidFill>
                  <a:srgbClr val="0F172A"/>
                </a:solidFill>
              </a:rPr>
              <a:t>Adaptive location sampling</a:t>
            </a:r>
            <a:endParaRPr lang="en-US" sz="1350" dirty="0"/>
          </a:p>
          <a:p>
            <a:pPr marL="0" indent="0">
              <a:buNone/>
            </a:pPr>
            <a:r>
              <a:rPr lang="en-US" sz="1350" dirty="0">
                <a:solidFill>
                  <a:srgbClr val="0F172A"/>
                </a:solidFill>
              </a:rPr>
              <a:t>Prioritized uplink payloads</a:t>
            </a:r>
            <a:endParaRPr lang="en-US" sz="1350" dirty="0"/>
          </a:p>
          <a:p>
            <a:pPr marL="0" indent="0">
              <a:buNone/>
            </a:pPr>
            <a:r>
              <a:rPr lang="en-US" sz="1350" dirty="0">
                <a:solidFill>
                  <a:srgbClr val="0F172A"/>
                </a:solidFill>
              </a:rPr>
              <a:t>Role-based auth</a:t>
            </a:r>
            <a:endParaRPr lang="en-US" sz="1350" dirty="0"/>
          </a:p>
          <a:p>
            <a:pPr marL="0" indent="0">
              <a:buNone/>
            </a:pPr>
            <a:r>
              <a:rPr lang="en-US" sz="1350" dirty="0">
                <a:solidFill>
                  <a:srgbClr val="0F172A"/>
                </a:solidFill>
              </a:rPr>
              <a:t>Fallback SMS/voice escalation paths</a:t>
            </a:r>
            <a:endParaRPr lang="en-US" sz="1350" dirty="0"/>
          </a:p>
        </p:txBody>
      </p:sp>
      <p:sp>
        <p:nvSpPr>
          <p:cNvPr id="13" name="Shape 11"/>
          <p:cNvSpPr/>
          <p:nvPr/>
        </p:nvSpPr>
        <p:spPr>
          <a:xfrm>
            <a:off x="8046720" y="1417320"/>
            <a:ext cx="3429000" cy="4526280"/>
          </a:xfrm>
          <a:prstGeom prst="roundRect">
            <a:avLst>
              <a:gd name="adj" fmla="val 2133"/>
            </a:avLst>
          </a:prstGeom>
          <a:solidFill>
            <a:srgbClr val="FFFFFF"/>
          </a:solidFill>
          <a:ln w="12700">
            <a:solidFill>
              <a:srgbClr val="1E8E5A"/>
            </a:solidFill>
            <a:prstDash val="solid"/>
          </a:ln>
          <a:effectLst>
            <a:outerShdw blurRad="12700" dist="12700" dir="2700000" algn="bl" rotWithShape="0">
              <a:srgbClr val="000000">
                <a:alpha val="12000"/>
              </a:srgbClr>
            </a:outerShdw>
          </a:effectLst>
        </p:spPr>
      </p:sp>
      <p:sp>
        <p:nvSpPr>
          <p:cNvPr id="14" name="Shape 12"/>
          <p:cNvSpPr/>
          <p:nvPr/>
        </p:nvSpPr>
        <p:spPr>
          <a:xfrm>
            <a:off x="8046720" y="1417320"/>
            <a:ext cx="3429000" cy="347472"/>
          </a:xfrm>
          <a:prstGeom prst="rect">
            <a:avLst/>
          </a:prstGeom>
          <a:solidFill>
            <a:srgbClr val="1E8E5A"/>
          </a:solidFill>
          <a:ln w="12700">
            <a:solidFill>
              <a:srgbClr val="1E8E5A"/>
            </a:solidFill>
            <a:prstDash val="solid"/>
          </a:ln>
        </p:spPr>
      </p:sp>
      <p:sp>
        <p:nvSpPr>
          <p:cNvPr id="15" name="Text 13"/>
          <p:cNvSpPr/>
          <p:nvPr/>
        </p:nvSpPr>
        <p:spPr>
          <a:xfrm>
            <a:off x="8156448" y="1481328"/>
            <a:ext cx="3209544" cy="182880"/>
          </a:xfrm>
          <a:prstGeom prst="rect">
            <a:avLst/>
          </a:prstGeom>
          <a:noFill/>
          <a:ln/>
        </p:spPr>
        <p:txBody>
          <a:bodyPr wrap="square" rtlCol="0" anchor="ctr"/>
          <a:lstStyle/>
          <a:p>
            <a:pPr marL="0" indent="0">
              <a:buNone/>
            </a:pPr>
            <a:r>
              <a:rPr lang="en-US" sz="1600" b="1" dirty="0">
                <a:solidFill>
                  <a:srgbClr val="FFFFFF"/>
                </a:solidFill>
              </a:rPr>
              <a:t>Evaluation metrics</a:t>
            </a:r>
            <a:endParaRPr lang="en-US" sz="1600" dirty="0"/>
          </a:p>
        </p:txBody>
      </p:sp>
      <p:sp>
        <p:nvSpPr>
          <p:cNvPr id="16" name="Text 14"/>
          <p:cNvSpPr/>
          <p:nvPr/>
        </p:nvSpPr>
        <p:spPr>
          <a:xfrm>
            <a:off x="8193024" y="1874520"/>
            <a:ext cx="3136392" cy="3977640"/>
          </a:xfrm>
          <a:prstGeom prst="rect">
            <a:avLst/>
          </a:prstGeom>
          <a:noFill/>
          <a:ln/>
        </p:spPr>
        <p:txBody>
          <a:bodyPr wrap="square" rtlCol="0" anchor="t"/>
          <a:lstStyle/>
          <a:p>
            <a:pPr marL="0" indent="0">
              <a:buNone/>
            </a:pPr>
            <a:r>
              <a:rPr lang="en-US" sz="1350" dirty="0">
                <a:solidFill>
                  <a:srgbClr val="0F172A"/>
                </a:solidFill>
              </a:rPr>
              <a:t>Time-to-action</a:t>
            </a:r>
            <a:endParaRPr lang="en-US" sz="1350" dirty="0"/>
          </a:p>
          <a:p>
            <a:pPr marL="0" indent="0">
              <a:buNone/>
            </a:pPr>
            <a:r>
              <a:rPr lang="en-US" sz="1350" dirty="0">
                <a:solidFill>
                  <a:srgbClr val="0F172A"/>
                </a:solidFill>
              </a:rPr>
              <a:t>False-location rate</a:t>
            </a:r>
            <a:endParaRPr lang="en-US" sz="1350" dirty="0"/>
          </a:p>
          <a:p>
            <a:pPr marL="0" indent="0">
              <a:buNone/>
            </a:pPr>
            <a:r>
              <a:rPr lang="en-US" sz="1350" dirty="0">
                <a:solidFill>
                  <a:srgbClr val="0F172A"/>
                </a:solidFill>
              </a:rPr>
              <a:t>Median and tail latency</a:t>
            </a:r>
            <a:endParaRPr lang="en-US" sz="1350" dirty="0"/>
          </a:p>
          <a:p>
            <a:pPr marL="0" indent="0">
              <a:buNone/>
            </a:pPr>
            <a:r>
              <a:rPr lang="en-US" sz="1350" dirty="0">
                <a:solidFill>
                  <a:srgbClr val="0F172A"/>
                </a:solidFill>
              </a:rPr>
              <a:t>Battery cost per shift</a:t>
            </a:r>
            <a:endParaRPr lang="en-US" sz="1350" dirty="0"/>
          </a:p>
          <a:p>
            <a:pPr marL="0" indent="0">
              <a:buNone/>
            </a:pPr>
            <a:r>
              <a:rPr lang="en-US" sz="1350" dirty="0">
                <a:solidFill>
                  <a:srgbClr val="0F172A"/>
                </a:solidFill>
              </a:rPr>
              <a:t>Security incident rate</a:t>
            </a:r>
            <a:endParaRPr lang="en-US" sz="1350" dirty="0"/>
          </a:p>
          <a:p>
            <a:pPr marL="0" indent="0">
              <a:buNone/>
            </a:pPr>
            <a:r>
              <a:rPr lang="en-US" sz="1350" dirty="0">
                <a:solidFill>
                  <a:srgbClr val="0F172A"/>
                </a:solidFill>
              </a:rPr>
              <a:t>Task completion under degraded network</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Research directions for master theses and seminar papers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Where deeper investigation is especially valuable today</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31520" y="1508760"/>
            <a:ext cx="6583680" cy="4480560"/>
          </a:xfrm>
          <a:prstGeom prst="rect">
            <a:avLst/>
          </a:prstGeom>
          <a:noFill/>
          <a:ln/>
        </p:spPr>
        <p:txBody>
          <a:bodyPr wrap="square" rtlCol="0" anchor="t"/>
          <a:lstStyle/>
          <a:p>
            <a:pPr marL="177800" indent="-177800">
              <a:buSzPct val="100000"/>
              <a:buChar char="•"/>
            </a:pPr>
            <a:r>
              <a:rPr lang="en-US" sz="1820" dirty="0">
                <a:solidFill>
                  <a:srgbClr val="0F172A"/>
                </a:solidFill>
              </a:rPr>
              <a:t>Energy-aware inference scheduling for mobile AI workloads.</a:t>
            </a:r>
            <a:endParaRPr lang="en-US" sz="1820" dirty="0"/>
          </a:p>
          <a:p>
            <a:pPr marL="177800" indent="-177800">
              <a:buSzPct val="100000"/>
              <a:buChar char="•"/>
            </a:pPr>
            <a:r>
              <a:rPr lang="en-US" sz="1820" dirty="0">
                <a:solidFill>
                  <a:srgbClr val="0F172A"/>
                </a:solidFill>
              </a:rPr>
              <a:t>Adaptive synchronization under intermittent 5G/Wi-Fi handoffs.</a:t>
            </a:r>
            <a:endParaRPr lang="en-US" sz="1820" dirty="0"/>
          </a:p>
          <a:p>
            <a:pPr marL="177800" indent="-177800">
              <a:buSzPct val="100000"/>
              <a:buChar char="•"/>
            </a:pPr>
            <a:r>
              <a:rPr lang="en-US" sz="1820" dirty="0">
                <a:solidFill>
                  <a:srgbClr val="0F172A"/>
                </a:solidFill>
              </a:rPr>
              <a:t>Privacy-preserving context inference and federated personalization.</a:t>
            </a:r>
            <a:endParaRPr lang="en-US" sz="1820" dirty="0"/>
          </a:p>
          <a:p>
            <a:pPr marL="177800" indent="-177800">
              <a:buSzPct val="100000"/>
              <a:buChar char="•"/>
            </a:pPr>
            <a:r>
              <a:rPr lang="en-US" sz="1820" dirty="0">
                <a:solidFill>
                  <a:srgbClr val="0F172A"/>
                </a:solidFill>
              </a:rPr>
              <a:t>Security verification of cross-platform mobile apps using MASVS-based controls.</a:t>
            </a:r>
            <a:endParaRPr lang="en-US" sz="1820" dirty="0"/>
          </a:p>
          <a:p>
            <a:pPr marL="177800" indent="-177800">
              <a:buSzPct val="100000"/>
              <a:buChar char="•"/>
            </a:pPr>
            <a:r>
              <a:rPr lang="en-US" sz="1820" dirty="0">
                <a:solidFill>
                  <a:srgbClr val="0F172A"/>
                </a:solidFill>
              </a:rPr>
              <a:t>Mobile-edge offloading policies for XR or live-interaction systems.</a:t>
            </a:r>
            <a:endParaRPr lang="en-US" sz="1820" dirty="0"/>
          </a:p>
          <a:p>
            <a:pPr marL="177800" indent="-177800">
              <a:buSzPct val="100000"/>
              <a:buChar char="•"/>
            </a:pPr>
            <a:r>
              <a:rPr lang="en-US" sz="1820" dirty="0">
                <a:solidFill>
                  <a:srgbClr val="0F172A"/>
                </a:solidFill>
              </a:rPr>
              <a:t>Fairness, explainability, and risk communication in mobile health interventions.</a:t>
            </a:r>
            <a:endParaRPr lang="en-US" sz="1820" dirty="0"/>
          </a:p>
        </p:txBody>
      </p:sp>
      <p:sp>
        <p:nvSpPr>
          <p:cNvPr id="6" name="Shape 4"/>
          <p:cNvSpPr/>
          <p:nvPr/>
        </p:nvSpPr>
        <p:spPr>
          <a:xfrm>
            <a:off x="7543800" y="1554480"/>
            <a:ext cx="3749040" cy="3840480"/>
          </a:xfrm>
          <a:prstGeom prst="roundRect">
            <a:avLst>
              <a:gd name="adj" fmla="val 1951"/>
            </a:avLst>
          </a:prstGeom>
          <a:solidFill>
            <a:srgbClr val="FFFFFF"/>
          </a:solidFill>
          <a:ln w="12700">
            <a:solidFill>
              <a:srgbClr val="C98B00"/>
            </a:solidFill>
            <a:prstDash val="solid"/>
          </a:ln>
          <a:effectLst>
            <a:outerShdw blurRad="12700" dist="12700" dir="2700000" algn="bl" rotWithShape="0">
              <a:srgbClr val="000000">
                <a:alpha val="12000"/>
              </a:srgbClr>
            </a:outerShdw>
          </a:effectLst>
        </p:spPr>
      </p:sp>
      <p:sp>
        <p:nvSpPr>
          <p:cNvPr id="7" name="Shape 5"/>
          <p:cNvSpPr/>
          <p:nvPr/>
        </p:nvSpPr>
        <p:spPr>
          <a:xfrm>
            <a:off x="7543800" y="1554480"/>
            <a:ext cx="3749040" cy="347472"/>
          </a:xfrm>
          <a:prstGeom prst="rect">
            <a:avLst/>
          </a:prstGeom>
          <a:solidFill>
            <a:srgbClr val="C98B00"/>
          </a:solidFill>
          <a:ln w="12700">
            <a:solidFill>
              <a:srgbClr val="C98B00"/>
            </a:solidFill>
            <a:prstDash val="solid"/>
          </a:ln>
        </p:spPr>
      </p:sp>
      <p:sp>
        <p:nvSpPr>
          <p:cNvPr id="8" name="Text 6"/>
          <p:cNvSpPr/>
          <p:nvPr/>
        </p:nvSpPr>
        <p:spPr>
          <a:xfrm>
            <a:off x="7653528" y="1618488"/>
            <a:ext cx="3529584" cy="182880"/>
          </a:xfrm>
          <a:prstGeom prst="rect">
            <a:avLst/>
          </a:prstGeom>
          <a:noFill/>
          <a:ln/>
        </p:spPr>
        <p:txBody>
          <a:bodyPr wrap="square" rtlCol="0" anchor="ctr"/>
          <a:lstStyle/>
          <a:p>
            <a:pPr marL="0" indent="0">
              <a:buNone/>
            </a:pPr>
            <a:r>
              <a:rPr lang="en-US" sz="1600" b="1" dirty="0">
                <a:solidFill>
                  <a:srgbClr val="FFFFFF"/>
                </a:solidFill>
              </a:rPr>
              <a:t>Good graduate work usually includes</a:t>
            </a:r>
            <a:endParaRPr lang="en-US" sz="1600" dirty="0"/>
          </a:p>
        </p:txBody>
      </p:sp>
      <p:sp>
        <p:nvSpPr>
          <p:cNvPr id="9" name="Text 7"/>
          <p:cNvSpPr/>
          <p:nvPr/>
        </p:nvSpPr>
        <p:spPr>
          <a:xfrm>
            <a:off x="7690104" y="2011680"/>
            <a:ext cx="3456432" cy="3291840"/>
          </a:xfrm>
          <a:prstGeom prst="rect">
            <a:avLst/>
          </a:prstGeom>
          <a:noFill/>
          <a:ln/>
        </p:spPr>
        <p:txBody>
          <a:bodyPr wrap="square" rtlCol="0" anchor="t"/>
          <a:lstStyle/>
          <a:p>
            <a:pPr marL="0" indent="0">
              <a:buNone/>
            </a:pPr>
            <a:r>
              <a:rPr lang="en-US" sz="1350" dirty="0">
                <a:solidFill>
                  <a:srgbClr val="0F172A"/>
                </a:solidFill>
              </a:rPr>
              <a:t>• a formal model or explicit hypothesis</a:t>
            </a:r>
            <a:endParaRPr lang="en-US" sz="1350" dirty="0"/>
          </a:p>
          <a:p>
            <a:pPr marL="0" indent="0">
              <a:buNone/>
            </a:pPr>
            <a:r>
              <a:rPr lang="en-US" sz="1350" dirty="0">
                <a:solidFill>
                  <a:srgbClr val="0F172A"/>
                </a:solidFill>
              </a:rPr>
              <a:t>• realistic measurement</a:t>
            </a:r>
            <a:endParaRPr lang="en-US" sz="1350" dirty="0"/>
          </a:p>
          <a:p>
            <a:pPr marL="0" indent="0">
              <a:buNone/>
            </a:pPr>
            <a:r>
              <a:rPr lang="en-US" sz="1350" dirty="0">
                <a:solidFill>
                  <a:srgbClr val="0F172A"/>
                </a:solidFill>
              </a:rPr>
              <a:t>• ablation or comparative evaluation</a:t>
            </a:r>
            <a:endParaRPr lang="en-US" sz="1350" dirty="0"/>
          </a:p>
          <a:p>
            <a:pPr marL="0" indent="0">
              <a:buNone/>
            </a:pPr>
            <a:r>
              <a:rPr lang="en-US" sz="1350" dirty="0">
                <a:solidFill>
                  <a:srgbClr val="0F172A"/>
                </a:solidFill>
              </a:rPr>
              <a:t>• a clear trade-off analysis</a:t>
            </a:r>
            <a:endParaRPr lang="en-US" sz="1350" dirty="0"/>
          </a:p>
          <a:p>
            <a:pPr marL="0" indent="0">
              <a:buNone/>
            </a:pPr>
            <a:r>
              <a:rPr lang="en-US" sz="1350" dirty="0">
                <a:solidFill>
                  <a:srgbClr val="0F172A"/>
                </a:solidFill>
              </a:rPr>
              <a:t>• discussion of ethical implications</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Summary</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Mobile computing is valuable precisely because it is constrained, contextual, and pervasive</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822960" y="1508760"/>
            <a:ext cx="10241280" cy="4389120"/>
          </a:xfrm>
          <a:prstGeom prst="rect">
            <a:avLst/>
          </a:prstGeom>
          <a:noFill/>
          <a:ln/>
        </p:spPr>
        <p:txBody>
          <a:bodyPr wrap="square" rtlCol="0" anchor="t"/>
          <a:lstStyle/>
          <a:p>
            <a:pPr marL="177800" indent="-177800">
              <a:buSzPct val="100000"/>
              <a:buChar char="•"/>
            </a:pPr>
            <a:r>
              <a:rPr lang="en-US" sz="2000" dirty="0">
                <a:solidFill>
                  <a:srgbClr val="0F172A"/>
                </a:solidFill>
              </a:rPr>
              <a:t>Mobile systems are distributed systems with moving endpoints, limited energy, and privacy-sensitive data.</a:t>
            </a:r>
            <a:endParaRPr lang="en-US" sz="2000" dirty="0"/>
          </a:p>
          <a:p>
            <a:pPr marL="177800" indent="-177800">
              <a:buSzPct val="100000"/>
              <a:buChar char="•"/>
            </a:pPr>
            <a:r>
              <a:rPr lang="en-US" sz="2000" dirty="0">
                <a:solidFill>
                  <a:srgbClr val="0F172A"/>
                </a:solidFill>
              </a:rPr>
              <a:t>Architectural excellence comes from disciplined trade-offs across device, network, edge, and cloud.</a:t>
            </a:r>
            <a:endParaRPr lang="en-US" sz="2000" dirty="0"/>
          </a:p>
          <a:p>
            <a:pPr marL="177800" indent="-177800">
              <a:buSzPct val="100000"/>
              <a:buChar char="•"/>
            </a:pPr>
            <a:r>
              <a:rPr lang="en-US" sz="2000" dirty="0">
                <a:solidFill>
                  <a:srgbClr val="0F172A"/>
                </a:solidFill>
              </a:rPr>
              <a:t>Performance, battery, security, and usability are inseparable in serious mobile applications.</a:t>
            </a:r>
            <a:endParaRPr lang="en-US" sz="2000" dirty="0"/>
          </a:p>
          <a:p>
            <a:pPr marL="177800" indent="-177800">
              <a:buSzPct val="100000"/>
              <a:buChar char="•"/>
            </a:pPr>
            <a:r>
              <a:rPr lang="en-US" sz="2000" dirty="0">
                <a:solidFill>
                  <a:srgbClr val="0F172A"/>
                </a:solidFill>
              </a:rPr>
              <a:t>Modern mobile computing increasingly integrates edge intelligence, adaptive networks, and on-device AI.</a:t>
            </a:r>
            <a:endParaRPr lang="en-US" sz="2000" dirty="0"/>
          </a:p>
          <a:p>
            <a:pPr marL="177800" indent="-177800">
              <a:buSzPct val="100000"/>
              <a:buChar char="•"/>
            </a:pPr>
            <a:r>
              <a:rPr lang="en-US" sz="2000" dirty="0">
                <a:solidFill>
                  <a:srgbClr val="0F172A"/>
                </a:solidFill>
              </a:rPr>
              <a:t>The best graduate analyses move beyond feature lists and evaluate measurable system behavior under realistic conditions.</a:t>
            </a:r>
            <a:endParaRPr lang="en-US" sz="2000" dirty="0"/>
          </a:p>
        </p:txBody>
      </p:sp>
      <p:sp>
        <p:nvSpPr>
          <p:cNvPr id="6" name="Shape 4"/>
          <p:cNvSpPr/>
          <p:nvPr/>
        </p:nvSpPr>
        <p:spPr>
          <a:xfrm>
            <a:off x="777240" y="5358384"/>
            <a:ext cx="10332720" cy="658368"/>
          </a:xfrm>
          <a:prstGeom prst="roundRect">
            <a:avLst>
              <a:gd name="adj" fmla="val 11111"/>
            </a:avLst>
          </a:prstGeom>
          <a:solidFill>
            <a:srgbClr val="FFFFFF"/>
          </a:solidFill>
          <a:ln w="12700">
            <a:solidFill>
              <a:srgbClr val="183153"/>
            </a:solidFill>
            <a:prstDash val="solid"/>
          </a:ln>
          <a:effectLst>
            <a:outerShdw blurRad="12700" dist="12700" dir="2700000" algn="bl" rotWithShape="0">
              <a:srgbClr val="000000">
                <a:alpha val="12000"/>
              </a:srgbClr>
            </a:outerShdw>
          </a:effectLst>
        </p:spPr>
      </p:sp>
      <p:sp>
        <p:nvSpPr>
          <p:cNvPr id="7" name="Shape 5"/>
          <p:cNvSpPr/>
          <p:nvPr/>
        </p:nvSpPr>
        <p:spPr>
          <a:xfrm>
            <a:off x="777240" y="4992624"/>
            <a:ext cx="10332720" cy="347472"/>
          </a:xfrm>
          <a:prstGeom prst="rect">
            <a:avLst/>
          </a:prstGeom>
          <a:solidFill>
            <a:srgbClr val="183153"/>
          </a:solidFill>
          <a:ln w="12700">
            <a:solidFill>
              <a:srgbClr val="183153"/>
            </a:solidFill>
            <a:prstDash val="solid"/>
          </a:ln>
        </p:spPr>
      </p:sp>
      <p:sp>
        <p:nvSpPr>
          <p:cNvPr id="8" name="Text 6"/>
          <p:cNvSpPr/>
          <p:nvPr/>
        </p:nvSpPr>
        <p:spPr>
          <a:xfrm>
            <a:off x="1024128" y="5550408"/>
            <a:ext cx="10113264" cy="182880"/>
          </a:xfrm>
          <a:prstGeom prst="rect">
            <a:avLst/>
          </a:prstGeom>
          <a:noFill/>
          <a:ln/>
        </p:spPr>
        <p:txBody>
          <a:bodyPr wrap="square" rtlCol="0" anchor="ctr"/>
          <a:lstStyle/>
          <a:p>
            <a:pPr marL="0" indent="0">
              <a:buNone/>
            </a:pPr>
            <a:r>
              <a:rPr lang="en-US" sz="1600" b="1" dirty="0">
                <a:solidFill>
                  <a:srgbClr val="FFFFFF"/>
                </a:solidFill>
              </a:rPr>
              <a:t>Closing question</a:t>
            </a:r>
            <a:endParaRPr lang="en-US" sz="1600" dirty="0"/>
          </a:p>
        </p:txBody>
      </p:sp>
      <p:sp>
        <p:nvSpPr>
          <p:cNvPr id="9" name="Text 7"/>
          <p:cNvSpPr/>
          <p:nvPr/>
        </p:nvSpPr>
        <p:spPr>
          <a:xfrm>
            <a:off x="1024128" y="5426964"/>
            <a:ext cx="10040112" cy="109728"/>
          </a:xfrm>
          <a:prstGeom prst="rect">
            <a:avLst/>
          </a:prstGeom>
          <a:noFill/>
          <a:ln/>
        </p:spPr>
        <p:txBody>
          <a:bodyPr wrap="square" rtlCol="0" anchor="t"/>
          <a:lstStyle/>
          <a:p>
            <a:pPr marL="0" indent="0">
              <a:buNone/>
            </a:pPr>
            <a:r>
              <a:rPr lang="en-US" sz="1350" dirty="0">
                <a:solidFill>
                  <a:srgbClr val="0F172A"/>
                </a:solidFill>
              </a:rPr>
              <a:t>For your next project: what must remain available, trustworthy, and efficient when the user is moving, distracted, offline, and privacy-sensitive?</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365760"/>
            <a:ext cx="8046720" cy="457200"/>
          </a:xfrm>
          <a:prstGeom prst="rect">
            <a:avLst/>
          </a:prstGeom>
          <a:noFill/>
          <a:ln/>
        </p:spPr>
        <p:txBody>
          <a:bodyPr wrap="square" rtlCol="0" anchor="ctr"/>
          <a:lstStyle/>
          <a:p>
            <a:pPr marL="0" indent="0">
              <a:buNone/>
            </a:pPr>
            <a:r>
              <a:rPr lang="en-US" sz="2400" b="1" dirty="0">
                <a:solidFill>
                  <a:srgbClr val="183153"/>
                </a:solidFill>
                <a:latin typeface="Aptos Display" pitchFamily="34" charset="0"/>
                <a:ea typeface="Aptos Display" pitchFamily="34" charset="-122"/>
                <a:cs typeface="Aptos Display" pitchFamily="34" charset="-120"/>
              </a:rPr>
              <a:t>Selected references</a:t>
            </a:r>
            <a:endParaRPr lang="en-US" sz="2400" dirty="0"/>
          </a:p>
        </p:txBody>
      </p:sp>
      <p:sp>
        <p:nvSpPr>
          <p:cNvPr id="3" name="Text 1"/>
          <p:cNvSpPr/>
          <p:nvPr/>
        </p:nvSpPr>
        <p:spPr>
          <a:xfrm>
            <a:off x="530352" y="841248"/>
            <a:ext cx="9875520" cy="256032"/>
          </a:xfrm>
          <a:prstGeom prst="rect">
            <a:avLst/>
          </a:prstGeom>
          <a:noFill/>
          <a:ln/>
        </p:spPr>
        <p:txBody>
          <a:bodyPr wrap="square" rtlCol="0" anchor="ctr"/>
          <a:lstStyle/>
          <a:p>
            <a:pPr marL="0" indent="0">
              <a:buNone/>
            </a:pPr>
            <a:r>
              <a:rPr lang="en-US" sz="1050" i="1" dirty="0">
                <a:solidFill>
                  <a:srgbClr val="44556B"/>
                </a:solidFill>
              </a:rPr>
              <a:t>Authoritative sources used for the lecture</a:t>
            </a:r>
            <a:endParaRPr lang="en-US" sz="1050" dirty="0"/>
          </a:p>
        </p:txBody>
      </p:sp>
      <p:sp>
        <p:nvSpPr>
          <p:cNvPr id="4" name="Shape 2"/>
          <p:cNvSpPr/>
          <p:nvPr/>
        </p:nvSpPr>
        <p:spPr>
          <a:xfrm>
            <a:off x="502920" y="1115568"/>
            <a:ext cx="10972800" cy="0"/>
          </a:xfrm>
          <a:prstGeom prst="line">
            <a:avLst/>
          </a:prstGeom>
          <a:noFill/>
          <a:ln w="12700">
            <a:solidFill>
              <a:srgbClr val="B8C7DD"/>
            </a:solidFill>
            <a:prstDash val="solid"/>
          </a:ln>
        </p:spPr>
      </p:sp>
      <p:sp>
        <p:nvSpPr>
          <p:cNvPr id="5" name="Text 3"/>
          <p:cNvSpPr/>
          <p:nvPr/>
        </p:nvSpPr>
        <p:spPr>
          <a:xfrm>
            <a:off x="777240" y="1417320"/>
            <a:ext cx="10424160" cy="4389120"/>
          </a:xfrm>
          <a:prstGeom prst="rect">
            <a:avLst/>
          </a:prstGeom>
          <a:noFill/>
          <a:ln/>
        </p:spPr>
        <p:txBody>
          <a:bodyPr wrap="square" rtlCol="0" anchor="t"/>
          <a:lstStyle/>
          <a:p>
            <a:pPr marL="177800" indent="-177800">
              <a:buSzPct val="100000"/>
              <a:buChar char="•"/>
            </a:pPr>
            <a:r>
              <a:rPr lang="en-US" sz="2000" dirty="0">
                <a:solidFill>
                  <a:srgbClr val="0F172A"/>
                </a:solidFill>
              </a:rPr>
              <a:t>GSMA. The Mobile Economy 2026.</a:t>
            </a:r>
            <a:endParaRPr lang="en-US" sz="2000" dirty="0"/>
          </a:p>
          <a:p>
            <a:pPr marL="177800" indent="-177800">
              <a:buSzPct val="100000"/>
              <a:buChar char="•"/>
            </a:pPr>
            <a:r>
              <a:rPr lang="en-US" sz="2000" dirty="0">
                <a:solidFill>
                  <a:srgbClr val="0F172A"/>
                </a:solidFill>
              </a:rPr>
              <a:t>3GPP. Release 18 and related 5G-Advanced materials.</a:t>
            </a:r>
            <a:endParaRPr lang="en-US" sz="2000" dirty="0"/>
          </a:p>
          <a:p>
            <a:pPr marL="177800" indent="-177800">
              <a:buSzPct val="100000"/>
              <a:buChar char="•"/>
            </a:pPr>
            <a:r>
              <a:rPr lang="en-US" sz="2000" dirty="0">
                <a:solidFill>
                  <a:srgbClr val="0F172A"/>
                </a:solidFill>
              </a:rPr>
              <a:t>NIST SP 800-124 Rev. 2. Guidelines for Managing the Security of Mobile Devices in the Enterprise.</a:t>
            </a:r>
            <a:endParaRPr lang="en-US" sz="2000" dirty="0"/>
          </a:p>
          <a:p>
            <a:pPr marL="177800" indent="-177800">
              <a:buSzPct val="100000"/>
              <a:buChar char="•"/>
            </a:pPr>
            <a:r>
              <a:rPr lang="en-US" sz="2000" dirty="0">
                <a:solidFill>
                  <a:srgbClr val="0F172A"/>
                </a:solidFill>
              </a:rPr>
              <a:t>Android Developers. Android vitals, Baseline Profiles, and Startup Profiles documentation.</a:t>
            </a:r>
            <a:endParaRPr lang="en-US" sz="2000" dirty="0"/>
          </a:p>
          <a:p>
            <a:pPr marL="177800" indent="-177800">
              <a:buSzPct val="100000"/>
              <a:buChar char="•"/>
            </a:pPr>
            <a:r>
              <a:rPr lang="en-US" sz="2000" dirty="0">
                <a:solidFill>
                  <a:srgbClr val="0F172A"/>
                </a:solidFill>
              </a:rPr>
              <a:t>OWASP MASVS / Mobile Application Security project.</a:t>
            </a:r>
            <a:endParaRPr lang="en-US" sz="2000" dirty="0"/>
          </a:p>
          <a:p>
            <a:pPr marL="177800" indent="-177800">
              <a:buSzPct val="100000"/>
              <a:buChar char="•"/>
            </a:pPr>
            <a:r>
              <a:rPr lang="en-US" sz="2000" dirty="0">
                <a:solidFill>
                  <a:srgbClr val="0F172A"/>
                </a:solidFill>
              </a:rPr>
              <a:t>Apple Developer. Core ML documentation.</a:t>
            </a:r>
            <a:endParaRPr lang="en-US" sz="2000" dirty="0"/>
          </a:p>
        </p:txBody>
      </p:sp>
      <p:sp>
        <p:nvSpPr>
          <p:cNvPr id="6" name="Shape 4"/>
          <p:cNvSpPr/>
          <p:nvPr/>
        </p:nvSpPr>
        <p:spPr>
          <a:xfrm>
            <a:off x="822960" y="5303520"/>
            <a:ext cx="10424160" cy="822960"/>
          </a:xfrm>
          <a:prstGeom prst="roundRect">
            <a:avLst>
              <a:gd name="adj" fmla="val 8889"/>
            </a:avLst>
          </a:prstGeom>
          <a:solidFill>
            <a:srgbClr val="FFFFFF"/>
          </a:solidFill>
          <a:ln w="12700">
            <a:solidFill>
              <a:srgbClr val="2864DC"/>
            </a:solidFill>
            <a:prstDash val="solid"/>
          </a:ln>
          <a:effectLst>
            <a:outerShdw blurRad="12700" dist="12700" dir="2700000" algn="bl" rotWithShape="0">
              <a:srgbClr val="000000">
                <a:alpha val="12000"/>
              </a:srgbClr>
            </a:outerShdw>
          </a:effectLst>
        </p:spPr>
      </p:sp>
      <p:sp>
        <p:nvSpPr>
          <p:cNvPr id="7" name="Shape 5"/>
          <p:cNvSpPr/>
          <p:nvPr/>
        </p:nvSpPr>
        <p:spPr>
          <a:xfrm>
            <a:off x="822960" y="5303520"/>
            <a:ext cx="10424160" cy="347472"/>
          </a:xfrm>
          <a:prstGeom prst="rect">
            <a:avLst/>
          </a:prstGeom>
          <a:solidFill>
            <a:srgbClr val="2864DC"/>
          </a:solidFill>
          <a:ln w="12700">
            <a:solidFill>
              <a:srgbClr val="2864DC"/>
            </a:solidFill>
            <a:prstDash val="solid"/>
          </a:ln>
        </p:spPr>
      </p:sp>
      <p:sp>
        <p:nvSpPr>
          <p:cNvPr id="8" name="Text 6"/>
          <p:cNvSpPr/>
          <p:nvPr/>
        </p:nvSpPr>
        <p:spPr>
          <a:xfrm>
            <a:off x="932688" y="5367528"/>
            <a:ext cx="10204704" cy="182880"/>
          </a:xfrm>
          <a:prstGeom prst="rect">
            <a:avLst/>
          </a:prstGeom>
          <a:noFill/>
          <a:ln/>
        </p:spPr>
        <p:txBody>
          <a:bodyPr wrap="square" rtlCol="0" anchor="ctr"/>
          <a:lstStyle/>
          <a:p>
            <a:pPr marL="0" indent="0">
              <a:buNone/>
            </a:pPr>
            <a:r>
              <a:rPr lang="en-US" sz="1600" b="1" dirty="0">
                <a:solidFill>
                  <a:srgbClr val="FFFFFF"/>
                </a:solidFill>
              </a:rPr>
              <a:t>Teaching note</a:t>
            </a:r>
            <a:endParaRPr lang="en-US" sz="1600" dirty="0"/>
          </a:p>
        </p:txBody>
      </p:sp>
      <p:sp>
        <p:nvSpPr>
          <p:cNvPr id="9" name="Text 7"/>
          <p:cNvSpPr/>
          <p:nvPr/>
        </p:nvSpPr>
        <p:spPr>
          <a:xfrm>
            <a:off x="969264" y="5760720"/>
            <a:ext cx="10131552" cy="274320"/>
          </a:xfrm>
          <a:prstGeom prst="rect">
            <a:avLst/>
          </a:prstGeom>
          <a:noFill/>
          <a:ln/>
        </p:spPr>
        <p:txBody>
          <a:bodyPr wrap="square" rtlCol="0" anchor="t"/>
          <a:lstStyle/>
          <a:p>
            <a:pPr marL="0" indent="0">
              <a:buNone/>
            </a:pPr>
            <a:r>
              <a:rPr lang="en-US" sz="1350" dirty="0">
                <a:solidFill>
                  <a:srgbClr val="0F172A"/>
                </a:solidFill>
              </a:rPr>
              <a:t>These slides are intentionally analysis-heavy so they can support both lecture delivery and seminar discussion.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4268</Words>
  <Application>Microsoft Office PowerPoint</Application>
  <PresentationFormat>Widescreen</PresentationFormat>
  <Paragraphs>403</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CTS</dc:creator>
  <cp:lastModifiedBy>CTS</cp:lastModifiedBy>
  <cp:revision>5</cp:revision>
  <dcterms:modified xsi:type="dcterms:W3CDTF">2026-03-19T13:22:57Z</dcterms:modified>
</cp:coreProperties>
</file>
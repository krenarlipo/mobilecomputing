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245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267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TechTarget, “What is mobile computing?” https://www.techtarget.com/searchmobilecomputing/definition/nomadic-computing
- Visual: AI-generated illustration created for this deck using OpenAI image generation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Deck structure is original, grounded in the TechTarget article and supplemented by 3GPP, NIST, Android Developers, OWASP MASVS, and Apple Core ML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definition lines 60–61: mobile access in motion vs nomadic access using relocatable but stationary equipment.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67–69: device + Wi-Fi/cellular + local data + cloud/shared resources + rechargeable batteries.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84–89 explicitly define mobile infrastructure, hardware, and software as the major parts of mobile computing.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69–70 discuss device fit by process and user need.
- TechTarget lines 90–92 mention low-code mobile apps enabling enterprises to quickly configure mobile apps with features such as push notifications.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71–83 explain why mobile computing is used across work, consumer behavior, wearables, and IoT.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94–97 enumerate consumer use, remote work, and IoT examples including self-driving vehicles and supply-chain sensing.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98–104 describe mobile processors, Wi-Fi, 5G, touch displays, and flash storage.
- 3GPP, “Release 18,” https://www.3gpp.org/specifications-technologies/releases/release-18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105–112 list portability, affordability, wireless communications, and data collection as major advantages.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113–120 list power, connectivity, data security, dependence, and distraction as major limitations.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121–123 mention a diagram outlining top mobile security threats.
- NIST SP 800-124 Rev. 2, https://csrc.nist.gov/pubs/sp/800/124/r2/final
- OWASP MASVS, https://mas.owasp.org/MASVS/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124–131 summarize the evolution from dial-up terminals and portable PCs to laptops, PDAs, smartphones, and tablets.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132–135 discuss AI-driven improvements to interfaces, security, speech recognition, translation, battery management, and healthcare applications.
- Apple Developer, “Core ML,” https://developer.apple.com/machine-learning/core-ml/
- Visual: AI-generated illustration created for this deck using OpenAI image generation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 lines 136–140 describe mobile computing as increasingly cloud-centric, with growing roles for edge computing, IoT, 5G, and AI.
- 3GPP Release 18 materials provide current standards context for the network evolution dimension.
- URL: https://www.techtarget.com/searchmobilecomputing/definition/nomadic-computing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Discussion questions are original synthesis based on the source article and supplemental standards/practice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TechTarget: https://www.techtarget.com/searchmobilecomputing/definition/nomadic-computing
- 3GPP Release 18: https://www.3gpp.org/specifications-technologies/releases/release-18
- NIST SP 800-124 Rev. 2: https://csrc.nist.gov/pubs/sp/800/124/r2/final
- OWASP MASVS: https://mas.owasp.org/MASVS/
- Android Developers Baseline Profiles: https://developer.android.com/topic/performance/baselineprofiles/overview
- Apple Core ML: https://developer.apple.com/machine-learning/core-ml/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Computing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828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5C72"/>
                </a:solidFill>
              </a:rPr>
              <a:t>A professional master-level lecture based on the TechTarget definition of mobile computing, expanded with current standards and practice.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89857" y="2834640"/>
            <a:ext cx="2735036" cy="1892155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Core themes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mobile vs nomadic use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system architecture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advantages and limits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security and AI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future directions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26946" y="2834639"/>
            <a:ext cx="2468880" cy="1892155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students in computer science, networking, cybersecurity, information systems, and software engineering.</a:t>
            </a:r>
            <a:endParaRPr lang="en-US" sz="1450" dirty="0"/>
          </a:p>
        </p:txBody>
      </p:sp>
      <p:pic>
        <p:nvPicPr>
          <p:cNvPr id="8" name="Image 0" descr="/mnt/data/a_digital_illustration_modern_technology_concept_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729740"/>
            <a:ext cx="5715000" cy="3810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deck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Framed as a graduate seminar or 60–90 minute lecture with room for discussion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64008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mobile computing precisely and distinguish it from nomadic computing.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a mobile system into infrastructure, hardware, software, and operational policies.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application domains, device choices, and connectivity assumptions.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about performance, power, security, privacy, and human factors.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source article to modern developments such as 5G-Advanced, edge computing, and on-device AI.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43800" y="1554480"/>
            <a:ext cx="39319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Definitions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Architecture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Usage domains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Technology enablers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Advantages and limitations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Security and 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Future outlook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Definition: mobile computing and nomadic computing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The source article uses “nomadic computing” for relocatable but stationary-in-use access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>
            <a:spLocks/>
          </p:cNvSpPr>
          <p:nvPr/>
        </p:nvSpPr>
        <p:spPr>
          <a:xfrm>
            <a:off x="731520" y="1508760"/>
            <a:ext cx="5303520" cy="182880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computing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to computation, information, and related capabilities while the user is mobile or in motion; the user is not restricted to a fixed geographic location.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5303520" cy="182880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Nomadic computing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using equipment that can be relocated as needed, but the device is stationary while in operation — for example, a portable computer used from one temporary location at a time.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01000" y="2103120"/>
            <a:ext cx="0" cy="237744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3246120"/>
            <a:ext cx="219456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600200"/>
            <a:ext cx="2560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Mobility axis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72600" y="2148840"/>
            <a:ext cx="2103120" cy="160020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motion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smartphone navigation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 handheld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977640"/>
            <a:ext cx="3108960" cy="1463040"/>
          </a:xfrm>
          <a:prstGeom prst="rect">
            <a:avLst/>
          </a:prstGeom>
          <a:solidFill>
            <a:srgbClr val="FDEDEA"/>
          </a:solidFill>
          <a:ln>
            <a:solidFill>
              <a:srgbClr val="C23B2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Relocatable but fixed-in-use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 in hotel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workstation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tent PC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mobile computing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At minimum, the system couples a portable device, a wireless connection, and local/remote data services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2880360"/>
            <a:ext cx="347472" cy="329184"/>
          </a:xfrm>
          <a:prstGeom prst="chevron">
            <a:avLst/>
          </a:prstGeom>
          <a:solidFill>
            <a:srgbClr val="E7EEF8"/>
          </a:solidFill>
          <a:ln w="12700">
            <a:solidFill>
              <a:srgbClr val="CBD7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2880360"/>
            <a:ext cx="347472" cy="329184"/>
          </a:xfrm>
          <a:prstGeom prst="chevron">
            <a:avLst/>
          </a:prstGeom>
          <a:solidFill>
            <a:srgbClr val="E7EEF8"/>
          </a:solidFill>
          <a:ln w="12700">
            <a:solidFill>
              <a:srgbClr val="CBD7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2880360"/>
            <a:ext cx="347472" cy="329184"/>
          </a:xfrm>
          <a:prstGeom prst="chevron">
            <a:avLst/>
          </a:prstGeom>
          <a:solidFill>
            <a:srgbClr val="E7EEF8"/>
          </a:solidFill>
          <a:ln w="12700">
            <a:solidFill>
              <a:srgbClr val="CBD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1965960" cy="160020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device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laptop, tablet, smartphone, wearable, specialized vertical device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1965960" cy="160020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Wireless access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Wi-Fi, 4G/5G, Bluetooth, NFC, GNSS-assisted services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1965960" cy="1600200"/>
          </a:xfrm>
          <a:prstGeom prst="rect">
            <a:avLst/>
          </a:prstGeom>
          <a:solidFill>
            <a:srgbClr val="EEF8ED"/>
          </a:solidFill>
          <a:ln>
            <a:solidFill>
              <a:srgbClr val="2E7D32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storage, local cache, battery-backed operation, offline access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0" y="2286000"/>
            <a:ext cx="1965960" cy="160020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resources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apps, enterprise systems, content services, collaborative data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105156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article emphasizes that local data can still be used without a network connection.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devices are battery-powered and may also use AC power in fixed settings.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mobile work typically blends disconnected capability with access to shared cloud resources.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Schema: the three core components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A direct conceptual extraction from the source page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05156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Mobile infrastructure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Wireless networks, wireless protocols, data formats, and the connectivity fabric that lets devices communicate.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332720" cy="105156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Mobile hardware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physical device and its supporting peripherals: phones, tablets, laptops, wearables, chargers, accessories, and domain-specific handhelds.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10332720" cy="105156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Mobile software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systems, mobile apps, browsers, e-commerce clients, and enterprise workflows that run on top of the device and network stack.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5486400"/>
            <a:ext cx="85039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for master students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decomposition is useful because it separates protocol-level problems, device-level constraints, and application-level design decisions.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categories and enterprise software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The source page highlights both general-purpose devices and configurable enterprise mobile apps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2148840" cy="17830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content creation, multi-window work, keyboards, and richer local productivity.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971800" y="1508760"/>
            <a:ext cx="2148840" cy="178308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preferred for content consumption, lightweight field work, and touch-first workflows.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257800" y="1508760"/>
            <a:ext cx="2148840" cy="1783080"/>
          </a:xfrm>
          <a:prstGeom prst="rect">
            <a:avLst/>
          </a:prstGeom>
          <a:solidFill>
            <a:srgbClr val="EEF8ED"/>
          </a:solidFill>
          <a:ln>
            <a:solidFill>
              <a:srgbClr val="2E7D32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Smartphones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Pocket-sized general-purpose computers and communication devices with the highest ubiquity.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43800" y="1508760"/>
            <a:ext cx="2148840" cy="178308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Wearables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Context-rich, sensor-heavy, and especially important in health and fitness settings.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829800" y="1508760"/>
            <a:ext cx="1737360" cy="1783080"/>
          </a:xfrm>
          <a:prstGeom prst="rect">
            <a:avLst/>
          </a:prstGeom>
          <a:solidFill>
            <a:srgbClr val="FDEDEA"/>
          </a:solidFill>
          <a:ln>
            <a:solidFill>
              <a:srgbClr val="C23B2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devices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Medical, telemetry, surveillance, security, and control devices tailored to specific processes.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042416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Low-code mobile apps</a:t>
            </a:r>
            <a:endParaRPr lang="en-US" sz="1650" dirty="0"/>
          </a:p>
          <a:p>
            <a:pPr marL="0" indent="0" algn="l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The source article’s schema notes that enterprises increasingly use configurable low-code mobile 	apps to deliver needs such as push notifications and rapid workflow support without full custom 	development.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mobile computing is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The article frames mobility as convenience, continuity, and untethered access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676656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users stay connected while traveling, working remotely, or operating away from traditional office infrastructure.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Consumers use mobile systems for internet access, communications, web browsing, mobile apps, and streaming media.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Wearables and sensor-rich devices create new forms of contextual data collection, especially in health and fitness settings.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computing also underpins IoT, where sensors and connected devices communicate without direct human intervention.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7726680" y="1600200"/>
            <a:ext cx="3474720" cy="137160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proposition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Untether the user from location, power, and physical network dependency — while still preserving access to data and services.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726680" y="3246120"/>
            <a:ext cx="3474720" cy="182880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Master-level observation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“Convenience” is not trivial: it is an emergent property produced by batteries, radios, protocols, UX design, and backend availability.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domains from the source article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The page spans consumer, enterprise, logistics, and IoT-centric scenarios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2560320" cy="15544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use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communication, entertainment, banking, bill pay, fitness, media consumption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611880" y="1600200"/>
            <a:ext cx="2560320" cy="155448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work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collaboration, access to work resources, travel productivity, remote continuity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0" y="1600200"/>
            <a:ext cx="2560320" cy="1554480"/>
          </a:xfrm>
          <a:prstGeom prst="rect">
            <a:avLst/>
          </a:prstGeom>
          <a:solidFill>
            <a:srgbClr val="EEF8ED"/>
          </a:solidFill>
          <a:ln>
            <a:solidFill>
              <a:srgbClr val="2E7D32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and field service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tracking, verification, field management, support operations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89720" y="1600200"/>
            <a:ext cx="2194560" cy="155448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and smart systems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sensing, supply-chain tracking, vehicle guidance, telemetry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97280" y="3794760"/>
            <a:ext cx="99669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reading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interesting shift is from “portable personal device” to “distributed mobile ecosystem” — where many endpoints may have no direct human operator at all.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enablers in contemporary mobile computing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The source article highlights better radios, storage, displays, batteries, and cloud integration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640080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Low-power mobile processors trade absolute performance for smaller size and lower energy demand.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Wi-Fi and 5G now support latency and throughput levels sufficient for most mainstream mobile applications.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Flash-based solid-state storage makes devices lighter and more resistant to shock than older hard-drive designs.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Modern displays and touch interfaces dominate mobile UX but also consume significant battery power.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Cloud and local storage are now combined routinely, creating hybrid execution and hybrid state models.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43800" y="1645920"/>
            <a:ext cx="3749040" cy="160020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Supplemental context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3GPP states that Release 18 is the first 5G-Advanced release, extending the practical network foundation for richer mobile workloads.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43800" y="3611880"/>
            <a:ext cx="3749040" cy="160020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Systems implication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As radios improve, bottlenecks shift upward: app startup, UX design, sync logic, security posture, and model placement become more visible.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Advantages of mobile computing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Portability is only the surface; the deeper advantage is continuous, context-rich access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2011680" cy="54864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Portability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Smaller devices, no fixed cable, usable across changing contexts and locations.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80360" y="1600200"/>
            <a:ext cx="2011680" cy="54864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Affordability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80360" y="219456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Smartphones increasingly function as primary access devices and are often cheaper than desktop alternatives.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2286000" cy="548640"/>
          </a:xfrm>
          <a:prstGeom prst="rect">
            <a:avLst/>
          </a:prstGeom>
          <a:solidFill>
            <a:srgbClr val="EEF8ED"/>
          </a:solidFill>
          <a:ln>
            <a:solidFill>
              <a:srgbClr val="2E7D32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Wireless communication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Phone, video, messaging, and app-mediated real-time connectivity are built in.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52360" y="1600200"/>
            <a:ext cx="2011680" cy="54864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Data and context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52360" y="219456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Devices can record location, behavior, and biometric signals in real time.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01200" y="1549909"/>
            <a:ext cx="1920240" cy="548640"/>
          </a:xfrm>
          <a:prstGeom prst="rect">
            <a:avLst/>
          </a:prstGeom>
          <a:solidFill>
            <a:srgbClr val="FDEDEA"/>
          </a:solidFill>
          <a:ln>
            <a:solidFill>
              <a:srgbClr val="C23B2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Ubiquitous interaction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1200" y="2194560"/>
            <a:ext cx="19202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 user can act, observe, consume, and communicate almost anywhere.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05840" y="4160520"/>
            <a:ext cx="101498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Critical reading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 article correctly identifies convenience, but for graduate students the stronger formulation is this: mobile systems compress the gap between physical context and digital action.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trade-offs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A professional deck must balance the advantages with operational and ethical limits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2103120" cy="1554480"/>
          </a:xfrm>
          <a:prstGeom prst="rect">
            <a:avLst/>
          </a:prstGeom>
          <a:solidFill>
            <a:srgbClr val="FDEDEA"/>
          </a:solidFill>
          <a:ln>
            <a:solidFill>
              <a:srgbClr val="C23B2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life remains a persistent constraint, especially under GPS, streaming, heavy compute, or poor-signal conditions.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1600200"/>
            <a:ext cx="2103120" cy="155448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quality is uneven; some locations still have weak or absent signal.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1600200"/>
            <a:ext cx="2103120" cy="15544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security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Traveling users may carry sensitive corporate or personal data on vulnerable devices.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5240" y="1600200"/>
            <a:ext cx="2103120" cy="155448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Convenience can lead to unhealthy overreliance or compulsive usage patterns.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21240" y="1600200"/>
            <a:ext cx="1737360" cy="1554480"/>
          </a:xfrm>
          <a:prstGeom prst="rect">
            <a:avLst/>
          </a:prstGeom>
          <a:solidFill>
            <a:srgbClr val="EEF8ED"/>
          </a:solidFill>
          <a:ln>
            <a:solidFill>
              <a:srgbClr val="2E7D32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Distraction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usage can be dangerous in high-risk environments such as driving or construction.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1014984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not isolated problems. Power, connectivity, and security interact: poor signal can increase battery drain; background retries can increase both drain and risk exposure.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good mobile design is about trade-off control rather than feature accumulation.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Schema: mobile security risks and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C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Inspired by the source page’s mobile security diagram and strengthened with NIST and OWASP guidance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2697480"/>
            <a:ext cx="2377440" cy="822960"/>
          </a:xfrm>
          <a:prstGeom prst="rect">
            <a:avLst/>
          </a:prstGeom>
          <a:solidFill>
            <a:srgbClr val="FDEDED"/>
          </a:solidFill>
          <a:ln>
            <a:solidFill>
              <a:srgbClr val="C23B2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security posture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869947"/>
            <a:ext cx="2103120" cy="822960"/>
          </a:xfrm>
          <a:prstGeom prst="rect">
            <a:avLst/>
          </a:prstGeom>
          <a:solidFill>
            <a:srgbClr val="FDEDEA"/>
          </a:solidFill>
          <a:ln>
            <a:solidFill>
              <a:srgbClr val="C23B2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 or stolen device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25880" y="3319271"/>
            <a:ext cx="2103120" cy="82296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Malicious or over-privileged app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77839" y="1293876"/>
            <a:ext cx="2103120" cy="82296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Insecure network or rogue Wi-Fi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11442" y="1965960"/>
            <a:ext cx="2103120" cy="82296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Backend/API weakness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11442" y="3337560"/>
            <a:ext cx="2103120" cy="822960"/>
          </a:xfrm>
          <a:prstGeom prst="rect">
            <a:avLst/>
          </a:prstGeom>
          <a:solidFill>
            <a:srgbClr val="EEF8ED"/>
          </a:solidFill>
          <a:ln>
            <a:solidFill>
              <a:srgbClr val="2E7D32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policy / unmanaged BYOD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05840" y="4370831"/>
            <a:ext cx="3264081" cy="1847089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Control families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device management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sandboxing and app verification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strong identity and auth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encrypted storage and transport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policy for BYOD / COPE / MDM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12</a:t>
            </a:r>
            <a:endParaRPr lang="en-US" sz="9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2A002E5-F22D-4896-9316-2B759D2C9FC3}"/>
              </a:ext>
            </a:extLst>
          </p:cNvPr>
          <p:cNvSpPr/>
          <p:nvPr/>
        </p:nvSpPr>
        <p:spPr>
          <a:xfrm>
            <a:off x="6701790" y="4361687"/>
            <a:ext cx="3264081" cy="1847089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Security problems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phishing attacks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brute force attacks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low level Wi-fi protection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encryption problems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2337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signal problems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Evolution of mobile computing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From modem-era remote access to smartphones, tablets, and cloud-centric ecosystems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474720"/>
            <a:ext cx="1014984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3291840"/>
            <a:ext cx="256032" cy="256032"/>
          </a:xfrm>
          <a:prstGeom prst="ellipse">
            <a:avLst/>
          </a:prstGeom>
          <a:solidFill>
            <a:srgbClr val="2B6DE0"/>
          </a:solidFill>
          <a:ln w="12700">
            <a:solidFill>
              <a:srgbClr val="2B6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280160" cy="8686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1970s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terminals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388620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dial-up access, CRT terminals, early portable terminals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3063240" y="3291840"/>
            <a:ext cx="256032" cy="256032"/>
          </a:xfrm>
          <a:prstGeom prst="ellipse">
            <a:avLst/>
          </a:prstGeom>
          <a:solidFill>
            <a:srgbClr val="2B6DE0"/>
          </a:solidFill>
          <a:ln w="12700">
            <a:solidFill>
              <a:srgbClr val="2B6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874520"/>
            <a:ext cx="1280160" cy="8686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1970s–1980s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31720" y="388620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Osborne 1, Compaq Portable, AC power, floppy disks, nomadic use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074920" y="3291840"/>
            <a:ext cx="256032" cy="256032"/>
          </a:xfrm>
          <a:prstGeom prst="ellipse">
            <a:avLst/>
          </a:prstGeom>
          <a:solidFill>
            <a:srgbClr val="2B6DE0"/>
          </a:solidFill>
          <a:ln w="12700">
            <a:solidFill>
              <a:srgbClr val="2B6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874520"/>
            <a:ext cx="1280160" cy="8686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1990s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laptops + PDAs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43400" y="388620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notebooks, internal/add-on Wi-Fi, better batteries, personal organizers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086600" y="3291840"/>
            <a:ext cx="256032" cy="256032"/>
          </a:xfrm>
          <a:prstGeom prst="ellipse">
            <a:avLst/>
          </a:prstGeom>
          <a:solidFill>
            <a:srgbClr val="2B6DE0"/>
          </a:solidFill>
          <a:ln w="12700">
            <a:solidFill>
              <a:srgbClr val="2B6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874520"/>
            <a:ext cx="1280160" cy="8686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2000s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smartphone era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88620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BlackBerry, iPhone 2007, Android 2008, mobile OS ecosystems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9098280" y="3291840"/>
            <a:ext cx="256032" cy="256032"/>
          </a:xfrm>
          <a:prstGeom prst="ellipse">
            <a:avLst/>
          </a:prstGeom>
          <a:solidFill>
            <a:srgbClr val="2B6DE0"/>
          </a:solidFill>
          <a:ln w="12700">
            <a:solidFill>
              <a:srgbClr val="2B6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874520"/>
            <a:ext cx="1280160" cy="8686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2010s+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tablets and cloud-centric mobile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6760" y="3886200"/>
            <a:ext cx="1737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iPad, larger touch devices, cloud apps, app stores, hybrid storage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effect of artificial intelligence on mobile computing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The source article highlights AI as an amplifier of UX, security, language, and reliability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630936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improves user experience through adaptive interfaces, better analytics, and personalization.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benefits include biometric authentication and stronger anomaly detection.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Hands-free interaction improves through speech recognition and real-time language support.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improve reliability and efficiency, including battery management and predictive assistance.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and wearables are especially important application areas for mobile AI.</a:t>
            </a:r>
            <a:endParaRPr lang="en-US" sz="1800" dirty="0"/>
          </a:p>
        </p:txBody>
      </p:sp>
      <p:pic>
        <p:nvPicPr>
          <p:cNvPr id="8" name="Image 0" descr="/mnt/data/a_digital_illustration_showcases_futuristic_tech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255520"/>
            <a:ext cx="4206240" cy="2804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future of mobile computing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The article is explicit: the architecture is becoming more cloud-centric, edge-aware, AI-enhanced, and IoT-connected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2148840"/>
            <a:ext cx="0" cy="82296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148840"/>
            <a:ext cx="2743200" cy="82296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2148840"/>
            <a:ext cx="0" cy="141732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325880"/>
            <a:ext cx="3840480" cy="77724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Cloud-centric mobile architecture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2377440" cy="132588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computing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closer execution, lower latency, regional processing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43400" y="3840480"/>
            <a:ext cx="3474720" cy="1325880"/>
          </a:xfrm>
          <a:prstGeom prst="rect">
            <a:avLst/>
          </a:prstGeom>
          <a:solidFill>
            <a:srgbClr val="EEF8ED"/>
          </a:solidFill>
          <a:ln>
            <a:solidFill>
              <a:srgbClr val="2E7D32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ecosystem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nonhuman endpoints, sensors, telemetry, autonomous coordination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15400" y="2788920"/>
            <a:ext cx="2377440" cy="132588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5G / 5G-Advanced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higher-capability wireless substrate for richer services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023360" y="5532120"/>
            <a:ext cx="4389120" cy="548640"/>
          </a:xfrm>
          <a:prstGeom prst="rect">
            <a:avLst/>
          </a:prstGeom>
          <a:solidFill>
            <a:srgbClr val="FDEDEA"/>
          </a:solidFill>
          <a:ln>
            <a:solidFill>
              <a:srgbClr val="C23B2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everywhere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model-assisted UX, security, scheduling, translation, and sensing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prompts for master students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Use these to turn the definition article into a deeper systems conversation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3474720" cy="155448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Architecture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should a mobile system keep logic on-device instead of pushing it to the cloud or edge?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1508760"/>
            <a:ext cx="3474720" cy="1554480"/>
          </a:xfrm>
          <a:prstGeom prst="rect">
            <a:avLst/>
          </a:prstGeom>
          <a:solidFill>
            <a:srgbClr val="E6FBF7"/>
          </a:solidFill>
          <a:ln>
            <a:solidFill>
              <a:srgbClr val="0F9D8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Security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when employees use personal devices for enterprise work under BYOD rather than managed corporate devices?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0" y="1508760"/>
            <a:ext cx="3383280" cy="1554480"/>
          </a:xfrm>
          <a:prstGeom prst="rect">
            <a:avLst/>
          </a:prstGeom>
          <a:solidFill>
            <a:srgbClr val="FFF6DF"/>
          </a:solidFill>
          <a:ln>
            <a:solidFill>
              <a:srgbClr val="C58A0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Human factors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systems adapt when mobile convenience turns into distraction or unhealthy dependence?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3474720" cy="1554480"/>
          </a:xfrm>
          <a:prstGeom prst="rect">
            <a:avLst/>
          </a:prstGeom>
          <a:solidFill>
            <a:srgbClr val="EEF8ED"/>
          </a:solidFill>
          <a:ln>
            <a:solidFill>
              <a:srgbClr val="2E7D32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Data and ethics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contextual or biometric data is justified by a mobile service’s value proposition?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3474720" cy="1554480"/>
          </a:xfrm>
          <a:prstGeom prst="rect">
            <a:avLst/>
          </a:prstGeom>
          <a:solidFill>
            <a:srgbClr val="FDEDEA"/>
          </a:solidFill>
          <a:ln>
            <a:solidFill>
              <a:srgbClr val="C23B2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Research direction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the next leap come more from better networks, better on-device AI, or better software architecture?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1000" y="3657600"/>
            <a:ext cx="33832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Systems realism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we benchmark mobile systems under heterogeneous devices, geographies, and signal conditions?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 and selected references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C72"/>
                </a:solidFill>
              </a:rPr>
              <a:t>A compact closeout slide for class or seminar discussion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CBD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667512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computing is broader than smartphones: it includes relocatable nomadic use, always-connected in-motion use, and machine-to-machine mobile ecosystems.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article’s three-part schema — infrastructure, hardware, software — is a strong starting point for systems analysis.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design tensions are convenience vs limits: power, connectivity, security, dependence, and distraction.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developments in 5G-Advanced, edge computing, and on-device AI intensify rather than remove classic mobile trade-offs.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35240" y="1645920"/>
            <a:ext cx="3749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BD7E6"/>
            </a:solidFill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references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TechTarget mobile computing definition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3GPP Release 18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NIST SP 800-124 Rev. 2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OWASP MASVS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Android Developers performance docs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Apple Core ML docs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5486400"/>
            <a:ext cx="10241280" cy="685800"/>
          </a:xfrm>
          <a:prstGeom prst="rect">
            <a:avLst/>
          </a:prstGeom>
          <a:solidFill>
            <a:srgbClr val="EAF1FF"/>
          </a:solidFill>
          <a:ln>
            <a:solidFill>
              <a:srgbClr val="2B6DE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lens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advanced students, the right question is rarely “What is mobile computing?” alone. It is: “What system properties make mobile computing robust, safe, efficient, and useful in the real world?”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A"/>
                </a:solidFill>
              </a:rPr>
              <a:t>Nomadic &amp; Mobile Computing · Master-level deck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12880" y="65105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38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2965</Words>
  <Application>Microsoft Office PowerPoint</Application>
  <PresentationFormat>Widescreen</PresentationFormat>
  <Paragraphs>290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Nomadic and Mobile Computing</dc:title>
  <dc:subject>Nomadic and mobile computing deck</dc:subject>
  <dc:creator>OpenAI</dc:creator>
  <cp:lastModifiedBy>CTS</cp:lastModifiedBy>
  <cp:revision>4</cp:revision>
  <dcterms:created xsi:type="dcterms:W3CDTF">2026-03-19T13:42:39Z</dcterms:created>
  <dcterms:modified xsi:type="dcterms:W3CDTF">2026-03-19T14:12:10Z</dcterms:modified>
</cp:coreProperties>
</file>
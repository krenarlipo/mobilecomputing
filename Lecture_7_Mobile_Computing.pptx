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style2.xml" ContentType="application/vnd.ms-office.chartstyle+xml"/>
  <Override PartName="/ppt/charts/chart2.xml" ContentType="application/vnd.openxmlformats-officedocument.drawingml.chart+xml"/>
  <Override PartName="/ppt/charts/colors2.xml" ContentType="application/vnd.ms-office.chartcolorstyle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4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32.xml" ContentType="application/vnd.openxmlformats-officedocument.presentationml.slide+xml"/>
  <Override PartName="/ppt/slides/slide27.xml" ContentType="application/vnd.openxmlformats-officedocument.presentationml.slide+xml"/>
  <Override PartName="/ppt/slides/slide43.xml" ContentType="application/vnd.openxmlformats-officedocument.presentationml.slide+xml"/>
  <Override PartName="/ppt/slides/slide20.xml" ContentType="application/vnd.openxmlformats-officedocument.presentationml.slide+xml"/>
  <Override PartName="/ppt/slides/slide44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800" b="0" u="none" strike="noStrike">
                <a:solidFill>
                  <a:srgbClr val="000000"/>
                </a:solidFill>
                <a:uFillTx/>
                <a:latin typeface="Arial"/>
              </a:rPr>
              <a:t>Shpërndarjet sipas Burimit (%) – 2014 / 2015 / 2016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Malicious Outsider (%)</c:v>
                </c:pt>
              </c:strCache>
            </c:strRef>
          </c:tx>
          <c:spPr>
            <a:solidFill>
              <a:srgbClr val="8B1A1A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1200" b="0" u="none" strike="noStrike">
                    <a:solidFill>
                      <a:srgbClr val="1E293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78</c:v>
                </c:pt>
                <c:pt idx="1">
                  <c:v>76</c:v>
                </c:pt>
                <c:pt idx="2">
                  <c:v>78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Malicious Insider (%)</c:v>
                </c:pt>
              </c:strCache>
            </c:strRef>
          </c:tx>
          <c:spPr>
            <a:solidFill>
              <a:srgbClr val="D35400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1200" b="0" u="none" strike="noStrike">
                    <a:solidFill>
                      <a:srgbClr val="1E293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16</c:v>
                </c:pt>
                <c:pt idx="1">
                  <c:v>18</c:v>
                </c:pt>
                <c:pt idx="2">
                  <c:v>16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Accidental Loss (%)</c:v>
                </c:pt>
              </c:strCache>
            </c:strRef>
          </c:tx>
          <c:spPr>
            <a:solidFill>
              <a:srgbClr val="1E5799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1200" b="0" u="none" strike="noStrike">
                    <a:solidFill>
                      <a:srgbClr val="1E293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3"/>
                <c:pt idx="0">
                  <c:v>3.5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</c:ser>
        <c:ser>
          <c:idx val="3"/>
          <c:order val="3"/>
          <c:tx>
            <c:strRef>
              <c:f>label 3</c:f>
              <c:strCache>
                <c:ptCount val="1"/>
                <c:pt idx="0">
                  <c:v>Hacktivist (%)</c:v>
                </c:pt>
              </c:strCache>
            </c:strRef>
          </c:tx>
          <c:spPr>
            <a:solidFill>
              <a:srgbClr val="64748B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1200" b="0" u="none" strike="noStrike">
                    <a:solidFill>
                      <a:srgbClr val="1E293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strCache>
            </c:strRef>
          </c:cat>
          <c:val>
            <c:numRef>
              <c:f>3</c:f>
              <c:numCache>
                <c:formatCode>General</c:formatCode>
                <c:ptCount val="3"/>
                <c:pt idx="0">
                  <c:v>1.2</c:v>
                </c:pt>
                <c:pt idx="1">
                  <c:v>1</c:v>
                </c:pt>
                <c:pt idx="2">
                  <c:v>1.4</c:v>
                </c:pt>
              </c:numCache>
            </c:numRef>
          </c:val>
        </c:ser>
        <c:gapWidth val="150"/>
        <c:overlap val="0"/>
        <c:axId val="9384298"/>
        <c:axId val="88665025"/>
      </c:barChart>
      <c:catAx>
        <c:axId val="938429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4748B"/>
                </a:solidFill>
                <a:uFillTx/>
                <a:latin typeface="Arial"/>
              </a:defRPr>
            </a:pPr>
          </a:p>
        </c:txPr>
        <c:crossAx val="88665025"/>
        <c:crosses val="autoZero"/>
        <c:auto val="1"/>
        <c:lblAlgn val="ctr"/>
        <c:lblOffset val="100"/>
        <c:noMultiLvlLbl val="0"/>
      </c:catAx>
      <c:valAx>
        <c:axId val="88665025"/>
        <c:scaling>
          <c:orientation val="minMax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64748B"/>
                </a:solidFill>
                <a:uFillTx/>
                <a:latin typeface="Arial"/>
              </a:defRPr>
            </a:pPr>
          </a:p>
        </c:txPr>
        <c:crossAx val="9384298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solidFill>
      <a:srgbClr val="FFFFFF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800" b="0" u="none" strike="noStrike">
                <a:solidFill>
                  <a:srgbClr val="000000"/>
                </a:solidFill>
                <a:uFillTx/>
                <a:latin typeface="Arial"/>
              </a:rPr>
              <a:t>Incidentet e Shkeljeve sipas Industrisë – 2015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Incidentet 2015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explosion val="0"/>
          <c:dPt>
            <c:idx val="0"/>
            <c:spPr>
              <a:solidFill>
                <a:srgbClr val="C0392B"/>
              </a:solidFill>
              <a:ln w="0">
                <a:noFill/>
              </a:ln>
            </c:spPr>
          </c:dPt>
          <c:dPt>
            <c:idx val="1"/>
            <c:spPr>
              <a:solidFill>
                <a:srgbClr val="1A2040"/>
              </a:solidFill>
              <a:ln w="0">
                <a:noFill/>
              </a:ln>
            </c:spPr>
          </c:dPt>
          <c:dPt>
            <c:idx val="2"/>
            <c:spPr>
              <a:solidFill>
                <a:srgbClr val="1E5799"/>
              </a:solidFill>
              <a:ln w="0">
                <a:noFill/>
              </a:ln>
            </c:spPr>
          </c:dPt>
          <c:dPt>
            <c:idx val="3"/>
            <c:spPr>
              <a:solidFill>
                <a:srgbClr val="D35400"/>
              </a:solidFill>
              <a:ln w="0">
                <a:noFill/>
              </a:ln>
            </c:spPr>
          </c:dPt>
          <c:dPt>
            <c:idx val="4"/>
            <c:spPr>
              <a:solidFill>
                <a:srgbClr val="1A7A4C"/>
              </a:solidFill>
              <a:ln w="0">
                <a:noFill/>
              </a:ln>
            </c:spPr>
          </c:dPt>
          <c:dPt>
            <c:idx val="5"/>
            <c:spPr>
              <a:solidFill>
                <a:srgbClr val="64748B"/>
              </a:solidFill>
              <a:ln w="0">
                <a:noFill/>
              </a:ln>
            </c:spPr>
          </c:dPt>
          <c:dLbls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2"/>
              <c:numFmt formatCode="0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3"/>
              <c:numFmt formatCode="0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4"/>
              <c:numFmt formatCode="0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5"/>
              <c:numFmt formatCode="0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numFmt formatCode="0%" sourceLinked="0"/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eparator>
</c:separator>
            <c:showLeaderLines val="0"/>
          </c:dLbls>
          <c:cat>
            <c:strRef>
              <c:f>categories</c:f>
              <c:strCache>
                <c:ptCount val="6"/>
                <c:pt idx="0">
                  <c:v>Healthcare</c:v>
                </c:pt>
                <c:pt idx="1">
                  <c:v>Government</c:v>
                </c:pt>
                <c:pt idx="2">
                  <c:v>Technology</c:v>
                </c:pt>
                <c:pt idx="3">
                  <c:v>Retail</c:v>
                </c:pt>
                <c:pt idx="4">
                  <c:v>Education</c:v>
                </c:pt>
                <c:pt idx="5">
                  <c:v>Other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34</c:v>
                </c:pt>
                <c:pt idx="1">
                  <c:v>18</c:v>
                </c:pt>
                <c:pt idx="2">
                  <c:v>16</c:v>
                </c:pt>
                <c:pt idx="3">
                  <c:v>12</c:v>
                </c:pt>
                <c:pt idx="4">
                  <c:v>11</c:v>
                </c:pt>
                <c:pt idx="5">
                  <c:v>9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solidFill>
      <a:srgbClr val="FFFFFF"/>
    </a:solidFill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30D0687-38A5-4B18-9981-EC08AACEB79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A712C0-D6FD-4DF3-B2A2-A50D551D2A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19FCA6-9FA9-41EA-B1C6-03A94CB38B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22D049-C940-4A4D-9F98-BB955020312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3816CA-5DCD-4D2F-A005-F22A3E04AC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49E79B-3286-4BA0-B423-81F8911D0D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0CC411-CF1F-44CB-BA03-C3020181DF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C81BA7-CB41-42BA-A9EA-3CA27E613A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F9B8B3-525E-407D-8BAF-95813AF073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866A55-94F9-4E2A-8B87-8DEDD253B9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5523CA-DF17-4B7A-A94D-7B65FC42F4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87043C-F150-4ADA-AAC4-4E116A9275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9531E3-EAA7-4696-A496-2C81D5FE09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6CE505-8025-48AE-9CE5-7FD7C0B4E9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F8E47A-64DC-4433-9155-1E974C6CAB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F58C2E-9E20-438F-94F4-5A4C4E2AA7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2A2CC9-9322-43B6-89C1-8578A5700A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266A1A-A9B5-4073-B544-125CDC0DF7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269BB8-8C1E-4821-9F80-67E453E706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D80147-0D9A-42D0-B3A2-28043B567E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10E098-2460-4F3F-BDBB-B35B09C226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AADED2-E293-471F-B180-4FD27ECDE9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BDE514-8EF4-4018-BEF5-D98FE5493E9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345BDD-FCE5-4C5F-8848-C6B298887D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1C102B-1F2F-4F1D-B3BE-CFB8A024C5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FD58B8-293A-4976-9197-F868CFD698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63E5A1-12F4-4D10-9CC3-4FACE101B1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7CCC6F-07AC-466C-899B-8380410F50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521323-AACB-4B9D-9DDF-93F9FB0A28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813B77-67E7-4F55-9956-7D2988FD4E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C84289-6F82-4965-9D3A-4D47D8D9E53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436DC4-B36F-47D1-9BF0-1AD914C7C4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EF6765-57FE-49B1-875A-11F51AB10D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8CB8BA-5114-48D4-8FB4-D971F78E19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DFBE89-B11A-462B-81AD-79F56C18D0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DDE09A-0FD3-49D2-A5FA-A1783F3B2E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4D8624-7214-4B11-AD34-34B0443F07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025A68-B0F4-48EB-885A-A27F8C84CA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310967-2FEE-4DC6-B2A6-071F3328690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CF41F6-3024-4576-9A8B-5D89259F94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BFCD6C-19CF-4514-B94C-BC46F1779E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23946A-C811-45E5-AF2D-C22D12138B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7A38A0-7F63-42D4-B07E-77948E9B04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CF0925-0FF1-4033-9F79-1F77903B0D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3816F2-2675-4DDE-81E7-786D817EBC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411120" cy="514332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6858000" y="0"/>
            <a:ext cx="2285640" cy="5143320"/>
          </a:xfrm>
          <a:prstGeom prst="rect">
            <a:avLst/>
          </a:prstGeom>
          <a:solidFill>
            <a:srgbClr val="6E10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6903720" y="228600"/>
            <a:ext cx="1737000" cy="17370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7315200" y="2286000"/>
            <a:ext cx="1188360" cy="1188360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7040880" y="3566160"/>
            <a:ext cx="731160" cy="73116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640080" y="457200"/>
            <a:ext cx="5943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499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KAPITULLI 8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640080" y="960120"/>
            <a:ext cx="59432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Çështjet e Sigurisë dhe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Privatësisë në Mobile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Computing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640080" y="3383280"/>
            <a:ext cx="5943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BDD9F2"/>
                </a:solidFill>
                <a:effectLst/>
                <a:uFillTx/>
                <a:latin typeface="Calibri Light"/>
                <a:ea typeface="Calibri Light"/>
              </a:rPr>
              <a:t>Mobile Cloud Computing: Model, Implementim dhe Siguri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640080" y="3931920"/>
            <a:ext cx="5943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Struktura e Kapitullit 8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365760" y="896040"/>
            <a:ext cx="8412120" cy="621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5"/>
          <p:cNvSpPr/>
          <p:nvPr/>
        </p:nvSpPr>
        <p:spPr>
          <a:xfrm>
            <a:off x="365760" y="896040"/>
            <a:ext cx="63720" cy="621360"/>
          </a:xfrm>
          <a:prstGeom prst="rect">
            <a:avLst/>
          </a:prstGeom>
          <a:solidFill>
            <a:srgbClr val="1E57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548640" y="1014840"/>
            <a:ext cx="502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5799"/>
                </a:solidFill>
                <a:effectLst/>
                <a:uFillTx/>
                <a:latin typeface="Calibri"/>
                <a:ea typeface="Calibri"/>
              </a:rPr>
              <a:t>8.1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7"/>
          <p:cNvSpPr/>
          <p:nvPr/>
        </p:nvSpPr>
        <p:spPr>
          <a:xfrm>
            <a:off x="1143000" y="1014840"/>
            <a:ext cx="7406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Hyrje – Konceptet bazë të Sigurisë dhe Privatësisë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8"/>
          <p:cNvSpPr/>
          <p:nvPr/>
        </p:nvSpPr>
        <p:spPr>
          <a:xfrm>
            <a:off x="365760" y="1627560"/>
            <a:ext cx="8412120" cy="621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9"/>
          <p:cNvSpPr/>
          <p:nvPr/>
        </p:nvSpPr>
        <p:spPr>
          <a:xfrm>
            <a:off x="365760" y="1627560"/>
            <a:ext cx="63720" cy="62136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548640" y="1746360"/>
            <a:ext cx="502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8.2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1143000" y="1746360"/>
            <a:ext cx="7406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Problemet Kryesore (DOC, Kontrolli, TM, Multi-</a:t>
            </a:r>
            <a:r>
              <a:rPr lang="en-US" sz="14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Tenancy)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2"/>
          <p:cNvSpPr/>
          <p:nvPr/>
        </p:nvSpPr>
        <p:spPr>
          <a:xfrm>
            <a:off x="365760" y="2359080"/>
            <a:ext cx="8412120" cy="621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3"/>
          <p:cNvSpPr/>
          <p:nvPr/>
        </p:nvSpPr>
        <p:spPr>
          <a:xfrm>
            <a:off x="365760" y="2359080"/>
            <a:ext cx="63720" cy="621360"/>
          </a:xfrm>
          <a:prstGeom prst="rect">
            <a:avLst/>
          </a:prstGeom>
          <a:solidFill>
            <a:srgbClr val="D35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4"/>
          <p:cNvSpPr/>
          <p:nvPr/>
        </p:nvSpPr>
        <p:spPr>
          <a:xfrm>
            <a:off x="548640" y="2477880"/>
            <a:ext cx="502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35400"/>
                </a:solidFill>
                <a:effectLst/>
                <a:uFillTx/>
                <a:latin typeface="Calibri"/>
                <a:ea typeface="Calibri"/>
              </a:rPr>
              <a:t>8.3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1143000" y="2477880"/>
            <a:ext cx="7406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Taksonomia e Kërcënimeve (CIA, MDM, Interfaqet, Forensics)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6"/>
          <p:cNvSpPr/>
          <p:nvPr/>
        </p:nvSpPr>
        <p:spPr>
          <a:xfrm>
            <a:off x="365760" y="3090600"/>
            <a:ext cx="8412120" cy="621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7"/>
          <p:cNvSpPr/>
          <p:nvPr/>
        </p:nvSpPr>
        <p:spPr>
          <a:xfrm>
            <a:off x="365760" y="3090600"/>
            <a:ext cx="63720" cy="621360"/>
          </a:xfrm>
          <a:prstGeom prst="rect">
            <a:avLst/>
          </a:prstGeom>
          <a:solidFill>
            <a:srgbClr val="8B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8"/>
          <p:cNvSpPr/>
          <p:nvPr/>
        </p:nvSpPr>
        <p:spPr>
          <a:xfrm>
            <a:off x="548640" y="3209400"/>
            <a:ext cx="502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B1A1A"/>
                </a:solidFill>
                <a:effectLst/>
                <a:uFillTx/>
                <a:latin typeface="Calibri"/>
                <a:ea typeface="Calibri"/>
              </a:rPr>
              <a:t>8.4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9"/>
          <p:cNvSpPr/>
          <p:nvPr/>
        </p:nvSpPr>
        <p:spPr>
          <a:xfrm>
            <a:off x="1143000" y="3209400"/>
            <a:ext cx="7406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Modelet e Kërcënimeve – Insider &amp; Outsider Threats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0"/>
          <p:cNvSpPr/>
          <p:nvPr/>
        </p:nvSpPr>
        <p:spPr>
          <a:xfrm>
            <a:off x="365760" y="3822120"/>
            <a:ext cx="8412120" cy="621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1"/>
          <p:cNvSpPr/>
          <p:nvPr/>
        </p:nvSpPr>
        <p:spPr>
          <a:xfrm>
            <a:off x="365760" y="3822120"/>
            <a:ext cx="63720" cy="62136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2"/>
          <p:cNvSpPr/>
          <p:nvPr/>
        </p:nvSpPr>
        <p:spPr>
          <a:xfrm>
            <a:off x="548640" y="3940920"/>
            <a:ext cx="502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8.5–8.8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3"/>
          <p:cNvSpPr/>
          <p:nvPr/>
        </p:nvSpPr>
        <p:spPr>
          <a:xfrm>
            <a:off x="1143000" y="3940920"/>
            <a:ext cx="7406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Lexim i Mëtejshëm · Përmbledhje · Ushtrime · Fjalori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Pas Leximit të Kapitullit 8 do të Dini…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4"/>
          <p:cNvSpPr/>
          <p:nvPr/>
        </p:nvSpPr>
        <p:spPr>
          <a:xfrm>
            <a:off x="320040" y="896040"/>
            <a:ext cx="292320" cy="292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5"/>
          <p:cNvSpPr/>
          <p:nvPr/>
        </p:nvSpPr>
        <p:spPr>
          <a:xfrm>
            <a:off x="320040" y="8960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6"/>
          <p:cNvSpPr/>
          <p:nvPr/>
        </p:nvSpPr>
        <p:spPr>
          <a:xfrm>
            <a:off x="749880" y="822960"/>
            <a:ext cx="8046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Çfarë janë siguria dhe privatësia në MCC dhe cilat janë tiparet e tyre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7"/>
          <p:cNvSpPr/>
          <p:nvPr/>
        </p:nvSpPr>
        <p:spPr>
          <a:xfrm>
            <a:off x="320040" y="1398960"/>
            <a:ext cx="292320" cy="292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8"/>
          <p:cNvSpPr/>
          <p:nvPr/>
        </p:nvSpPr>
        <p:spPr>
          <a:xfrm>
            <a:off x="320040" y="13989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9"/>
          <p:cNvSpPr/>
          <p:nvPr/>
        </p:nvSpPr>
        <p:spPr>
          <a:xfrm>
            <a:off x="749880" y="1325880"/>
            <a:ext cx="8046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Problemin e Humbjes së Kontrollit (Loss of Control) në cloud computing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0"/>
          <p:cNvSpPr/>
          <p:nvPr/>
        </p:nvSpPr>
        <p:spPr>
          <a:xfrm>
            <a:off x="320040" y="1901880"/>
            <a:ext cx="292320" cy="292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1"/>
          <p:cNvSpPr/>
          <p:nvPr/>
        </p:nvSpPr>
        <p:spPr>
          <a:xfrm>
            <a:off x="320040" y="190188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2"/>
          <p:cNvSpPr/>
          <p:nvPr/>
        </p:nvSpPr>
        <p:spPr>
          <a:xfrm>
            <a:off x="749880" y="1828800"/>
            <a:ext cx="8046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Pse Multi-Tenancy shkakton probleme sigurie/privatësie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3"/>
          <p:cNvSpPr/>
          <p:nvPr/>
        </p:nvSpPr>
        <p:spPr>
          <a:xfrm>
            <a:off x="320040" y="2404800"/>
            <a:ext cx="292320" cy="292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4"/>
          <p:cNvSpPr/>
          <p:nvPr/>
        </p:nvSpPr>
        <p:spPr>
          <a:xfrm>
            <a:off x="320040" y="24048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5"/>
          <p:cNvSpPr/>
          <p:nvPr/>
        </p:nvSpPr>
        <p:spPr>
          <a:xfrm>
            <a:off x="749880" y="2331720"/>
            <a:ext cx="8046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Rreziqet e Massive Data Mining (MDM)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6"/>
          <p:cNvSpPr/>
          <p:nvPr/>
        </p:nvSpPr>
        <p:spPr>
          <a:xfrm>
            <a:off x="320040" y="2907720"/>
            <a:ext cx="292320" cy="292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7"/>
          <p:cNvSpPr/>
          <p:nvPr/>
        </p:nvSpPr>
        <p:spPr>
          <a:xfrm>
            <a:off x="320040" y="29077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8"/>
          <p:cNvSpPr/>
          <p:nvPr/>
        </p:nvSpPr>
        <p:spPr>
          <a:xfrm>
            <a:off x="749880" y="2834640"/>
            <a:ext cx="8046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Çfarë nënkupton Attack Interface dhe pse është i rrezikshëm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9"/>
          <p:cNvSpPr/>
          <p:nvPr/>
        </p:nvSpPr>
        <p:spPr>
          <a:xfrm>
            <a:off x="320040" y="3410640"/>
            <a:ext cx="292320" cy="292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0"/>
          <p:cNvSpPr/>
          <p:nvPr/>
        </p:nvSpPr>
        <p:spPr>
          <a:xfrm>
            <a:off x="320040" y="34106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1"/>
          <p:cNvSpPr/>
          <p:nvPr/>
        </p:nvSpPr>
        <p:spPr>
          <a:xfrm>
            <a:off x="749880" y="3337560"/>
            <a:ext cx="8046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Çfarë është Modeli i Kërcënimit (Threat Model) dhe pse është i rëndësishëm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2"/>
          <p:cNvSpPr/>
          <p:nvPr/>
        </p:nvSpPr>
        <p:spPr>
          <a:xfrm>
            <a:off x="320040" y="3913560"/>
            <a:ext cx="292320" cy="292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3"/>
          <p:cNvSpPr/>
          <p:nvPr/>
        </p:nvSpPr>
        <p:spPr>
          <a:xfrm>
            <a:off x="320040" y="39135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4"/>
          <p:cNvSpPr/>
          <p:nvPr/>
        </p:nvSpPr>
        <p:spPr>
          <a:xfrm>
            <a:off x="749880" y="3840480"/>
            <a:ext cx="8046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Dallimet ndërmjet Insider Threat dhe Outsider Threat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5"/>
          <p:cNvSpPr/>
          <p:nvPr/>
        </p:nvSpPr>
        <p:spPr>
          <a:xfrm>
            <a:off x="320040" y="4416480"/>
            <a:ext cx="292320" cy="292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6"/>
          <p:cNvSpPr/>
          <p:nvPr/>
        </p:nvSpPr>
        <p:spPr>
          <a:xfrm>
            <a:off x="320040" y="441648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7"/>
          <p:cNvSpPr/>
          <p:nvPr/>
        </p:nvSpPr>
        <p:spPr>
          <a:xfrm>
            <a:off x="749880" y="4343400"/>
            <a:ext cx="8046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Dy anët e insider threats: ana e klientit dhe ana e ofruesit të shërbimit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E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0" y="4480560"/>
            <a:ext cx="9143640" cy="66276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548640" y="1005840"/>
            <a:ext cx="80463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8.1  Hyrje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Konceptet Bazë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548640" y="274320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BDD9F2"/>
                </a:solidFill>
                <a:effectLst/>
                <a:uFillTx/>
                <a:latin typeface="Calibri Light"/>
                <a:ea typeface="Calibri Light"/>
              </a:rPr>
              <a:t>Siguria dhe Privatësia – dy terma të lidhur por të ndryshëm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274320" y="457200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Siguria (Security) në Mobile Cloud Computing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4"/>
          <p:cNvSpPr/>
          <p:nvPr/>
        </p:nvSpPr>
        <p:spPr>
          <a:xfrm>
            <a:off x="320040" y="804600"/>
            <a:ext cx="8503560" cy="1188360"/>
          </a:xfrm>
          <a:prstGeom prst="rect">
            <a:avLst/>
          </a:prstGeom>
          <a:solidFill>
            <a:srgbClr val="1A2040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502920" y="85032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📖  Definicion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502920" y="117036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Siguria në Mobile Cloud Computing, e njohur si Data Security, i referohet çdo mekanizmi që mbron sistemet mobile cloud kundër çdo ndërhyrjeje me qëllim të keqpërdorimit, shkeljes, ose dëmtimit të të dhënave gjatë gjithë procesit të ofrimit të shërbimit cloud.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7"/>
          <p:cNvSpPr/>
          <p:nvPr/>
        </p:nvSpPr>
        <p:spPr>
          <a:xfrm>
            <a:off x="320040" y="2176200"/>
            <a:ext cx="4160160" cy="1096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8"/>
          <p:cNvSpPr/>
          <p:nvPr/>
        </p:nvSpPr>
        <p:spPr>
          <a:xfrm>
            <a:off x="320040" y="2176200"/>
            <a:ext cx="63720" cy="1096920"/>
          </a:xfrm>
          <a:prstGeom prst="rect">
            <a:avLst/>
          </a:prstGeom>
          <a:solidFill>
            <a:srgbClr val="1E57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9"/>
          <p:cNvSpPr/>
          <p:nvPr/>
        </p:nvSpPr>
        <p:spPr>
          <a:xfrm>
            <a:off x="502920" y="226764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5799"/>
                </a:solidFill>
                <a:effectLst/>
                <a:uFillTx/>
                <a:latin typeface="Calibri"/>
                <a:ea typeface="Calibri"/>
              </a:rPr>
              <a:t>Fokusi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0"/>
          <p:cNvSpPr/>
          <p:nvPr/>
        </p:nvSpPr>
        <p:spPr>
          <a:xfrm>
            <a:off x="502920" y="2633400"/>
            <a:ext cx="3748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Metodat e sigurimit të të dhënave – mjete, strategji, mekanizma, operacione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1"/>
          <p:cNvSpPr/>
          <p:nvPr/>
        </p:nvSpPr>
        <p:spPr>
          <a:xfrm>
            <a:off x="4754880" y="2176200"/>
            <a:ext cx="4160160" cy="1096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2"/>
          <p:cNvSpPr/>
          <p:nvPr/>
        </p:nvSpPr>
        <p:spPr>
          <a:xfrm>
            <a:off x="4754880" y="2176200"/>
            <a:ext cx="63720" cy="109692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3"/>
          <p:cNvSpPr/>
          <p:nvPr/>
        </p:nvSpPr>
        <p:spPr>
          <a:xfrm>
            <a:off x="4937760" y="226764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Kujdesi kryesor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4"/>
          <p:cNvSpPr/>
          <p:nvPr/>
        </p:nvSpPr>
        <p:spPr>
          <a:xfrm>
            <a:off x="4937760" y="2633400"/>
            <a:ext cx="3748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Kryesisht nga ofruesit e shërbimeve (service vendors)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5"/>
          <p:cNvSpPr/>
          <p:nvPr/>
        </p:nvSpPr>
        <p:spPr>
          <a:xfrm>
            <a:off x="320040" y="3456360"/>
            <a:ext cx="4160160" cy="1096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6"/>
          <p:cNvSpPr/>
          <p:nvPr/>
        </p:nvSpPr>
        <p:spPr>
          <a:xfrm>
            <a:off x="320040" y="3456360"/>
            <a:ext cx="63720" cy="1096920"/>
          </a:xfrm>
          <a:prstGeom prst="rect">
            <a:avLst/>
          </a:prstGeom>
          <a:solidFill>
            <a:srgbClr val="D35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7"/>
          <p:cNvSpPr/>
          <p:nvPr/>
        </p:nvSpPr>
        <p:spPr>
          <a:xfrm>
            <a:off x="502920" y="354780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35400"/>
                </a:solidFill>
                <a:effectLst/>
                <a:uFillTx/>
                <a:latin typeface="Calibri"/>
                <a:ea typeface="Calibri"/>
              </a:rPr>
              <a:t>Natyrë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8"/>
          <p:cNvSpPr/>
          <p:nvPr/>
        </p:nvSpPr>
        <p:spPr>
          <a:xfrm>
            <a:off x="502920" y="3913560"/>
            <a:ext cx="3748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Çështje e lidhur me të dhënat – pa marrë parasysh informacionin e mbartur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9"/>
          <p:cNvSpPr/>
          <p:nvPr/>
        </p:nvSpPr>
        <p:spPr>
          <a:xfrm>
            <a:off x="4754880" y="3456360"/>
            <a:ext cx="4160160" cy="1096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0"/>
          <p:cNvSpPr/>
          <p:nvPr/>
        </p:nvSpPr>
        <p:spPr>
          <a:xfrm>
            <a:off x="4754880" y="3456360"/>
            <a:ext cx="63720" cy="1096920"/>
          </a:xfrm>
          <a:prstGeom prst="rect">
            <a:avLst/>
          </a:prstGeom>
          <a:solidFill>
            <a:srgbClr val="1A7A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1"/>
          <p:cNvSpPr/>
          <p:nvPr/>
        </p:nvSpPr>
        <p:spPr>
          <a:xfrm>
            <a:off x="4937760" y="354780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7A4C"/>
                </a:solidFill>
                <a:effectLst/>
                <a:uFillTx/>
                <a:latin typeface="Calibri"/>
                <a:ea typeface="Calibri"/>
              </a:rPr>
              <a:t>Qëllimi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2"/>
          <p:cNvSpPr/>
          <p:nvPr/>
        </p:nvSpPr>
        <p:spPr>
          <a:xfrm>
            <a:off x="4937760" y="3913560"/>
            <a:ext cx="3748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Mbrojtja e të gjitha të dhënave nga sjellje të papritura dhe të paautorizuara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Privatësia (Privacy) në Mobile Cloud Computing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4"/>
          <p:cNvSpPr/>
          <p:nvPr/>
        </p:nvSpPr>
        <p:spPr>
          <a:xfrm>
            <a:off x="320040" y="804600"/>
            <a:ext cx="8503560" cy="1188360"/>
          </a:xfrm>
          <a:prstGeom prst="rect">
            <a:avLst/>
          </a:prstGeom>
          <a:solidFill>
            <a:srgbClr val="6E1010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5"/>
          <p:cNvSpPr/>
          <p:nvPr/>
        </p:nvSpPr>
        <p:spPr>
          <a:xfrm>
            <a:off x="502920" y="850320"/>
            <a:ext cx="2742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📖  Definicion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502920" y="117036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Privatësia në Mobile Cloud Computing fokusohet kryesisht tek rrjedhja e informacionit të ndjeshëm gjatë proceseve të shërbimit cloud. Informacioni i ndjeshëm mund të jetë pronë e përdoruesve/klientëve mobile ose e ofruesve të shërbimeve.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7"/>
          <p:cNvSpPr/>
          <p:nvPr/>
        </p:nvSpPr>
        <p:spPr>
          <a:xfrm>
            <a:off x="320040" y="2176200"/>
            <a:ext cx="4160160" cy="1096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8"/>
          <p:cNvSpPr/>
          <p:nvPr/>
        </p:nvSpPr>
        <p:spPr>
          <a:xfrm>
            <a:off x="320040" y="2176200"/>
            <a:ext cx="63720" cy="109692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9"/>
          <p:cNvSpPr/>
          <p:nvPr/>
        </p:nvSpPr>
        <p:spPr>
          <a:xfrm>
            <a:off x="502920" y="226764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Fokusi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0"/>
          <p:cNvSpPr/>
          <p:nvPr/>
        </p:nvSpPr>
        <p:spPr>
          <a:xfrm>
            <a:off x="502920" y="2633400"/>
            <a:ext cx="3748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Rrjedhja e informacionit të ndjeshëm gjatë proceseve cloud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1"/>
          <p:cNvSpPr/>
          <p:nvPr/>
        </p:nvSpPr>
        <p:spPr>
          <a:xfrm>
            <a:off x="4754880" y="2176200"/>
            <a:ext cx="4160160" cy="1096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2"/>
          <p:cNvSpPr/>
          <p:nvPr/>
        </p:nvSpPr>
        <p:spPr>
          <a:xfrm>
            <a:off x="4754880" y="2176200"/>
            <a:ext cx="63720" cy="1096920"/>
          </a:xfrm>
          <a:prstGeom prst="rect">
            <a:avLst/>
          </a:prstGeom>
          <a:solidFill>
            <a:srgbClr val="D35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3"/>
          <p:cNvSpPr/>
          <p:nvPr/>
        </p:nvSpPr>
        <p:spPr>
          <a:xfrm>
            <a:off x="4937760" y="226764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35400"/>
                </a:solidFill>
                <a:effectLst/>
                <a:uFillTx/>
                <a:latin typeface="Calibri"/>
                <a:ea typeface="Calibri"/>
              </a:rPr>
              <a:t>Kujdesi kryesor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4"/>
          <p:cNvSpPr/>
          <p:nvPr/>
        </p:nvSpPr>
        <p:spPr>
          <a:xfrm>
            <a:off x="4937760" y="2633400"/>
            <a:ext cx="3748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Kryesisht nga klientët (customers)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5"/>
          <p:cNvSpPr/>
          <p:nvPr/>
        </p:nvSpPr>
        <p:spPr>
          <a:xfrm>
            <a:off x="320040" y="3456360"/>
            <a:ext cx="4160160" cy="1096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6"/>
          <p:cNvSpPr/>
          <p:nvPr/>
        </p:nvSpPr>
        <p:spPr>
          <a:xfrm>
            <a:off x="320040" y="3456360"/>
            <a:ext cx="63720" cy="1096920"/>
          </a:xfrm>
          <a:prstGeom prst="rect">
            <a:avLst/>
          </a:prstGeom>
          <a:solidFill>
            <a:srgbClr val="1E57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7"/>
          <p:cNvSpPr/>
          <p:nvPr/>
        </p:nvSpPr>
        <p:spPr>
          <a:xfrm>
            <a:off x="502920" y="354780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5799"/>
                </a:solidFill>
                <a:effectLst/>
                <a:uFillTx/>
                <a:latin typeface="Calibri"/>
                <a:ea typeface="Calibri"/>
              </a:rPr>
              <a:t>Shtrirja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8"/>
          <p:cNvSpPr/>
          <p:nvPr/>
        </p:nvSpPr>
        <p:spPr>
          <a:xfrm>
            <a:off x="502920" y="3913560"/>
            <a:ext cx="3748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Mbrojtja e të dhënave, operacionet e sigurta, mirëmbajtja e duhur e të dhënave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9"/>
          <p:cNvSpPr/>
          <p:nvPr/>
        </p:nvSpPr>
        <p:spPr>
          <a:xfrm>
            <a:off x="4754880" y="3456360"/>
            <a:ext cx="4160160" cy="1096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0"/>
          <p:cNvSpPr/>
          <p:nvPr/>
        </p:nvSpPr>
        <p:spPr>
          <a:xfrm>
            <a:off x="4754880" y="3456360"/>
            <a:ext cx="63720" cy="1096920"/>
          </a:xfrm>
          <a:prstGeom prst="rect">
            <a:avLst/>
          </a:prstGeom>
          <a:solidFill>
            <a:srgbClr val="1A7A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1"/>
          <p:cNvSpPr/>
          <p:nvPr/>
        </p:nvSpPr>
        <p:spPr>
          <a:xfrm>
            <a:off x="4937760" y="354780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7A4C"/>
                </a:solidFill>
                <a:effectLst/>
                <a:uFillTx/>
                <a:latin typeface="Calibri"/>
                <a:ea typeface="Calibri"/>
              </a:rPr>
              <a:t>Lidhja me sigurinë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2"/>
          <p:cNvSpPr/>
          <p:nvPr/>
        </p:nvSpPr>
        <p:spPr>
          <a:xfrm>
            <a:off x="4937760" y="3913560"/>
            <a:ext cx="3748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Dobësitë e sigurisë mund të shkaktojnë rrjedhje të privatësisë – lidhja e ngushtë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Marrëdhënia Ndërmjet Sigurisë dhe Privatësisë (Fig. 8.1)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4"/>
          <p:cNvSpPr/>
          <p:nvPr/>
        </p:nvSpPr>
        <p:spPr>
          <a:xfrm>
            <a:off x="914400" y="914400"/>
            <a:ext cx="4114440" cy="3200040"/>
          </a:xfrm>
          <a:prstGeom prst="ellipse">
            <a:avLst/>
          </a:prstGeom>
          <a:solidFill>
            <a:srgbClr val="1E5799">
              <a:alpha val="80000"/>
            </a:srgbClr>
          </a:solidFill>
          <a:ln w="25400">
            <a:solidFill>
              <a:srgbClr val="1E57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5"/>
          <p:cNvSpPr/>
          <p:nvPr/>
        </p:nvSpPr>
        <p:spPr>
          <a:xfrm>
            <a:off x="4114800" y="914400"/>
            <a:ext cx="4114440" cy="3200040"/>
          </a:xfrm>
          <a:prstGeom prst="ellipse">
            <a:avLst/>
          </a:prstGeom>
          <a:solidFill>
            <a:srgbClr val="C0392B">
              <a:alpha val="80000"/>
            </a:srgbClr>
          </a:solidFill>
          <a:ln w="254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6"/>
          <p:cNvSpPr/>
          <p:nvPr/>
        </p:nvSpPr>
        <p:spPr>
          <a:xfrm>
            <a:off x="1005840" y="1828800"/>
            <a:ext cx="2559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SECURITY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7"/>
          <p:cNvSpPr/>
          <p:nvPr/>
        </p:nvSpPr>
        <p:spPr>
          <a:xfrm>
            <a:off x="1005840" y="2651760"/>
            <a:ext cx="25599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DD9F2"/>
                </a:solidFill>
                <a:effectLst/>
                <a:uFillTx/>
                <a:latin typeface="Calibri Light"/>
                <a:ea typeface="Calibri Light"/>
              </a:rPr>
              <a:t>Mekanizmat mbrojtës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DD9F2"/>
                </a:solidFill>
                <a:effectLst/>
                <a:uFillTx/>
                <a:latin typeface="Calibri Light"/>
                <a:ea typeface="Calibri Light"/>
              </a:rPr>
              <a:t>kundra konkurentëve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DD9F2"/>
                </a:solidFill>
                <a:effectLst/>
                <a:uFillTx/>
                <a:latin typeface="Calibri Light"/>
                <a:ea typeface="Calibri Light"/>
              </a:rPr>
              <a:t>gjatë ofrimit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8"/>
          <p:cNvSpPr/>
          <p:nvPr/>
        </p:nvSpPr>
        <p:spPr>
          <a:xfrm>
            <a:off x="5577840" y="1828800"/>
            <a:ext cx="2559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PRIVACY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9"/>
          <p:cNvSpPr/>
          <p:nvPr/>
        </p:nvSpPr>
        <p:spPr>
          <a:xfrm>
            <a:off x="5577840" y="2651760"/>
            <a:ext cx="25599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DD9F2"/>
                </a:solidFill>
                <a:effectLst/>
                <a:uFillTx/>
                <a:latin typeface="Calibri Light"/>
                <a:ea typeface="Calibri Light"/>
              </a:rPr>
              <a:t>Rrjedhja 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DD9F2"/>
                </a:solidFill>
                <a:effectLst/>
                <a:uFillTx/>
                <a:latin typeface="Calibri Light"/>
                <a:ea typeface="Calibri Light"/>
              </a:rPr>
              <a:t>informacionit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DD9F2"/>
                </a:solidFill>
                <a:effectLst/>
                <a:uFillTx/>
                <a:latin typeface="Calibri Light"/>
                <a:ea typeface="Calibri Light"/>
              </a:rPr>
              <a:t>të ndjeshëm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0"/>
          <p:cNvSpPr/>
          <p:nvPr/>
        </p:nvSpPr>
        <p:spPr>
          <a:xfrm>
            <a:off x="3886200" y="2057400"/>
            <a:ext cx="1143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Mbivendosje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Siguria + Privatësia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1"/>
          <p:cNvSpPr/>
          <p:nvPr/>
        </p:nvSpPr>
        <p:spPr>
          <a:xfrm>
            <a:off x="320040" y="4343400"/>
            <a:ext cx="8503560" cy="383760"/>
          </a:xfrm>
          <a:prstGeom prst="rect">
            <a:avLst/>
          </a:prstGeom>
          <a:solidFill>
            <a:srgbClr val="E5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2"/>
          <p:cNvSpPr/>
          <p:nvPr/>
        </p:nvSpPr>
        <p:spPr>
          <a:xfrm>
            <a:off x="457200" y="4370760"/>
            <a:ext cx="8320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040"/>
                </a:solidFill>
                <a:effectLst/>
                <a:uFillTx/>
                <a:latin typeface="Calibri"/>
                <a:ea typeface="Calibri"/>
              </a:rPr>
              <a:t>💡  Dobësitë e sigurisë mund të shkaktojnë rrjedhje privatësie – p.sh. abuzimi i të dhënave të pacientëve në sistemet shendetesore cloud.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Tiparet Dalluese të Çështjeve të Sigurisë/Privatësisë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4"/>
          <p:cNvSpPr/>
          <p:nvPr/>
        </p:nvSpPr>
        <p:spPr>
          <a:xfrm>
            <a:off x="365760" y="804600"/>
            <a:ext cx="8412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Mobile Cloud ka dy tipare dalluese krahasuar me cloud computing jo-mobil: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5"/>
          <p:cNvSpPr/>
          <p:nvPr/>
        </p:nvSpPr>
        <p:spPr>
          <a:xfrm>
            <a:off x="320040" y="1298520"/>
            <a:ext cx="8503560" cy="1645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6"/>
          <p:cNvSpPr/>
          <p:nvPr/>
        </p:nvSpPr>
        <p:spPr>
          <a:xfrm>
            <a:off x="320040" y="1298520"/>
            <a:ext cx="63720" cy="1645560"/>
          </a:xfrm>
          <a:prstGeom prst="rect">
            <a:avLst/>
          </a:prstGeom>
          <a:solidFill>
            <a:srgbClr val="1E57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7"/>
          <p:cNvSpPr/>
          <p:nvPr/>
        </p:nvSpPr>
        <p:spPr>
          <a:xfrm>
            <a:off x="502920" y="138996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5799"/>
                </a:solidFill>
                <a:effectLst/>
                <a:uFillTx/>
                <a:latin typeface="Calibri"/>
                <a:ea typeface="Calibri"/>
              </a:rPr>
              <a:t>Tipari 1: Zgjidhjet janë Specifike për Problem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8"/>
          <p:cNvSpPr/>
          <p:nvPr/>
        </p:nvSpPr>
        <p:spPr>
          <a:xfrm>
            <a:off x="502920" y="178308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Një zgjidhje sigurie lidhet me një ose grup problemesh të ngjashme, jo me probleme të mëdha gjerësisht. Problemet e sigurisë ekzistojnë në të gjitha shtresat gjatë procesit të ofrimit të shërbimit. Kërcënimet e reja krijohen nga teknologji të reja – shumë sulme janë të paparashikuara ose evolutive. Strategjia e mirë: kornizë e sigurt + vlerësim i të gjithë rreziqeve bazuar në kërcënimet e njohura.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9"/>
          <p:cNvSpPr/>
          <p:nvPr/>
        </p:nvSpPr>
        <p:spPr>
          <a:xfrm>
            <a:off x="320040" y="3108960"/>
            <a:ext cx="8503560" cy="1599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0"/>
          <p:cNvSpPr/>
          <p:nvPr/>
        </p:nvSpPr>
        <p:spPr>
          <a:xfrm>
            <a:off x="320040" y="3108960"/>
            <a:ext cx="63720" cy="159984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1"/>
          <p:cNvSpPr/>
          <p:nvPr/>
        </p:nvSpPr>
        <p:spPr>
          <a:xfrm>
            <a:off x="502920" y="320040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Tipari 2: Trashëgimia e Dobësive (Inheritance of Vulnerabilities)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2"/>
          <p:cNvSpPr/>
          <p:nvPr/>
        </p:nvSpPr>
        <p:spPr>
          <a:xfrm>
            <a:off x="502920" y="354780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MCC trashëgon të gjitha dobësitë e tre teknologjive bazë: kompjutimit mobil, rrjeteve wireless, dhe cloud computing. Dobësitë e rrjeteve wireless (spoofing, jamming) kërcënojnë direkt MCC. Virtualizimi sjell shtresë të re rreziku – dështimet e saj mund të kenë pasoja të rënda.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E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0" y="4480560"/>
            <a:ext cx="9143640" cy="66276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548640" y="1005840"/>
            <a:ext cx="80463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8.2  Problemet Kryesore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të Sigurisë dhe Privatësisë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"/>
          <p:cNvSpPr/>
          <p:nvPr/>
        </p:nvSpPr>
        <p:spPr>
          <a:xfrm>
            <a:off x="548640" y="274320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BDD9F2"/>
                </a:solidFill>
                <a:effectLst/>
                <a:uFillTx/>
                <a:latin typeface="Calibri Light"/>
                <a:ea typeface="Calibri Light"/>
              </a:rPr>
              <a:t>4 aspekte kryesore: DOC · Kontrolli · TM · Multi-Tenancy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3"/>
          <p:cNvSpPr/>
          <p:nvPr/>
        </p:nvSpPr>
        <p:spPr>
          <a:xfrm>
            <a:off x="274320" y="457200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 Problemet Kryesore – Pasqyrë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4"/>
          <p:cNvSpPr/>
          <p:nvPr/>
        </p:nvSpPr>
        <p:spPr>
          <a:xfrm>
            <a:off x="320040" y="868680"/>
            <a:ext cx="8503560" cy="822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5"/>
          <p:cNvSpPr/>
          <p:nvPr/>
        </p:nvSpPr>
        <p:spPr>
          <a:xfrm>
            <a:off x="320040" y="868680"/>
            <a:ext cx="63720" cy="8226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6"/>
          <p:cNvSpPr/>
          <p:nvPr/>
        </p:nvSpPr>
        <p:spPr>
          <a:xfrm>
            <a:off x="457200" y="996840"/>
            <a:ext cx="502560" cy="5025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457200" y="9968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8"/>
          <p:cNvSpPr/>
          <p:nvPr/>
        </p:nvSpPr>
        <p:spPr>
          <a:xfrm>
            <a:off x="1097280" y="94176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Data Over-Collection (DOC)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9"/>
          <p:cNvSpPr/>
          <p:nvPr/>
        </p:nvSpPr>
        <p:spPr>
          <a:xfrm>
            <a:off x="1097280" y="130752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Mbledhja e tepërt e të dhënave nga aplikacionet mobile – sulm emergjent ndaj privatësisë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0"/>
          <p:cNvSpPr/>
          <p:nvPr/>
        </p:nvSpPr>
        <p:spPr>
          <a:xfrm>
            <a:off x="320040" y="1828800"/>
            <a:ext cx="8503560" cy="822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1"/>
          <p:cNvSpPr/>
          <p:nvPr/>
        </p:nvSpPr>
        <p:spPr>
          <a:xfrm>
            <a:off x="320040" y="1828800"/>
            <a:ext cx="63720" cy="822600"/>
          </a:xfrm>
          <a:prstGeom prst="rect">
            <a:avLst/>
          </a:prstGeom>
          <a:solidFill>
            <a:srgbClr val="D35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2"/>
          <p:cNvSpPr/>
          <p:nvPr/>
        </p:nvSpPr>
        <p:spPr>
          <a:xfrm>
            <a:off x="457200" y="1956960"/>
            <a:ext cx="502560" cy="502560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3"/>
          <p:cNvSpPr/>
          <p:nvPr/>
        </p:nvSpPr>
        <p:spPr>
          <a:xfrm>
            <a:off x="457200" y="19569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4"/>
          <p:cNvSpPr/>
          <p:nvPr/>
        </p:nvSpPr>
        <p:spPr>
          <a:xfrm>
            <a:off x="1097280" y="190188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D35400"/>
                </a:solidFill>
                <a:effectLst/>
                <a:uFillTx/>
                <a:latin typeface="Calibri"/>
                <a:ea typeface="Calibri"/>
              </a:rPr>
              <a:t>Data/Privacy Control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5"/>
          <p:cNvSpPr/>
          <p:nvPr/>
        </p:nvSpPr>
        <p:spPr>
          <a:xfrm>
            <a:off x="1097280" y="226764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Klientët nuk kanë kontroll të plotë mbi të dhënat e tyre në cloud – varësi e lartë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6"/>
          <p:cNvSpPr/>
          <p:nvPr/>
        </p:nvSpPr>
        <p:spPr>
          <a:xfrm>
            <a:off x="320040" y="2788920"/>
            <a:ext cx="8503560" cy="822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7"/>
          <p:cNvSpPr/>
          <p:nvPr/>
        </p:nvSpPr>
        <p:spPr>
          <a:xfrm>
            <a:off x="320040" y="2788920"/>
            <a:ext cx="63720" cy="822600"/>
          </a:xfrm>
          <a:prstGeom prst="rect">
            <a:avLst/>
          </a:prstGeom>
          <a:solidFill>
            <a:srgbClr val="1E57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8"/>
          <p:cNvSpPr/>
          <p:nvPr/>
        </p:nvSpPr>
        <p:spPr>
          <a:xfrm>
            <a:off x="457200" y="2917080"/>
            <a:ext cx="502560" cy="502560"/>
          </a:xfrm>
          <a:prstGeom prst="ellipse">
            <a:avLst/>
          </a:prstGeom>
          <a:solidFill>
            <a:srgbClr val="1E5799"/>
          </a:solidFill>
          <a:ln w="12700">
            <a:solidFill>
              <a:srgbClr val="1E57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9"/>
          <p:cNvSpPr/>
          <p:nvPr/>
        </p:nvSpPr>
        <p:spPr>
          <a:xfrm>
            <a:off x="457200" y="29170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0"/>
          <p:cNvSpPr/>
          <p:nvPr/>
        </p:nvSpPr>
        <p:spPr>
          <a:xfrm>
            <a:off x="1097280" y="286200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5799"/>
                </a:solidFill>
                <a:effectLst/>
                <a:uFillTx/>
                <a:latin typeface="Calibri"/>
                <a:ea typeface="Calibri"/>
              </a:rPr>
              <a:t>Trust Management (TM)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1"/>
          <p:cNvSpPr/>
          <p:nvPr/>
        </p:nvSpPr>
        <p:spPr>
          <a:xfrm>
            <a:off x="1097280" y="322776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Menaxhimi i besimit ndaj palëve të treta – çështje e hapur kërkimore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2"/>
          <p:cNvSpPr/>
          <p:nvPr/>
        </p:nvSpPr>
        <p:spPr>
          <a:xfrm>
            <a:off x="320040" y="3749040"/>
            <a:ext cx="8503560" cy="822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3"/>
          <p:cNvSpPr/>
          <p:nvPr/>
        </p:nvSpPr>
        <p:spPr>
          <a:xfrm>
            <a:off x="320040" y="3749040"/>
            <a:ext cx="63720" cy="822600"/>
          </a:xfrm>
          <a:prstGeom prst="rect">
            <a:avLst/>
          </a:prstGeom>
          <a:solidFill>
            <a:srgbClr val="8B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4"/>
          <p:cNvSpPr/>
          <p:nvPr/>
        </p:nvSpPr>
        <p:spPr>
          <a:xfrm>
            <a:off x="457200" y="3877200"/>
            <a:ext cx="502560" cy="50256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5"/>
          <p:cNvSpPr/>
          <p:nvPr/>
        </p:nvSpPr>
        <p:spPr>
          <a:xfrm>
            <a:off x="457200" y="38772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6"/>
          <p:cNvSpPr/>
          <p:nvPr/>
        </p:nvSpPr>
        <p:spPr>
          <a:xfrm>
            <a:off x="1097280" y="382212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B1A1A"/>
                </a:solidFill>
                <a:effectLst/>
                <a:uFillTx/>
                <a:latin typeface="Calibri"/>
                <a:ea typeface="Calibri"/>
              </a:rPr>
              <a:t>Multi-Tenancy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7"/>
          <p:cNvSpPr/>
          <p:nvPr/>
        </p:nvSpPr>
        <p:spPr>
          <a:xfrm>
            <a:off x="1097280" y="418788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Shumë përdorues ndajnë të njëjtën makinë fizike 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– mundësi sulmi legjitime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Problem 1: Data Over-Collection (DOC)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4"/>
          <p:cNvSpPr/>
          <p:nvPr/>
        </p:nvSpPr>
        <p:spPr>
          <a:xfrm>
            <a:off x="320040" y="804600"/>
            <a:ext cx="8503560" cy="914040"/>
          </a:xfrm>
          <a:prstGeom prst="rect">
            <a:avLst/>
          </a:prstGeom>
          <a:solidFill>
            <a:srgbClr val="1A2040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5"/>
          <p:cNvSpPr/>
          <p:nvPr/>
        </p:nvSpPr>
        <p:spPr>
          <a:xfrm>
            <a:off x="502920" y="850320"/>
            <a:ext cx="822924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DOC është kërcënim emergjent që rrezikon privatësinë e përdoruesve mobile. Shumë aplikacione mobile mbledhin të dhëna të ndjeshme jashtë nevojës reale të shërbimit.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6"/>
          <p:cNvSpPr/>
          <p:nvPr/>
        </p:nvSpPr>
        <p:spPr>
          <a:xfrm>
            <a:off x="365760" y="1874520"/>
            <a:ext cx="841212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Miliona aplikacione mobile aktive mbledhin sasi të mëdha të dhënash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Ruajtja e të dhënave në cloud është e shpërndarë – një app mund të mbështetet nga serverë të shumtë cloud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Formohet 'pool' i madh i objektivave të sulmit (attack objectives pool)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Vështirësia e lartë e deshifrimit motivon sulmuesit të synojnë të dhënat e pa-enkriptuara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Rreziqet ekzistojnë si gjatë transmetimit ashtu edhe gjatë operacioneve cloud (përpunim, ruajtje)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Rezultati: shkelje privatësie te palë të treta, rrjedhje të dhënash, humbje kontrolli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7"/>
          <p:cNvSpPr/>
          <p:nvPr/>
        </p:nvSpPr>
        <p:spPr>
          <a:xfrm>
            <a:off x="320040" y="4407480"/>
            <a:ext cx="8503560" cy="292320"/>
          </a:xfrm>
          <a:prstGeom prst="rect">
            <a:avLst/>
          </a:prstGeom>
          <a:solidFill>
            <a:srgbClr val="FAE0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8"/>
          <p:cNvSpPr/>
          <p:nvPr/>
        </p:nvSpPr>
        <p:spPr>
          <a:xfrm>
            <a:off x="457200" y="4434840"/>
            <a:ext cx="8229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1A1A"/>
                </a:solidFill>
                <a:effectLst/>
                <a:uFillTx/>
                <a:latin typeface="Calibri"/>
                <a:ea typeface="Calibri"/>
              </a:rPr>
              <a:t>⚠ Sulmet e reja tradicionale (malware) lozin rol më të vogël – synimi kryesor tani: informacioni i pa-autorizuar.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Shembull Real: DOC – Aplikacioni i Lokacionit (Fig. 8.3)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4"/>
          <p:cNvSpPr/>
          <p:nvPr/>
        </p:nvSpPr>
        <p:spPr>
          <a:xfrm>
            <a:off x="320040" y="804600"/>
            <a:ext cx="8503560" cy="50256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5"/>
          <p:cNvSpPr/>
          <p:nvPr/>
        </p:nvSpPr>
        <p:spPr>
          <a:xfrm>
            <a:off x="457200" y="822960"/>
            <a:ext cx="8229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Supozoni: një aplikacion mobil ofron shërbime të orientuara nga lokacioni. Çfarë të dhënash mbledh faktikisht?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6"/>
          <p:cNvSpPr/>
          <p:nvPr/>
        </p:nvSpPr>
        <p:spPr>
          <a:xfrm>
            <a:off x="320040" y="1444680"/>
            <a:ext cx="3840120" cy="3200040"/>
          </a:xfrm>
          <a:prstGeom prst="rect">
            <a:avLst/>
          </a:prstGeom>
          <a:solidFill>
            <a:srgbClr val="E5E8F0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7"/>
          <p:cNvSpPr/>
          <p:nvPr/>
        </p:nvSpPr>
        <p:spPr>
          <a:xfrm>
            <a:off x="320040" y="1444680"/>
            <a:ext cx="3840120" cy="411120"/>
          </a:xfrm>
          <a:prstGeom prst="rect">
            <a:avLst/>
          </a:prstGeom>
          <a:solidFill>
            <a:srgbClr val="1A7A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8"/>
          <p:cNvSpPr/>
          <p:nvPr/>
        </p:nvSpPr>
        <p:spPr>
          <a:xfrm>
            <a:off x="320040" y="149040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Të dhëna të NEVOJSHME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9"/>
          <p:cNvSpPr/>
          <p:nvPr/>
        </p:nvSpPr>
        <p:spPr>
          <a:xfrm>
            <a:off x="457200" y="196596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7A4C"/>
                </a:solidFill>
                <a:effectLst/>
                <a:uFillTx/>
                <a:latin typeface="Calibri"/>
                <a:ea typeface="Calibri"/>
              </a:rPr>
              <a:t>✅  Të dhënat e Lokacionit (GPS)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0"/>
          <p:cNvSpPr/>
          <p:nvPr/>
        </p:nvSpPr>
        <p:spPr>
          <a:xfrm>
            <a:off x="457200" y="242316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7A4C"/>
                </a:solidFill>
                <a:effectLst/>
                <a:uFillTx/>
                <a:latin typeface="Calibri"/>
                <a:ea typeface="Calibri"/>
              </a:rPr>
              <a:t>(Vetëm këto janë të nevojshme)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1"/>
          <p:cNvSpPr/>
          <p:nvPr/>
        </p:nvSpPr>
        <p:spPr>
          <a:xfrm>
            <a:off x="4983480" y="1444680"/>
            <a:ext cx="3840120" cy="3200040"/>
          </a:xfrm>
          <a:prstGeom prst="rect">
            <a:avLst/>
          </a:prstGeom>
          <a:solidFill>
            <a:srgbClr val="FAE0D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2"/>
          <p:cNvSpPr/>
          <p:nvPr/>
        </p:nvSpPr>
        <p:spPr>
          <a:xfrm>
            <a:off x="4983480" y="1444680"/>
            <a:ext cx="3840120" cy="41112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3"/>
          <p:cNvSpPr/>
          <p:nvPr/>
        </p:nvSpPr>
        <p:spPr>
          <a:xfrm>
            <a:off x="4983480" y="149040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Over-Collection (TEPËRT!)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4"/>
          <p:cNvSpPr/>
          <p:nvPr/>
        </p:nvSpPr>
        <p:spPr>
          <a:xfrm>
            <a:off x="5120640" y="196596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❌  Libri i kontakteve (Phone/Contact Book)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5"/>
          <p:cNvSpPr/>
          <p:nvPr/>
        </p:nvSpPr>
        <p:spPr>
          <a:xfrm>
            <a:off x="5120640" y="246888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❌  Libri i adresave (Address Book)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6"/>
          <p:cNvSpPr/>
          <p:nvPr/>
        </p:nvSpPr>
        <p:spPr>
          <a:xfrm>
            <a:off x="5120640" y="297180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❌  Fotot (Photo data)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7"/>
          <p:cNvSpPr/>
          <p:nvPr/>
        </p:nvSpPr>
        <p:spPr>
          <a:xfrm>
            <a:off x="5120640" y="347472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❌  Kalendari (Calendar data)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8"/>
          <p:cNvSpPr/>
          <p:nvPr/>
        </p:nvSpPr>
        <p:spPr>
          <a:xfrm>
            <a:off x="5120640" y="397764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❌  Lista e emaileve (Mail list data)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9"/>
          <p:cNvSpPr/>
          <p:nvPr/>
        </p:nvSpPr>
        <p:spPr>
          <a:xfrm>
            <a:off x="320040" y="4736520"/>
            <a:ext cx="8503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4748B"/>
                </a:solidFill>
                <a:effectLst/>
                <a:uFillTx/>
                <a:latin typeface="Calibri Light"/>
                <a:ea typeface="Calibri Light"/>
              </a:rPr>
              <a:t>💡 Ky është gjithashtu shembull i Humbjes së Kontrollit (Loss of Control) nga ana e klientit!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Problem 2: Data/Privacy Control – Humbja e Kontrollit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4"/>
          <p:cNvSpPr/>
          <p:nvPr/>
        </p:nvSpPr>
        <p:spPr>
          <a:xfrm>
            <a:off x="365760" y="82296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040"/>
                </a:solidFill>
                <a:effectLst/>
                <a:uFillTx/>
                <a:latin typeface="Calibri"/>
                <a:ea typeface="Calibri"/>
              </a:rPr>
              <a:t>5 aspektet që ofruesit e shërbimit duhet të garantojnë (Fig. 8.4):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5"/>
          <p:cNvSpPr/>
          <p:nvPr/>
        </p:nvSpPr>
        <p:spPr>
          <a:xfrm>
            <a:off x="320040" y="1298520"/>
            <a:ext cx="2742840" cy="1279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6"/>
          <p:cNvSpPr/>
          <p:nvPr/>
        </p:nvSpPr>
        <p:spPr>
          <a:xfrm>
            <a:off x="320040" y="1298520"/>
            <a:ext cx="63720" cy="12798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7"/>
          <p:cNvSpPr/>
          <p:nvPr/>
        </p:nvSpPr>
        <p:spPr>
          <a:xfrm>
            <a:off x="502920" y="138996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Siguria (Security)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8"/>
          <p:cNvSpPr/>
          <p:nvPr/>
        </p:nvSpPr>
        <p:spPr>
          <a:xfrm>
            <a:off x="502920" y="177408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Mbrojtja e të dhënave nga çdo adversar gjatë procesit të shërbimit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9"/>
          <p:cNvSpPr/>
          <p:nvPr/>
        </p:nvSpPr>
        <p:spPr>
          <a:xfrm>
            <a:off x="3246120" y="1298520"/>
            <a:ext cx="2742840" cy="1279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0"/>
          <p:cNvSpPr/>
          <p:nvPr/>
        </p:nvSpPr>
        <p:spPr>
          <a:xfrm>
            <a:off x="3246120" y="1298520"/>
            <a:ext cx="63720" cy="1279800"/>
          </a:xfrm>
          <a:prstGeom prst="rect">
            <a:avLst/>
          </a:prstGeom>
          <a:solidFill>
            <a:srgbClr val="D35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1"/>
          <p:cNvSpPr/>
          <p:nvPr/>
        </p:nvSpPr>
        <p:spPr>
          <a:xfrm>
            <a:off x="3429000" y="138996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35400"/>
                </a:solidFill>
                <a:effectLst/>
                <a:uFillTx/>
                <a:latin typeface="Calibri"/>
                <a:ea typeface="Calibri"/>
              </a:rPr>
              <a:t>Privatësia (Privacy)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2"/>
          <p:cNvSpPr/>
          <p:nvPr/>
        </p:nvSpPr>
        <p:spPr>
          <a:xfrm>
            <a:off x="3429000" y="177408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Parandalimi i rrjedhjes së informacionit të ndjeshëm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3"/>
          <p:cNvSpPr/>
          <p:nvPr/>
        </p:nvSpPr>
        <p:spPr>
          <a:xfrm>
            <a:off x="6172200" y="1298520"/>
            <a:ext cx="2742840" cy="1279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4"/>
          <p:cNvSpPr/>
          <p:nvPr/>
        </p:nvSpPr>
        <p:spPr>
          <a:xfrm>
            <a:off x="6172200" y="1298520"/>
            <a:ext cx="63720" cy="1279800"/>
          </a:xfrm>
          <a:prstGeom prst="rect">
            <a:avLst/>
          </a:prstGeom>
          <a:solidFill>
            <a:srgbClr val="1E57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5"/>
          <p:cNvSpPr/>
          <p:nvPr/>
        </p:nvSpPr>
        <p:spPr>
          <a:xfrm>
            <a:off x="6355080" y="138996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5799"/>
                </a:solidFill>
                <a:effectLst/>
                <a:uFillTx/>
                <a:latin typeface="Calibri"/>
                <a:ea typeface="Calibri"/>
              </a:rPr>
              <a:t>Disponueshmëria (Availability)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6"/>
          <p:cNvSpPr/>
          <p:nvPr/>
        </p:nvSpPr>
        <p:spPr>
          <a:xfrm>
            <a:off x="6355080" y="177408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Shërbimet janë të disponueshme kur klientët i kërkojnë ato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7"/>
          <p:cNvSpPr/>
          <p:nvPr/>
        </p:nvSpPr>
        <p:spPr>
          <a:xfrm>
            <a:off x="1600200" y="2761560"/>
            <a:ext cx="2742840" cy="1279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8"/>
          <p:cNvSpPr/>
          <p:nvPr/>
        </p:nvSpPr>
        <p:spPr>
          <a:xfrm>
            <a:off x="1600200" y="2761560"/>
            <a:ext cx="63720" cy="1279800"/>
          </a:xfrm>
          <a:prstGeom prst="rect">
            <a:avLst/>
          </a:prstGeom>
          <a:solidFill>
            <a:srgbClr val="1A7A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9"/>
          <p:cNvSpPr/>
          <p:nvPr/>
        </p:nvSpPr>
        <p:spPr>
          <a:xfrm>
            <a:off x="1783080" y="285300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7A4C"/>
                </a:solidFill>
                <a:effectLst/>
                <a:uFillTx/>
                <a:latin typeface="Calibri"/>
                <a:ea typeface="Calibri"/>
              </a:rPr>
              <a:t>Monitorimi (Monitoring)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0"/>
          <p:cNvSpPr/>
          <p:nvPr/>
        </p:nvSpPr>
        <p:spPr>
          <a:xfrm>
            <a:off x="1783080" y="323712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Klientët mund të gjurmojnë të dhënat e tyre të ruajtura/menaxhuara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21"/>
          <p:cNvSpPr/>
          <p:nvPr/>
        </p:nvSpPr>
        <p:spPr>
          <a:xfrm>
            <a:off x="4526280" y="2761560"/>
            <a:ext cx="2742840" cy="1279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2"/>
          <p:cNvSpPr/>
          <p:nvPr/>
        </p:nvSpPr>
        <p:spPr>
          <a:xfrm>
            <a:off x="4526280" y="2761560"/>
            <a:ext cx="63720" cy="1279800"/>
          </a:xfrm>
          <a:prstGeom prst="rect">
            <a:avLst/>
          </a:prstGeom>
          <a:solidFill>
            <a:srgbClr val="8B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3"/>
          <p:cNvSpPr/>
          <p:nvPr/>
        </p:nvSpPr>
        <p:spPr>
          <a:xfrm>
            <a:off x="4709160" y="285300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B1A1A"/>
                </a:solidFill>
                <a:effectLst/>
                <a:uFillTx/>
                <a:latin typeface="Calibri"/>
                <a:ea typeface="Calibri"/>
              </a:rPr>
              <a:t>Riparimi (Repair)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4"/>
          <p:cNvSpPr/>
          <p:nvPr/>
        </p:nvSpPr>
        <p:spPr>
          <a:xfrm>
            <a:off x="4709160" y="3237120"/>
            <a:ext cx="242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Të dhënat mund të rikuperohen pas katastrofave ose shkeljeve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5"/>
          <p:cNvSpPr/>
          <p:nvPr/>
        </p:nvSpPr>
        <p:spPr>
          <a:xfrm>
            <a:off x="320040" y="4434840"/>
            <a:ext cx="8503560" cy="292320"/>
          </a:xfrm>
          <a:prstGeom prst="rect">
            <a:avLst/>
          </a:prstGeom>
          <a:solidFill>
            <a:srgbClr val="FAE0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6"/>
          <p:cNvSpPr/>
          <p:nvPr/>
        </p:nvSpPr>
        <p:spPr>
          <a:xfrm>
            <a:off x="457200" y="4462200"/>
            <a:ext cx="8320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1A1A"/>
                </a:solidFill>
                <a:effectLst/>
                <a:uFillTx/>
                <a:latin typeface="Calibri"/>
                <a:ea typeface="Calibri"/>
              </a:rPr>
              <a:t>Klientët cloud kanë kontroll të limituar – konfigurimet e aksesit dhe politikat e sigurisë i vendosin ofruesit, jo klientët!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Problem 3: Trust Management (TM)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4"/>
          <p:cNvSpPr/>
          <p:nvPr/>
        </p:nvSpPr>
        <p:spPr>
          <a:xfrm>
            <a:off x="320040" y="804600"/>
            <a:ext cx="8503560" cy="914040"/>
          </a:xfrm>
          <a:prstGeom prst="rect">
            <a:avLst/>
          </a:prstGeom>
          <a:solidFill>
            <a:srgbClr val="1A2040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5"/>
          <p:cNvSpPr/>
          <p:nvPr/>
        </p:nvSpPr>
        <p:spPr>
          <a:xfrm>
            <a:off x="502920" y="82296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Trust Management (TM) është lloj modeli IT-menaxhimi që përdor sisteme konceptuale për të përfaqësuar, përcaktuar dhe siguruar të dhënat brenda një mjedisi të bazuar në ndërveprim social.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6"/>
          <p:cNvSpPr/>
          <p:nvPr/>
        </p:nvSpPr>
        <p:spPr>
          <a:xfrm>
            <a:off x="320040" y="1874520"/>
            <a:ext cx="4068720" cy="15084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7"/>
          <p:cNvSpPr/>
          <p:nvPr/>
        </p:nvSpPr>
        <p:spPr>
          <a:xfrm>
            <a:off x="320040" y="1874520"/>
            <a:ext cx="63720" cy="1508400"/>
          </a:xfrm>
          <a:prstGeom prst="rect">
            <a:avLst/>
          </a:prstGeom>
          <a:solidFill>
            <a:srgbClr val="D35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8"/>
          <p:cNvSpPr/>
          <p:nvPr/>
        </p:nvSpPr>
        <p:spPr>
          <a:xfrm>
            <a:off x="484560" y="1965960"/>
            <a:ext cx="3794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35400"/>
                </a:solidFill>
                <a:effectLst/>
                <a:uFillTx/>
                <a:latin typeface="Calibri"/>
                <a:ea typeface="Calibri"/>
              </a:rPr>
              <a:t>Pyetja Kyçe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9"/>
          <p:cNvSpPr/>
          <p:nvPr/>
        </p:nvSpPr>
        <p:spPr>
          <a:xfrm>
            <a:off x="484560" y="2313360"/>
            <a:ext cx="37944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Si mund t'i besojmë një pale të tretë? Kjo pyetje shtrihet si tek klientët ashtu edhe tek ofruesit.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0"/>
          <p:cNvSpPr/>
          <p:nvPr/>
        </p:nvSpPr>
        <p:spPr>
          <a:xfrm>
            <a:off x="4754880" y="1874520"/>
            <a:ext cx="4068720" cy="15084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1"/>
          <p:cNvSpPr/>
          <p:nvPr/>
        </p:nvSpPr>
        <p:spPr>
          <a:xfrm>
            <a:off x="4754880" y="1874520"/>
            <a:ext cx="63720" cy="15084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2"/>
          <p:cNvSpPr/>
          <p:nvPr/>
        </p:nvSpPr>
        <p:spPr>
          <a:xfrm>
            <a:off x="4919400" y="1965960"/>
            <a:ext cx="3794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Pyetja Kyçe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3"/>
          <p:cNvSpPr/>
          <p:nvPr/>
        </p:nvSpPr>
        <p:spPr>
          <a:xfrm>
            <a:off x="4919400" y="2313360"/>
            <a:ext cx="37944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Si shmangim oflloading të panevojshëm të burimeve tek palët e treta? Niveli i rrezikut rritet me çdo palë të tretë të shtuar.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4"/>
          <p:cNvSpPr/>
          <p:nvPr/>
        </p:nvSpPr>
        <p:spPr>
          <a:xfrm>
            <a:off x="320040" y="3520440"/>
            <a:ext cx="4068720" cy="1188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5"/>
          <p:cNvSpPr/>
          <p:nvPr/>
        </p:nvSpPr>
        <p:spPr>
          <a:xfrm>
            <a:off x="320040" y="3520440"/>
            <a:ext cx="63720" cy="1188360"/>
          </a:xfrm>
          <a:prstGeom prst="rect">
            <a:avLst/>
          </a:prstGeom>
          <a:solidFill>
            <a:srgbClr val="1E57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6"/>
          <p:cNvSpPr/>
          <p:nvPr/>
        </p:nvSpPr>
        <p:spPr>
          <a:xfrm>
            <a:off x="484560" y="3611880"/>
            <a:ext cx="3794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5799"/>
                </a:solidFill>
                <a:effectLst/>
                <a:uFillTx/>
                <a:latin typeface="Calibri"/>
                <a:ea typeface="Calibri"/>
              </a:rPr>
              <a:t>Konteksti i VM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7"/>
          <p:cNvSpPr/>
          <p:nvPr/>
        </p:nvSpPr>
        <p:spPr>
          <a:xfrm>
            <a:off x="484560" y="3959280"/>
            <a:ext cx="3794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Aktivitete adversariale ndodhin gjatë migrimeve VM dhe ndarjeve të makinerive fizike ndërmjet palëve.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8"/>
          <p:cNvSpPr/>
          <p:nvPr/>
        </p:nvSpPr>
        <p:spPr>
          <a:xfrm>
            <a:off x="4754880" y="3520440"/>
            <a:ext cx="4068720" cy="1188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9"/>
          <p:cNvSpPr/>
          <p:nvPr/>
        </p:nvSpPr>
        <p:spPr>
          <a:xfrm>
            <a:off x="4754880" y="3520440"/>
            <a:ext cx="63720" cy="1188360"/>
          </a:xfrm>
          <a:prstGeom prst="rect">
            <a:avLst/>
          </a:prstGeom>
          <a:solidFill>
            <a:srgbClr val="1A7A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0"/>
          <p:cNvSpPr/>
          <p:nvPr/>
        </p:nvSpPr>
        <p:spPr>
          <a:xfrm>
            <a:off x="4919400" y="3611880"/>
            <a:ext cx="3794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7A4C"/>
                </a:solidFill>
                <a:effectLst/>
                <a:uFillTx/>
                <a:latin typeface="Calibri"/>
                <a:ea typeface="Calibri"/>
              </a:rPr>
              <a:t>Zgjidhjet TM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1"/>
          <p:cNvSpPr/>
          <p:nvPr/>
        </p:nvSpPr>
        <p:spPr>
          <a:xfrm>
            <a:off x="4919400" y="3959280"/>
            <a:ext cx="3794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Kuptimi i sjelljeve të çdo objekti. Definimi korrekt i problemeve bazuar në kuptim. Shembull: TM në rrjetet sociale.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Problem 4: Multi-Tenancy – Ndarja e Makinës Fizike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4"/>
          <p:cNvSpPr/>
          <p:nvPr/>
        </p:nvSpPr>
        <p:spPr>
          <a:xfrm>
            <a:off x="320040" y="804600"/>
            <a:ext cx="8503560" cy="59400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5"/>
          <p:cNvSpPr/>
          <p:nvPr/>
        </p:nvSpPr>
        <p:spPr>
          <a:xfrm>
            <a:off x="457200" y="8319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Multi-tenancy = shumë përdorues ndajnë të njëjtën makinë fizike. Sulmuesi dhe përdoruesit normalë mund të jenë bashkë në të njëjtin server! (Fig. 8.5)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6"/>
          <p:cNvSpPr/>
          <p:nvPr/>
        </p:nvSpPr>
        <p:spPr>
          <a:xfrm>
            <a:off x="2286000" y="1508760"/>
            <a:ext cx="4571640" cy="2742840"/>
          </a:xfrm>
          <a:prstGeom prst="rect">
            <a:avLst/>
          </a:prstGeom>
          <a:solidFill>
            <a:srgbClr val="E5E8F0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7"/>
          <p:cNvSpPr/>
          <p:nvPr/>
        </p:nvSpPr>
        <p:spPr>
          <a:xfrm>
            <a:off x="2286000" y="1508760"/>
            <a:ext cx="4571640" cy="41112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8"/>
          <p:cNvSpPr/>
          <p:nvPr/>
        </p:nvSpPr>
        <p:spPr>
          <a:xfrm>
            <a:off x="2286000" y="155448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 NJËJTA MAKINË FIZIKE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9"/>
          <p:cNvSpPr/>
          <p:nvPr/>
        </p:nvSpPr>
        <p:spPr>
          <a:xfrm>
            <a:off x="2468880" y="2057400"/>
            <a:ext cx="1919880" cy="639720"/>
          </a:xfrm>
          <a:prstGeom prst="rect">
            <a:avLst/>
          </a:prstGeom>
          <a:solidFill>
            <a:srgbClr val="1A7A4C">
              <a:alpha val="75000"/>
            </a:srgbClr>
          </a:solidFill>
          <a:ln w="12700">
            <a:solidFill>
              <a:srgbClr val="1A7A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0"/>
          <p:cNvSpPr/>
          <p:nvPr/>
        </p:nvSpPr>
        <p:spPr>
          <a:xfrm>
            <a:off x="2468880" y="219456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Përdorues Normal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1"/>
          <p:cNvSpPr/>
          <p:nvPr/>
        </p:nvSpPr>
        <p:spPr>
          <a:xfrm>
            <a:off x="4663440" y="2057400"/>
            <a:ext cx="1919880" cy="639720"/>
          </a:xfrm>
          <a:prstGeom prst="rect">
            <a:avLst/>
          </a:prstGeom>
          <a:solidFill>
            <a:srgbClr val="1A7A4C">
              <a:alpha val="75000"/>
            </a:srgbClr>
          </a:solidFill>
          <a:ln w="12700">
            <a:solidFill>
              <a:srgbClr val="1A7A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2"/>
          <p:cNvSpPr/>
          <p:nvPr/>
        </p:nvSpPr>
        <p:spPr>
          <a:xfrm>
            <a:off x="4663440" y="219456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Përdorues Normal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3"/>
          <p:cNvSpPr/>
          <p:nvPr/>
        </p:nvSpPr>
        <p:spPr>
          <a:xfrm>
            <a:off x="2468880" y="2971800"/>
            <a:ext cx="1919880" cy="639720"/>
          </a:xfrm>
          <a:prstGeom prst="rect">
            <a:avLst/>
          </a:prstGeom>
          <a:solidFill>
            <a:srgbClr val="C0392B">
              <a:alpha val="75000"/>
            </a:srgbClr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4"/>
          <p:cNvSpPr/>
          <p:nvPr/>
        </p:nvSpPr>
        <p:spPr>
          <a:xfrm>
            <a:off x="2468880" y="310896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🔴 SULMUES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5"/>
          <p:cNvSpPr/>
          <p:nvPr/>
        </p:nvSpPr>
        <p:spPr>
          <a:xfrm>
            <a:off x="4663440" y="2971800"/>
            <a:ext cx="1919880" cy="639720"/>
          </a:xfrm>
          <a:prstGeom prst="rect">
            <a:avLst/>
          </a:prstGeom>
          <a:solidFill>
            <a:srgbClr val="1A7A4C">
              <a:alpha val="75000"/>
            </a:srgbClr>
          </a:solidFill>
          <a:ln w="12700">
            <a:solidFill>
              <a:srgbClr val="1A7A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6"/>
          <p:cNvSpPr/>
          <p:nvPr/>
        </p:nvSpPr>
        <p:spPr>
          <a:xfrm>
            <a:off x="4663440" y="310896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Përdorues Normal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7"/>
          <p:cNvSpPr/>
          <p:nvPr/>
        </p:nvSpPr>
        <p:spPr>
          <a:xfrm>
            <a:off x="320040" y="4316040"/>
            <a:ext cx="4023000" cy="411120"/>
          </a:xfrm>
          <a:prstGeom prst="rect">
            <a:avLst/>
          </a:prstGeom>
          <a:solidFill>
            <a:srgbClr val="1E57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8"/>
          <p:cNvSpPr/>
          <p:nvPr/>
        </p:nvSpPr>
        <p:spPr>
          <a:xfrm>
            <a:off x="411480" y="433440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Compatibility: shërbime të ndryshme në të njëjtën makinë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9"/>
          <p:cNvSpPr/>
          <p:nvPr/>
        </p:nvSpPr>
        <p:spPr>
          <a:xfrm>
            <a:off x="4800600" y="4316040"/>
            <a:ext cx="4023000" cy="41112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0"/>
          <p:cNvSpPr/>
          <p:nvPr/>
        </p:nvSpPr>
        <p:spPr>
          <a:xfrm>
            <a:off x="4892040" y="433440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Isolation: makinë e vetme mbështet klient dhe shërbim individualisht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E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0"/>
          <p:cNvSpPr/>
          <p:nvPr/>
        </p:nvSpPr>
        <p:spPr>
          <a:xfrm>
            <a:off x="0" y="4480560"/>
            <a:ext cx="9143640" cy="66276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"/>
          <p:cNvSpPr/>
          <p:nvPr/>
        </p:nvSpPr>
        <p:spPr>
          <a:xfrm>
            <a:off x="548640" y="1005840"/>
            <a:ext cx="80463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8.3  Taksonomia e Kërcënimeve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"/>
          <p:cNvSpPr/>
          <p:nvPr/>
        </p:nvSpPr>
        <p:spPr>
          <a:xfrm>
            <a:off x="548640" y="274320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BDD9F2"/>
                </a:solidFill>
                <a:effectLst/>
                <a:uFillTx/>
                <a:latin typeface="Calibri Light"/>
                <a:ea typeface="Calibri Light"/>
              </a:rPr>
              <a:t>CIA · Massive Data Mining · Attack Interfaces · Auditability · Legal Issues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3"/>
          <p:cNvSpPr/>
          <p:nvPr/>
        </p:nvSpPr>
        <p:spPr>
          <a:xfrm>
            <a:off x="274320" y="457200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Hartëzimi i Taksonomisë së Kërcënimeve (Fig. 8.6)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4"/>
          <p:cNvSpPr/>
          <p:nvPr/>
        </p:nvSpPr>
        <p:spPr>
          <a:xfrm>
            <a:off x="365760" y="804600"/>
            <a:ext cx="8412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5 taksonomitë kryesore të kërcënimeve – bazë e domosdoshme për kuptimin dhe zgjidhjen e problemeve: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5"/>
          <p:cNvSpPr/>
          <p:nvPr/>
        </p:nvSpPr>
        <p:spPr>
          <a:xfrm>
            <a:off x="365760" y="1298520"/>
            <a:ext cx="2468520" cy="1462680"/>
          </a:xfrm>
          <a:prstGeom prst="rect">
            <a:avLst/>
          </a:prstGeom>
          <a:solidFill>
            <a:srgbClr val="8B1A1A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6"/>
          <p:cNvSpPr/>
          <p:nvPr/>
        </p:nvSpPr>
        <p:spPr>
          <a:xfrm>
            <a:off x="365760" y="161856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Confidentiality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Integrity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Availability (CIA)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7"/>
          <p:cNvSpPr/>
          <p:nvPr/>
        </p:nvSpPr>
        <p:spPr>
          <a:xfrm>
            <a:off x="3063240" y="1298520"/>
            <a:ext cx="2468520" cy="1462680"/>
          </a:xfrm>
          <a:prstGeom prst="rect">
            <a:avLst/>
          </a:prstGeom>
          <a:solidFill>
            <a:srgbClr val="C0392B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8"/>
          <p:cNvSpPr/>
          <p:nvPr/>
        </p:nvSpPr>
        <p:spPr>
          <a:xfrm>
            <a:off x="3063240" y="161856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Massive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Mining (MDM)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9"/>
          <p:cNvSpPr/>
          <p:nvPr/>
        </p:nvSpPr>
        <p:spPr>
          <a:xfrm>
            <a:off x="5760720" y="1298520"/>
            <a:ext cx="2468520" cy="1462680"/>
          </a:xfrm>
          <a:prstGeom prst="rect">
            <a:avLst/>
          </a:prstGeom>
          <a:solidFill>
            <a:srgbClr val="D35400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0"/>
          <p:cNvSpPr/>
          <p:nvPr/>
        </p:nvSpPr>
        <p:spPr>
          <a:xfrm>
            <a:off x="5760720" y="161856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Attack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Interfaces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11"/>
          <p:cNvSpPr/>
          <p:nvPr/>
        </p:nvSpPr>
        <p:spPr>
          <a:xfrm>
            <a:off x="1737360" y="3200400"/>
            <a:ext cx="2468520" cy="1462680"/>
          </a:xfrm>
          <a:prstGeom prst="rect">
            <a:avLst/>
          </a:prstGeom>
          <a:solidFill>
            <a:srgbClr val="1E5799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2"/>
          <p:cNvSpPr/>
          <p:nvPr/>
        </p:nvSpPr>
        <p:spPr>
          <a:xfrm>
            <a:off x="1737360" y="352044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Auditability &amp;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Forensics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3"/>
          <p:cNvSpPr/>
          <p:nvPr/>
        </p:nvSpPr>
        <p:spPr>
          <a:xfrm>
            <a:off x="4846320" y="3200400"/>
            <a:ext cx="2468520" cy="1462680"/>
          </a:xfrm>
          <a:prstGeom prst="rect">
            <a:avLst/>
          </a:prstGeom>
          <a:solidFill>
            <a:srgbClr val="1A7A4C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4"/>
          <p:cNvSpPr/>
          <p:nvPr/>
        </p:nvSpPr>
        <p:spPr>
          <a:xfrm>
            <a:off x="4846320" y="352044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Legal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Issues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5"/>
          <p:cNvSpPr/>
          <p:nvPr/>
        </p:nvSpPr>
        <p:spPr>
          <a:xfrm>
            <a:off x="320040" y="4727520"/>
            <a:ext cx="8503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Calibri Light"/>
                <a:ea typeface="Calibri Light"/>
              </a:rPr>
              <a:t>Qëllimi i taksonomisë: kuptimi i saj është domosdoshmëri për konceptualizimin e problemeve dhe zhvillimin e zgjidhjeve.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CIA – Konfidencialiteti, Integriteti dhe Disponueshmëria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4"/>
          <p:cNvSpPr/>
          <p:nvPr/>
        </p:nvSpPr>
        <p:spPr>
          <a:xfrm>
            <a:off x="320040" y="822960"/>
            <a:ext cx="8503560" cy="1188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5"/>
          <p:cNvSpPr/>
          <p:nvPr/>
        </p:nvSpPr>
        <p:spPr>
          <a:xfrm>
            <a:off x="320040" y="822960"/>
            <a:ext cx="1828440" cy="1188360"/>
          </a:xfrm>
          <a:prstGeom prst="rect">
            <a:avLst/>
          </a:prstGeom>
          <a:solidFill>
            <a:srgbClr val="8B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6"/>
          <p:cNvSpPr/>
          <p:nvPr/>
        </p:nvSpPr>
        <p:spPr>
          <a:xfrm>
            <a:off x="320040" y="868680"/>
            <a:ext cx="1828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 – CONFIDENTIALITY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Konfidencialiteti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7"/>
          <p:cNvSpPr/>
          <p:nvPr/>
        </p:nvSpPr>
        <p:spPr>
          <a:xfrm>
            <a:off x="2286000" y="896040"/>
            <a:ext cx="6309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Sigurimi që informacioni i klientëve ruajtur në serverët cloud nuk aksesohet nga persona të paautorizuar duke përdorur analiza, integritet, ose teknika data mining. Të dhënat mund të vijnë nga server i vetëm ose grup serverësh të shpërndarë. Shqetësimi kryesor: ofruesit cloud kanë autoritet të plotë operacional.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8"/>
          <p:cNvSpPr/>
          <p:nvPr/>
        </p:nvSpPr>
        <p:spPr>
          <a:xfrm>
            <a:off x="320040" y="2148840"/>
            <a:ext cx="8503560" cy="1188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9"/>
          <p:cNvSpPr/>
          <p:nvPr/>
        </p:nvSpPr>
        <p:spPr>
          <a:xfrm>
            <a:off x="320040" y="2148840"/>
            <a:ext cx="1828440" cy="1188360"/>
          </a:xfrm>
          <a:prstGeom prst="rect">
            <a:avLst/>
          </a:prstGeom>
          <a:solidFill>
            <a:srgbClr val="D35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0"/>
          <p:cNvSpPr/>
          <p:nvPr/>
        </p:nvSpPr>
        <p:spPr>
          <a:xfrm>
            <a:off x="320040" y="2194560"/>
            <a:ext cx="1828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 – INTEGRITY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Integriteti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1"/>
          <p:cNvSpPr/>
          <p:nvPr/>
        </p:nvSpPr>
        <p:spPr>
          <a:xfrm>
            <a:off x="2286000" y="2221920"/>
            <a:ext cx="6309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Integrimi i sistemeve të shumta cloud që siguron se klientët aksesojnë vetëm shërbimet/të dhënat e autorizuara. Sfidat kryesore vijnë nga shqetësimet e performancës. Dizajnerët duhet të garantojnë përpunim efektiv dhe output të saktë.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12"/>
          <p:cNvSpPr/>
          <p:nvPr/>
        </p:nvSpPr>
        <p:spPr>
          <a:xfrm>
            <a:off x="320040" y="3474720"/>
            <a:ext cx="8503560" cy="1188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13"/>
          <p:cNvSpPr/>
          <p:nvPr/>
        </p:nvSpPr>
        <p:spPr>
          <a:xfrm>
            <a:off x="320040" y="3474720"/>
            <a:ext cx="1828440" cy="1188360"/>
          </a:xfrm>
          <a:prstGeom prst="rect">
            <a:avLst/>
          </a:prstGeom>
          <a:solidFill>
            <a:srgbClr val="1E57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4"/>
          <p:cNvSpPr/>
          <p:nvPr/>
        </p:nvSpPr>
        <p:spPr>
          <a:xfrm>
            <a:off x="320040" y="3520440"/>
            <a:ext cx="1828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 – AVAILABILITY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Disponueshmëria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5"/>
          <p:cNvSpPr/>
          <p:nvPr/>
        </p:nvSpPr>
        <p:spPr>
          <a:xfrm>
            <a:off x="2286000" y="3547800"/>
            <a:ext cx="6309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Nëse ofruesit cloud mund të garantojnë shërbime të vazhdueshme. Ndërprerje mund të ndodhë nga: sulme DoS mbi ofruesin, ndërprerje biznesi, ose mungesë skalabiliteti. Shërbimi i limituar rezulton në disponueshmëri të reduktuar.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Massive Data Mining (MDM) – Miniera Masive e të Dhënave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4"/>
          <p:cNvSpPr/>
          <p:nvPr/>
        </p:nvSpPr>
        <p:spPr>
          <a:xfrm>
            <a:off x="320040" y="804600"/>
            <a:ext cx="8503560" cy="895680"/>
          </a:xfrm>
          <a:prstGeom prst="rect">
            <a:avLst/>
          </a:prstGeom>
          <a:solidFill>
            <a:srgbClr val="1A2040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5"/>
          <p:cNvSpPr/>
          <p:nvPr/>
        </p:nvSpPr>
        <p:spPr>
          <a:xfrm>
            <a:off x="502920" y="841320"/>
            <a:ext cx="8229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MDM: Rreziqet e privatësisë vijnë nga algoritmet data mining që nxjerrin informacion të ndjeshëm nga vëllime të mëdha të dhënash.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6"/>
          <p:cNvSpPr/>
          <p:nvPr/>
        </p:nvSpPr>
        <p:spPr>
          <a:xfrm>
            <a:off x="320040" y="1874520"/>
            <a:ext cx="4160160" cy="1142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7"/>
          <p:cNvSpPr/>
          <p:nvPr/>
        </p:nvSpPr>
        <p:spPr>
          <a:xfrm>
            <a:off x="320040" y="1874520"/>
            <a:ext cx="63720" cy="114264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8"/>
          <p:cNvSpPr/>
          <p:nvPr/>
        </p:nvSpPr>
        <p:spPr>
          <a:xfrm>
            <a:off x="502920" y="1965960"/>
            <a:ext cx="3794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Skenario 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9"/>
          <p:cNvSpPr/>
          <p:nvPr/>
        </p:nvSpPr>
        <p:spPr>
          <a:xfrm>
            <a:off x="502920" y="2331720"/>
            <a:ext cx="3794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Adversarët marrin të dhëna nga platforma të shumta cloud duke përdorur teknika data mining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10"/>
          <p:cNvSpPr/>
          <p:nvPr/>
        </p:nvSpPr>
        <p:spPr>
          <a:xfrm>
            <a:off x="4754880" y="1874520"/>
            <a:ext cx="4160160" cy="1142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11"/>
          <p:cNvSpPr/>
          <p:nvPr/>
        </p:nvSpPr>
        <p:spPr>
          <a:xfrm>
            <a:off x="4754880" y="1874520"/>
            <a:ext cx="63720" cy="1142640"/>
          </a:xfrm>
          <a:prstGeom prst="rect">
            <a:avLst/>
          </a:prstGeom>
          <a:solidFill>
            <a:srgbClr val="D35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2"/>
          <p:cNvSpPr/>
          <p:nvPr/>
        </p:nvSpPr>
        <p:spPr>
          <a:xfrm>
            <a:off x="4937760" y="1965960"/>
            <a:ext cx="3794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35400"/>
                </a:solidFill>
                <a:effectLst/>
                <a:uFillTx/>
                <a:latin typeface="Calibri"/>
                <a:ea typeface="Calibri"/>
              </a:rPr>
              <a:t>Skenario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3"/>
          <p:cNvSpPr/>
          <p:nvPr/>
        </p:nvSpPr>
        <p:spPr>
          <a:xfrm>
            <a:off x="4937760" y="2331720"/>
            <a:ext cx="3794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Sulmuesit hartëzojnë infrastrukturën cloud dhe monitorojnë të dhënat ku ruhen shumë klientë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4"/>
          <p:cNvSpPr/>
          <p:nvPr/>
        </p:nvSpPr>
        <p:spPr>
          <a:xfrm>
            <a:off x="320040" y="3200400"/>
            <a:ext cx="4160160" cy="1142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15"/>
          <p:cNvSpPr/>
          <p:nvPr/>
        </p:nvSpPr>
        <p:spPr>
          <a:xfrm>
            <a:off x="320040" y="3200400"/>
            <a:ext cx="63720" cy="1142640"/>
          </a:xfrm>
          <a:prstGeom prst="rect">
            <a:avLst/>
          </a:prstGeom>
          <a:solidFill>
            <a:srgbClr val="8B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6"/>
          <p:cNvSpPr/>
          <p:nvPr/>
        </p:nvSpPr>
        <p:spPr>
          <a:xfrm>
            <a:off x="502920" y="3291840"/>
            <a:ext cx="3794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B1A1A"/>
                </a:solidFill>
                <a:effectLst/>
                <a:uFillTx/>
                <a:latin typeface="Calibri"/>
                <a:ea typeface="Calibri"/>
              </a:rPr>
              <a:t>Rreziku unik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7"/>
          <p:cNvSpPr/>
          <p:nvPr/>
        </p:nvSpPr>
        <p:spPr>
          <a:xfrm>
            <a:off x="502920" y="3657600"/>
            <a:ext cx="3794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Shkelja e privatësisë ndodh edhe kur vetëm informacioni i pjesshëm gjendet në një burim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18"/>
          <p:cNvSpPr/>
          <p:nvPr/>
        </p:nvSpPr>
        <p:spPr>
          <a:xfrm>
            <a:off x="4754880" y="3200400"/>
            <a:ext cx="4160160" cy="1142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9"/>
          <p:cNvSpPr/>
          <p:nvPr/>
        </p:nvSpPr>
        <p:spPr>
          <a:xfrm>
            <a:off x="4754880" y="3200400"/>
            <a:ext cx="63720" cy="1142640"/>
          </a:xfrm>
          <a:prstGeom prst="rect">
            <a:avLst/>
          </a:prstGeom>
          <a:solidFill>
            <a:srgbClr val="1E57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0"/>
          <p:cNvSpPr/>
          <p:nvPr/>
        </p:nvSpPr>
        <p:spPr>
          <a:xfrm>
            <a:off x="4937760" y="3291840"/>
            <a:ext cx="3794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5799"/>
                </a:solidFill>
                <a:effectLst/>
                <a:uFillTx/>
                <a:latin typeface="Calibri"/>
                <a:ea typeface="Calibri"/>
              </a:rPr>
              <a:t>Edhe kriptimi nuk mjafton!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21"/>
          <p:cNvSpPr/>
          <p:nvPr/>
        </p:nvSpPr>
        <p:spPr>
          <a:xfrm>
            <a:off x="4937760" y="3657600"/>
            <a:ext cx="3794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Algoritmet MDM mund të nxjerrin informacion edhe kur disa të dhëna janë të enkriptuara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Attack Interfaces – Interfaqet e Sulmit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4"/>
          <p:cNvSpPr/>
          <p:nvPr/>
        </p:nvSpPr>
        <p:spPr>
          <a:xfrm>
            <a:off x="365760" y="822960"/>
            <a:ext cx="84121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Sulmet mund të ndodhin në shtresa të ndryshme – objektivat e sulmit janë të larmishme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Sulmet malicious ndodhin edhe në lidhjet e komunikimit – interfaqe dhe API të pasigurta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Kërcënimi kryesor: API i pasigurt nuk ofron autentikim efektiv → autentikimi, kontrolli sistem dhe autorizimi mund të hakerohen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Konfidencialiteti, disponueshmëria dhe integriteti janë të gjithë të ekspozuar ndaj sulmeve API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5"/>
          <p:cNvSpPr/>
          <p:nvPr/>
        </p:nvSpPr>
        <p:spPr>
          <a:xfrm>
            <a:off x="320040" y="2788920"/>
            <a:ext cx="4160160" cy="959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6"/>
          <p:cNvSpPr/>
          <p:nvPr/>
        </p:nvSpPr>
        <p:spPr>
          <a:xfrm>
            <a:off x="320040" y="2788920"/>
            <a:ext cx="63720" cy="959760"/>
          </a:xfrm>
          <a:prstGeom prst="rect">
            <a:avLst/>
          </a:prstGeom>
          <a:solidFill>
            <a:srgbClr val="1E57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7"/>
          <p:cNvSpPr/>
          <p:nvPr/>
        </p:nvSpPr>
        <p:spPr>
          <a:xfrm>
            <a:off x="502920" y="2862000"/>
            <a:ext cx="3794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5799"/>
                </a:solidFill>
                <a:effectLst/>
                <a:uFillTx/>
                <a:latin typeface="Calibri"/>
                <a:ea typeface="Calibri"/>
              </a:rPr>
              <a:t>Shtresa e Rrjetit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8"/>
          <p:cNvSpPr/>
          <p:nvPr/>
        </p:nvSpPr>
        <p:spPr>
          <a:xfrm>
            <a:off x="502920" y="3218760"/>
            <a:ext cx="3794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Sulme gjatë transmetimit të të dhënave në wireless networks – spoofing, jamming, Man-in-the-Middle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9"/>
          <p:cNvSpPr/>
          <p:nvPr/>
        </p:nvSpPr>
        <p:spPr>
          <a:xfrm>
            <a:off x="4754880" y="2788920"/>
            <a:ext cx="4160160" cy="959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10"/>
          <p:cNvSpPr/>
          <p:nvPr/>
        </p:nvSpPr>
        <p:spPr>
          <a:xfrm>
            <a:off x="4754880" y="2788920"/>
            <a:ext cx="63720" cy="95976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1"/>
          <p:cNvSpPr/>
          <p:nvPr/>
        </p:nvSpPr>
        <p:spPr>
          <a:xfrm>
            <a:off x="4937760" y="2862000"/>
            <a:ext cx="3794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Shtresa e Aplikacionit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2"/>
          <p:cNvSpPr/>
          <p:nvPr/>
        </p:nvSpPr>
        <p:spPr>
          <a:xfrm>
            <a:off x="4937760" y="3218760"/>
            <a:ext cx="3794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Akses i paautorizuar në informacion të mbrojtur – Cookie Poisoning, DoS, Google Hacking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3"/>
          <p:cNvSpPr/>
          <p:nvPr/>
        </p:nvSpPr>
        <p:spPr>
          <a:xfrm>
            <a:off x="320040" y="3886200"/>
            <a:ext cx="4160160" cy="959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14"/>
          <p:cNvSpPr/>
          <p:nvPr/>
        </p:nvSpPr>
        <p:spPr>
          <a:xfrm>
            <a:off x="320040" y="3886200"/>
            <a:ext cx="63720" cy="959760"/>
          </a:xfrm>
          <a:prstGeom prst="rect">
            <a:avLst/>
          </a:prstGeom>
          <a:solidFill>
            <a:srgbClr val="D35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5"/>
          <p:cNvSpPr/>
          <p:nvPr/>
        </p:nvSpPr>
        <p:spPr>
          <a:xfrm>
            <a:off x="502920" y="3959280"/>
            <a:ext cx="3794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35400"/>
                </a:solidFill>
                <a:effectLst/>
                <a:uFillTx/>
                <a:latin typeface="Calibri"/>
                <a:ea typeface="Calibri"/>
              </a:rPr>
              <a:t>Shtresa e API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6"/>
          <p:cNvSpPr/>
          <p:nvPr/>
        </p:nvSpPr>
        <p:spPr>
          <a:xfrm>
            <a:off x="502920" y="4316040"/>
            <a:ext cx="3794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API-të e pasigurta mundësojnë injeksion kodi, eavesdropping, hakime të autentikimit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7"/>
          <p:cNvSpPr/>
          <p:nvPr/>
        </p:nvSpPr>
        <p:spPr>
          <a:xfrm>
            <a:off x="4754880" y="3886200"/>
            <a:ext cx="4160160" cy="959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18"/>
          <p:cNvSpPr/>
          <p:nvPr/>
        </p:nvSpPr>
        <p:spPr>
          <a:xfrm>
            <a:off x="4754880" y="3886200"/>
            <a:ext cx="63720" cy="959760"/>
          </a:xfrm>
          <a:prstGeom prst="rect">
            <a:avLst/>
          </a:prstGeom>
          <a:solidFill>
            <a:srgbClr val="8B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9"/>
          <p:cNvSpPr/>
          <p:nvPr/>
        </p:nvSpPr>
        <p:spPr>
          <a:xfrm>
            <a:off x="4937760" y="3959280"/>
            <a:ext cx="3794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B1A1A"/>
                </a:solidFill>
                <a:effectLst/>
                <a:uFillTx/>
                <a:latin typeface="Calibri"/>
                <a:ea typeface="Calibri"/>
              </a:rPr>
              <a:t>Shtresa e Infrastrukturës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20"/>
          <p:cNvSpPr/>
          <p:nvPr/>
        </p:nvSpPr>
        <p:spPr>
          <a:xfrm>
            <a:off x="4937760" y="4316040"/>
            <a:ext cx="3794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Dobësitë e VM, hypervisor-it dhe infrastrukturës fizike – burim i sulmeve multi-shtresore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Auditability, Forensics dhe Çështjet Ligjore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4"/>
          <p:cNvSpPr/>
          <p:nvPr/>
        </p:nvSpPr>
        <p:spPr>
          <a:xfrm>
            <a:off x="320040" y="804600"/>
            <a:ext cx="8503560" cy="1096920"/>
          </a:xfrm>
          <a:prstGeom prst="rect">
            <a:avLst/>
          </a:prstGeom>
          <a:solidFill>
            <a:srgbClr val="1E5799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5"/>
          <p:cNvSpPr/>
          <p:nvPr/>
        </p:nvSpPr>
        <p:spPr>
          <a:xfrm>
            <a:off x="457200" y="85032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MCA – Mobile Cloud Auditability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6"/>
          <p:cNvSpPr/>
          <p:nvPr/>
        </p:nvSpPr>
        <p:spPr>
          <a:xfrm>
            <a:off x="457200" y="1234440"/>
            <a:ext cx="8229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Grup aktivitetesh që mbështesin përputhshmërinë rregullatore sipas marrëveshjeve ndërmjet klientëve mobil cloud dhe ofruesve. Auditability është sfidë sepse të dhënat janë ruajtura remotë.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7"/>
          <p:cNvSpPr/>
          <p:nvPr/>
        </p:nvSpPr>
        <p:spPr>
          <a:xfrm>
            <a:off x="320040" y="2030040"/>
            <a:ext cx="8503560" cy="1279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8"/>
          <p:cNvSpPr/>
          <p:nvPr/>
        </p:nvSpPr>
        <p:spPr>
          <a:xfrm>
            <a:off x="320040" y="2030040"/>
            <a:ext cx="63720" cy="127980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9"/>
          <p:cNvSpPr/>
          <p:nvPr/>
        </p:nvSpPr>
        <p:spPr>
          <a:xfrm>
            <a:off x="502920" y="210312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040"/>
                </a:solidFill>
                <a:effectLst/>
                <a:uFillTx/>
                <a:latin typeface="Calibri"/>
                <a:ea typeface="Calibri"/>
              </a:rPr>
              <a:t>MCF – Mobile Cloud Forensics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0"/>
          <p:cNvSpPr/>
          <p:nvPr/>
        </p:nvSpPr>
        <p:spPr>
          <a:xfrm>
            <a:off x="502920" y="24872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Grup teknikash për identifikimin, vlerësimin, mbledhjen dhe analizimin e të dhënave cloud gjatë nxjerrjes së informacionit dhe mbikëqyrjes së sjelljes. MCF ⊂ Cloud Forensics ⊂ Digital Forensics.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1"/>
          <p:cNvSpPr/>
          <p:nvPr/>
        </p:nvSpPr>
        <p:spPr>
          <a:xfrm>
            <a:off x="320040" y="3447360"/>
            <a:ext cx="8503560" cy="1279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12"/>
          <p:cNvSpPr/>
          <p:nvPr/>
        </p:nvSpPr>
        <p:spPr>
          <a:xfrm>
            <a:off x="320040" y="3447360"/>
            <a:ext cx="63720" cy="1279800"/>
          </a:xfrm>
          <a:prstGeom prst="rect">
            <a:avLst/>
          </a:prstGeom>
          <a:solidFill>
            <a:srgbClr val="1A7A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3"/>
          <p:cNvSpPr/>
          <p:nvPr/>
        </p:nvSpPr>
        <p:spPr>
          <a:xfrm>
            <a:off x="502920" y="352044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7A4C"/>
                </a:solidFill>
                <a:effectLst/>
                <a:uFillTx/>
                <a:latin typeface="Calibri"/>
                <a:ea typeface="Calibri"/>
              </a:rPr>
              <a:t>Çështjet Ligjore (Legal Issues)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4"/>
          <p:cNvSpPr/>
          <p:nvPr/>
        </p:nvSpPr>
        <p:spPr>
          <a:xfrm>
            <a:off x="502920" y="390456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Dinamike – ligjet dhe rregulloret ndryshojnë vazhdimisht. Ofruesit duhet të ndjekin ligjin dhe rregulloret përkatëse. Konfuzion mund të lindë nga marrëdhëniet e ndërlikuara të palëve të treta (subkontraktimi).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E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e 0"/>
          <p:cNvSpPr/>
          <p:nvPr/>
        </p:nvSpPr>
        <p:spPr>
          <a:xfrm>
            <a:off x="0" y="4480560"/>
            <a:ext cx="9143640" cy="66276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"/>
          <p:cNvSpPr/>
          <p:nvPr/>
        </p:nvSpPr>
        <p:spPr>
          <a:xfrm>
            <a:off x="548640" y="1005840"/>
            <a:ext cx="80463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8.4  Modelet e Kërcënimeve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(Threat Models)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2"/>
          <p:cNvSpPr/>
          <p:nvPr/>
        </p:nvSpPr>
        <p:spPr>
          <a:xfrm>
            <a:off x="548640" y="274320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BDD9F2"/>
                </a:solidFill>
                <a:effectLst/>
                <a:uFillTx/>
                <a:latin typeface="Calibri Light"/>
                <a:ea typeface="Calibri Light"/>
              </a:rPr>
              <a:t>Insider Threats · Outsider Threats · Attacker/Adversary Model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3"/>
          <p:cNvSpPr/>
          <p:nvPr/>
        </p:nvSpPr>
        <p:spPr>
          <a:xfrm>
            <a:off x="274320" y="4572000"/>
            <a:ext cx="859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Çfarë është Modeli i Kërcënimit (Threat Model)?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4"/>
          <p:cNvSpPr/>
          <p:nvPr/>
        </p:nvSpPr>
        <p:spPr>
          <a:xfrm>
            <a:off x="320040" y="804600"/>
            <a:ext cx="8503560" cy="1005480"/>
          </a:xfrm>
          <a:prstGeom prst="rect">
            <a:avLst/>
          </a:prstGeom>
          <a:solidFill>
            <a:srgbClr val="1A2040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5"/>
          <p:cNvSpPr/>
          <p:nvPr/>
        </p:nvSpPr>
        <p:spPr>
          <a:xfrm>
            <a:off x="502920" y="841320"/>
            <a:ext cx="822924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Modeli i Kërcënimit është qasje e dizajnuar për formulimin e problemit të sigurisë duke kryer detyra: analizimin e problemeve, dizajnimin e strategjisë mitigimi dhe propozimin e zgjidhjeve.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6"/>
          <p:cNvSpPr/>
          <p:nvPr/>
        </p:nvSpPr>
        <p:spPr>
          <a:xfrm>
            <a:off x="365760" y="193860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040"/>
                </a:solidFill>
                <a:effectLst/>
                <a:uFillTx/>
                <a:latin typeface="Calibri"/>
                <a:ea typeface="Calibri"/>
              </a:rPr>
              <a:t>4 Hapat e Zhvillimit të Modelit të Kërcënimit (Fig. 8.8):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7"/>
          <p:cNvSpPr/>
          <p:nvPr/>
        </p:nvSpPr>
        <p:spPr>
          <a:xfrm>
            <a:off x="320040" y="2423160"/>
            <a:ext cx="2011320" cy="2285640"/>
          </a:xfrm>
          <a:prstGeom prst="rect">
            <a:avLst/>
          </a:prstGeom>
          <a:solidFill>
            <a:srgbClr val="8B1A1A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8"/>
          <p:cNvSpPr/>
          <p:nvPr/>
        </p:nvSpPr>
        <p:spPr>
          <a:xfrm>
            <a:off x="320040" y="2487240"/>
            <a:ext cx="2011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Identifiko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Kërcënimet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9"/>
          <p:cNvSpPr/>
          <p:nvPr/>
        </p:nvSpPr>
        <p:spPr>
          <a:xfrm>
            <a:off x="411480" y="3337560"/>
            <a:ext cx="182844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Identifiko dhe defino kërcënimet target: sulmuesit, modeli adversarial, aktivitetet, rastet, objektivat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10"/>
          <p:cNvSpPr/>
          <p:nvPr/>
        </p:nvSpPr>
        <p:spPr>
          <a:xfrm>
            <a:off x="2377440" y="3493080"/>
            <a:ext cx="72720" cy="2008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1"/>
          <p:cNvSpPr/>
          <p:nvPr/>
        </p:nvSpPr>
        <p:spPr>
          <a:xfrm>
            <a:off x="2468880" y="2423160"/>
            <a:ext cx="2011320" cy="2285640"/>
          </a:xfrm>
          <a:prstGeom prst="rect">
            <a:avLst/>
          </a:prstGeom>
          <a:solidFill>
            <a:srgbClr val="C0392B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2"/>
          <p:cNvSpPr/>
          <p:nvPr/>
        </p:nvSpPr>
        <p:spPr>
          <a:xfrm>
            <a:off x="2468880" y="2487240"/>
            <a:ext cx="2011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Rendit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Kërcënimet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3"/>
          <p:cNvSpPr/>
          <p:nvPr/>
        </p:nvSpPr>
        <p:spPr>
          <a:xfrm>
            <a:off x="2560320" y="3337560"/>
            <a:ext cx="182844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Rendis kërcënimet sipas rezultateve të hapit 1. Konfigurim si parametra ose variabla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14"/>
          <p:cNvSpPr/>
          <p:nvPr/>
        </p:nvSpPr>
        <p:spPr>
          <a:xfrm>
            <a:off x="4526280" y="3493080"/>
            <a:ext cx="72720" cy="2008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15"/>
          <p:cNvSpPr/>
          <p:nvPr/>
        </p:nvSpPr>
        <p:spPr>
          <a:xfrm>
            <a:off x="4617720" y="2423160"/>
            <a:ext cx="2011320" cy="2285640"/>
          </a:xfrm>
          <a:prstGeom prst="rect">
            <a:avLst/>
          </a:prstGeom>
          <a:solidFill>
            <a:srgbClr val="D35400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6"/>
          <p:cNvSpPr/>
          <p:nvPr/>
        </p:nvSpPr>
        <p:spPr>
          <a:xfrm>
            <a:off x="4617720" y="2487240"/>
            <a:ext cx="2011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Strategjia 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Mitigimit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7"/>
          <p:cNvSpPr/>
          <p:nvPr/>
        </p:nvSpPr>
        <p:spPr>
          <a:xfrm>
            <a:off x="4709160" y="3337560"/>
            <a:ext cx="182844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Zgjidh strategjinë mitigimit. Adreso shtresën specifike të sigurisë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18"/>
          <p:cNvSpPr/>
          <p:nvPr/>
        </p:nvSpPr>
        <p:spPr>
          <a:xfrm>
            <a:off x="6675120" y="3493080"/>
            <a:ext cx="72720" cy="2008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19"/>
          <p:cNvSpPr/>
          <p:nvPr/>
        </p:nvSpPr>
        <p:spPr>
          <a:xfrm>
            <a:off x="6766560" y="2423160"/>
            <a:ext cx="2011320" cy="2285640"/>
          </a:xfrm>
          <a:prstGeom prst="rect">
            <a:avLst/>
          </a:prstGeom>
          <a:solidFill>
            <a:srgbClr val="1A7A4C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20"/>
          <p:cNvSpPr/>
          <p:nvPr/>
        </p:nvSpPr>
        <p:spPr>
          <a:xfrm>
            <a:off x="6766560" y="2487240"/>
            <a:ext cx="2011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Zhvillo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Zgjidhjen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21"/>
          <p:cNvSpPr/>
          <p:nvPr/>
        </p:nvSpPr>
        <p:spPr>
          <a:xfrm>
            <a:off x="6858000" y="3337560"/>
            <a:ext cx="182844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Zhvillo zgjidhjen finale ndaj kërcënimeve target të identifikuara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Modeli Sulmues/Adversarial (AAM – Attacker/Adversary Model)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4"/>
          <p:cNvSpPr/>
          <p:nvPr/>
        </p:nvSpPr>
        <p:spPr>
          <a:xfrm>
            <a:off x="320040" y="804600"/>
            <a:ext cx="8503560" cy="71280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5"/>
          <p:cNvSpPr/>
          <p:nvPr/>
        </p:nvSpPr>
        <p:spPr>
          <a:xfrm>
            <a:off x="457200" y="82296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AA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M =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mo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del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për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shk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rue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s që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ofro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n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info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rma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cion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për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kërc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ëni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min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: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lloje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t e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sul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mu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esit,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mot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ivim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et,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dhe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kap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acit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etet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6"/>
          <p:cNvSpPr/>
          <p:nvPr/>
        </p:nvSpPr>
        <p:spPr>
          <a:xfrm>
            <a:off x="320040" y="1664280"/>
            <a:ext cx="4160160" cy="1416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7"/>
          <p:cNvSpPr/>
          <p:nvPr/>
        </p:nvSpPr>
        <p:spPr>
          <a:xfrm>
            <a:off x="320040" y="1664280"/>
            <a:ext cx="63720" cy="141696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8"/>
          <p:cNvSpPr/>
          <p:nvPr/>
        </p:nvSpPr>
        <p:spPr>
          <a:xfrm>
            <a:off x="484560" y="1755720"/>
            <a:ext cx="3885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Grupimi sipas Pozicionit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9"/>
          <p:cNvSpPr/>
          <p:nvPr/>
        </p:nvSpPr>
        <p:spPr>
          <a:xfrm>
            <a:off x="484560" y="2103120"/>
            <a:ext cx="3885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• Sulmues Insider (insider attackers)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• Sulmues Outsider (outsider attackers)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Klasifikimi kryesor i diskutuar në libër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10"/>
          <p:cNvSpPr/>
          <p:nvPr/>
        </p:nvSpPr>
        <p:spPr>
          <a:xfrm>
            <a:off x="4663440" y="1664280"/>
            <a:ext cx="4160160" cy="1416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11"/>
          <p:cNvSpPr/>
          <p:nvPr/>
        </p:nvSpPr>
        <p:spPr>
          <a:xfrm>
            <a:off x="4663440" y="1664280"/>
            <a:ext cx="63720" cy="1416960"/>
          </a:xfrm>
          <a:prstGeom prst="rect">
            <a:avLst/>
          </a:prstGeom>
          <a:solidFill>
            <a:srgbClr val="1E57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12"/>
          <p:cNvSpPr/>
          <p:nvPr/>
        </p:nvSpPr>
        <p:spPr>
          <a:xfrm>
            <a:off x="4827960" y="1755720"/>
            <a:ext cx="3885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5799"/>
                </a:solidFill>
                <a:effectLst/>
                <a:uFillTx/>
                <a:latin typeface="Calibri"/>
                <a:ea typeface="Calibri"/>
              </a:rPr>
              <a:t>Grupimi sipas Bashkëpunimit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13"/>
          <p:cNvSpPr/>
          <p:nvPr/>
        </p:nvSpPr>
        <p:spPr>
          <a:xfrm>
            <a:off x="4827960" y="2103120"/>
            <a:ext cx="3885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• Sulmues të vetëm (single attackers)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• Sulmues bashkëpunues (collaborative attackers)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Mund të kryejnë sulme të koordinuara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14"/>
          <p:cNvSpPr/>
          <p:nvPr/>
        </p:nvSpPr>
        <p:spPr>
          <a:xfrm>
            <a:off x="320040" y="3218760"/>
            <a:ext cx="4160160" cy="15084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15"/>
          <p:cNvSpPr/>
          <p:nvPr/>
        </p:nvSpPr>
        <p:spPr>
          <a:xfrm>
            <a:off x="320040" y="3218760"/>
            <a:ext cx="63720" cy="1508400"/>
          </a:xfrm>
          <a:prstGeom prst="rect">
            <a:avLst/>
          </a:prstGeom>
          <a:solidFill>
            <a:srgbClr val="D35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6"/>
          <p:cNvSpPr/>
          <p:nvPr/>
        </p:nvSpPr>
        <p:spPr>
          <a:xfrm>
            <a:off x="484560" y="3310200"/>
            <a:ext cx="3885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35400"/>
                </a:solidFill>
                <a:effectLst/>
                <a:uFillTx/>
                <a:latin typeface="Calibri"/>
                <a:ea typeface="Calibri"/>
              </a:rPr>
              <a:t>Supozimi i Rrezikshëm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17"/>
          <p:cNvSpPr/>
          <p:nvPr/>
        </p:nvSpPr>
        <p:spPr>
          <a:xfrm>
            <a:off x="484560" y="3657600"/>
            <a:ext cx="38858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Klientët cloud supozojnë se 'insiders' nuk janë adversarë – por ky supozim mund të jetë vetë dobësia! Operatorët cloud mund të: kenë akses të paautorizuar, shesin informacion, përdorin data mining.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18"/>
          <p:cNvSpPr/>
          <p:nvPr/>
        </p:nvSpPr>
        <p:spPr>
          <a:xfrm>
            <a:off x="4663440" y="3218760"/>
            <a:ext cx="4160160" cy="15084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19"/>
          <p:cNvSpPr/>
          <p:nvPr/>
        </p:nvSpPr>
        <p:spPr>
          <a:xfrm>
            <a:off x="4663440" y="3218760"/>
            <a:ext cx="63720" cy="1508400"/>
          </a:xfrm>
          <a:prstGeom prst="rect">
            <a:avLst/>
          </a:prstGeom>
          <a:solidFill>
            <a:srgbClr val="1A7A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20"/>
          <p:cNvSpPr/>
          <p:nvPr/>
        </p:nvSpPr>
        <p:spPr>
          <a:xfrm>
            <a:off x="4827960" y="3310200"/>
            <a:ext cx="3885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7A4C"/>
                </a:solidFill>
                <a:effectLst/>
                <a:uFillTx/>
                <a:latin typeface="Calibri"/>
                <a:ea typeface="Calibri"/>
              </a:rPr>
              <a:t>Trust Level sipas Deployment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21"/>
          <p:cNvSpPr/>
          <p:nvPr/>
        </p:nvSpPr>
        <p:spPr>
          <a:xfrm>
            <a:off x="4827960" y="3657600"/>
            <a:ext cx="38858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Public cloud: nivel besimi MÁ I ULËT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Private cloud: nivel besimi MÁ I LARTË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SaaS &gt; PaaS &gt; IaaS nga perspektiva e sigurisë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Statistikat Reale: Shkaqet e Shkeljeve të të Dhënave (BLI)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4"/>
          <p:cNvSpPr/>
          <p:nvPr/>
        </p:nvSpPr>
        <p:spPr>
          <a:xfrm>
            <a:off x="365760" y="822960"/>
            <a:ext cx="8412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Breach Level Index (breachlevelindex.com) – Shpërndarjet e incidenteve të shkeljeve të dhënave 2014–2016: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25" name="Chart 0"/>
          <p:cNvGraphicFramePr/>
          <p:nvPr/>
        </p:nvGraphicFramePr>
        <p:xfrm>
          <a:off x="365760" y="1298520"/>
          <a:ext cx="8412120" cy="3200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26" name="Text 5"/>
          <p:cNvSpPr/>
          <p:nvPr/>
        </p:nvSpPr>
        <p:spPr>
          <a:xfrm>
            <a:off x="365760" y="472752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Calibri Light"/>
                <a:ea typeface="Calibri Light"/>
              </a:rPr>
              <a:t>Burimi: Breach Level Index (breachlevelindex.com) – Figs. 8.9, 8.10, 8.12 nga libri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Shkeljet e të Dhënave sipas Industrisë – 2015 (Fig. 8.11)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31" name="Chart 0"/>
          <p:cNvGraphicFramePr/>
          <p:nvPr/>
        </p:nvGraphicFramePr>
        <p:xfrm>
          <a:off x="365760" y="804600"/>
          <a:ext cx="4754520" cy="393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32" name="Shape 4"/>
          <p:cNvSpPr/>
          <p:nvPr/>
        </p:nvSpPr>
        <p:spPr>
          <a:xfrm>
            <a:off x="5486400" y="914400"/>
            <a:ext cx="329148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5"/>
          <p:cNvSpPr/>
          <p:nvPr/>
        </p:nvSpPr>
        <p:spPr>
          <a:xfrm>
            <a:off x="5486400" y="914400"/>
            <a:ext cx="63720" cy="10512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6"/>
          <p:cNvSpPr/>
          <p:nvPr/>
        </p:nvSpPr>
        <p:spPr>
          <a:xfrm>
            <a:off x="5669280" y="98748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Healthcare (Shëndetësia)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7"/>
          <p:cNvSpPr/>
          <p:nvPr/>
        </p:nvSpPr>
        <p:spPr>
          <a:xfrm>
            <a:off x="5669280" y="1353240"/>
            <a:ext cx="3017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Sektori ME I SULMUAR – të dhëna mjekësore, rekorde pacientësh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8"/>
          <p:cNvSpPr/>
          <p:nvPr/>
        </p:nvSpPr>
        <p:spPr>
          <a:xfrm>
            <a:off x="5486400" y="2148840"/>
            <a:ext cx="329148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9"/>
          <p:cNvSpPr/>
          <p:nvPr/>
        </p:nvSpPr>
        <p:spPr>
          <a:xfrm>
            <a:off x="5486400" y="2148840"/>
            <a:ext cx="63720" cy="105120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10"/>
          <p:cNvSpPr/>
          <p:nvPr/>
        </p:nvSpPr>
        <p:spPr>
          <a:xfrm>
            <a:off x="5669280" y="222192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040"/>
                </a:solidFill>
                <a:effectLst/>
                <a:uFillTx/>
                <a:latin typeface="Calibri"/>
                <a:ea typeface="Calibri"/>
              </a:rPr>
              <a:t>Government (Qeveria)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11"/>
          <p:cNvSpPr/>
          <p:nvPr/>
        </p:nvSpPr>
        <p:spPr>
          <a:xfrm>
            <a:off x="5669280" y="2587680"/>
            <a:ext cx="3017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Informacion shtetëror – synim kryesor i sulmeve të sponsorizuara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12"/>
          <p:cNvSpPr/>
          <p:nvPr/>
        </p:nvSpPr>
        <p:spPr>
          <a:xfrm>
            <a:off x="5486400" y="3383280"/>
            <a:ext cx="329148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13"/>
          <p:cNvSpPr/>
          <p:nvPr/>
        </p:nvSpPr>
        <p:spPr>
          <a:xfrm>
            <a:off x="5486400" y="3383280"/>
            <a:ext cx="63720" cy="1051200"/>
          </a:xfrm>
          <a:prstGeom prst="rect">
            <a:avLst/>
          </a:prstGeom>
          <a:solidFill>
            <a:srgbClr val="1E57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4"/>
          <p:cNvSpPr/>
          <p:nvPr/>
        </p:nvSpPr>
        <p:spPr>
          <a:xfrm>
            <a:off x="5669280" y="345636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5799"/>
                </a:solidFill>
                <a:effectLst/>
                <a:uFillTx/>
                <a:latin typeface="Calibri"/>
                <a:ea typeface="Calibri"/>
              </a:rPr>
              <a:t>Technology (Teknologjia)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5"/>
          <p:cNvSpPr/>
          <p:nvPr/>
        </p:nvSpPr>
        <p:spPr>
          <a:xfrm>
            <a:off x="5669280" y="3822120"/>
            <a:ext cx="3017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IP, kode burim, sekretet tregtare – vlera e lartë për sulmuesit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16"/>
          <p:cNvSpPr/>
          <p:nvPr/>
        </p:nvSpPr>
        <p:spPr>
          <a:xfrm>
            <a:off x="365760" y="473652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Calibri Light"/>
                <a:ea typeface="Calibri Light"/>
              </a:rPr>
              <a:t>Burimi: breachlevelindex.com · Fig. 8.11 nga libri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Insider Threat – Definicioni dhe Struktura (Fig. 8.13)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4"/>
          <p:cNvSpPr/>
          <p:nvPr/>
        </p:nvSpPr>
        <p:spPr>
          <a:xfrm>
            <a:off x="320040" y="804600"/>
            <a:ext cx="8503560" cy="1005480"/>
          </a:xfrm>
          <a:prstGeom prst="rect">
            <a:avLst/>
          </a:prstGeom>
          <a:solidFill>
            <a:srgbClr val="6E1010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5"/>
          <p:cNvSpPr/>
          <p:nvPr/>
        </p:nvSpPr>
        <p:spPr>
          <a:xfrm>
            <a:off x="502920" y="841320"/>
            <a:ext cx="822924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Insider Threat = çdo aktivitet rreziku ose operacion i papërshtatshëm që ndodh te njëri prej partnerëve insider në sistemin mobile cloud – ana e klientit ose ana e ofruesit të shërbimit.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6"/>
          <p:cNvSpPr/>
          <p:nvPr/>
        </p:nvSpPr>
        <p:spPr>
          <a:xfrm>
            <a:off x="365760" y="1938600"/>
            <a:ext cx="8412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B1A1A"/>
                </a:solidFill>
                <a:effectLst/>
                <a:uFillTx/>
                <a:latin typeface="Calibri"/>
                <a:ea typeface="Calibri"/>
              </a:rPr>
              <a:t>Insider = çdo palë që ka autoritet ose privilegj për të aksesuar plotësisht/pjesërisht të dhënat e ruajtura në serverët cloud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7"/>
          <p:cNvSpPr/>
          <p:nvPr/>
        </p:nvSpPr>
        <p:spPr>
          <a:xfrm>
            <a:off x="320040" y="2450520"/>
            <a:ext cx="4068720" cy="2239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8"/>
          <p:cNvSpPr/>
          <p:nvPr/>
        </p:nvSpPr>
        <p:spPr>
          <a:xfrm>
            <a:off x="320040" y="2450520"/>
            <a:ext cx="4068720" cy="45684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9"/>
          <p:cNvSpPr/>
          <p:nvPr/>
        </p:nvSpPr>
        <p:spPr>
          <a:xfrm>
            <a:off x="320040" y="249624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ANA E KLIENTIT (Customer Side)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10"/>
          <p:cNvSpPr/>
          <p:nvPr/>
        </p:nvSpPr>
        <p:spPr>
          <a:xfrm>
            <a:off x="457200" y="2999160"/>
            <a:ext cx="374868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K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ë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j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ë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k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ë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j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ë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v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y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j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ë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ë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ë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k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v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k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ë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z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j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ë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k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ë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j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: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j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j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11"/>
          <p:cNvSpPr/>
          <p:nvPr/>
        </p:nvSpPr>
        <p:spPr>
          <a:xfrm>
            <a:off x="4754880" y="2450520"/>
            <a:ext cx="4068720" cy="2239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12"/>
          <p:cNvSpPr/>
          <p:nvPr/>
        </p:nvSpPr>
        <p:spPr>
          <a:xfrm>
            <a:off x="4754880" y="2450520"/>
            <a:ext cx="4068720" cy="456840"/>
          </a:xfrm>
          <a:prstGeom prst="rect">
            <a:avLst/>
          </a:prstGeom>
          <a:solidFill>
            <a:srgbClr val="8B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13"/>
          <p:cNvSpPr/>
          <p:nvPr/>
        </p:nvSpPr>
        <p:spPr>
          <a:xfrm>
            <a:off x="4754880" y="2496240"/>
            <a:ext cx="4068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ANA E OFRUESIT (Service Provider Side)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14"/>
          <p:cNvSpPr/>
          <p:nvPr/>
        </p:nvSpPr>
        <p:spPr>
          <a:xfrm>
            <a:off x="4892040" y="2999160"/>
            <a:ext cx="374868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Operatorët kenë akses ndaj të dhënave klienti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Lexojnë të dhëna të pa-enkriptuara pa leje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Kopjojnë VM me të dhëna private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Vjedhje informacioni me autoritet kontrolli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Insider Threat – Ana e Klientit: Detaje dhe Zgjidhje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</a:t>
            </a: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4"/>
          <p:cNvSpPr/>
          <p:nvPr/>
        </p:nvSpPr>
        <p:spPr>
          <a:xfrm>
            <a:off x="365760" y="822960"/>
            <a:ext cx="84121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Klientë malicious synojnë: fjalëkalimet, informacionin e autentikimit, hashjet e VM, hartëzimin e cloud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Sfida e madhe: metodat, kanalet dhe rastet e sulmit janë të ndryshme dhe të paparashikuara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Sulmuesi disguise-ohet si klient normal – vështirë të zbulohet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5"/>
          <p:cNvSpPr/>
          <p:nvPr/>
        </p:nvSpPr>
        <p:spPr>
          <a:xfrm>
            <a:off x="365760" y="214884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040"/>
                </a:solidFill>
                <a:effectLst/>
                <a:uFillTx/>
                <a:latin typeface="Calibri"/>
                <a:ea typeface="Calibri"/>
              </a:rPr>
              <a:t>Qasje për zvogëlimin e rrezikut: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6"/>
          <p:cNvSpPr/>
          <p:nvPr/>
        </p:nvSpPr>
        <p:spPr>
          <a:xfrm>
            <a:off x="320040" y="2633400"/>
            <a:ext cx="416016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7"/>
          <p:cNvSpPr/>
          <p:nvPr/>
        </p:nvSpPr>
        <p:spPr>
          <a:xfrm>
            <a:off x="320040" y="2633400"/>
            <a:ext cx="63720" cy="10512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8"/>
          <p:cNvSpPr/>
          <p:nvPr/>
        </p:nvSpPr>
        <p:spPr>
          <a:xfrm>
            <a:off x="502920" y="2724840"/>
            <a:ext cx="3794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Reduktimi i Attack Surface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9"/>
          <p:cNvSpPr/>
          <p:nvPr/>
        </p:nvSpPr>
        <p:spPr>
          <a:xfrm>
            <a:off x="502920" y="3090600"/>
            <a:ext cx="3794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Shmangni shpërndarjen e panevojshme – aplikacionet e centralizuara janë më të sigurta se ato të shpërndara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10"/>
          <p:cNvSpPr/>
          <p:nvPr/>
        </p:nvSpPr>
        <p:spPr>
          <a:xfrm>
            <a:off x="4754880" y="2633400"/>
            <a:ext cx="416016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11"/>
          <p:cNvSpPr/>
          <p:nvPr/>
        </p:nvSpPr>
        <p:spPr>
          <a:xfrm>
            <a:off x="4754880" y="2633400"/>
            <a:ext cx="63720" cy="1051200"/>
          </a:xfrm>
          <a:prstGeom prst="rect">
            <a:avLst/>
          </a:prstGeom>
          <a:solidFill>
            <a:srgbClr val="1E57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12"/>
          <p:cNvSpPr/>
          <p:nvPr/>
        </p:nvSpPr>
        <p:spPr>
          <a:xfrm>
            <a:off x="4937760" y="2724840"/>
            <a:ext cx="3794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5799"/>
                </a:solidFill>
                <a:effectLst/>
                <a:uFillTx/>
                <a:latin typeface="Calibri"/>
                <a:ea typeface="Calibri"/>
              </a:rPr>
              <a:t>LAN vs Public Cloud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13"/>
          <p:cNvSpPr/>
          <p:nvPr/>
        </p:nvSpPr>
        <p:spPr>
          <a:xfrm>
            <a:off x="4937760" y="3090600"/>
            <a:ext cx="3794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Vendosja e sistemit brenda LAN (Local Area Network) zvogëlon sipërfaqen e sulmit ndjeshëm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14"/>
          <p:cNvSpPr/>
          <p:nvPr/>
        </p:nvSpPr>
        <p:spPr>
          <a:xfrm>
            <a:off x="320040" y="3822120"/>
            <a:ext cx="416016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15"/>
          <p:cNvSpPr/>
          <p:nvPr/>
        </p:nvSpPr>
        <p:spPr>
          <a:xfrm>
            <a:off x="320040" y="3822120"/>
            <a:ext cx="63720" cy="1051200"/>
          </a:xfrm>
          <a:prstGeom prst="rect">
            <a:avLst/>
          </a:prstGeom>
          <a:solidFill>
            <a:srgbClr val="D35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16"/>
          <p:cNvSpPr/>
          <p:nvPr/>
        </p:nvSpPr>
        <p:spPr>
          <a:xfrm>
            <a:off x="502920" y="3913560"/>
            <a:ext cx="3794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35400"/>
                </a:solidFill>
                <a:effectLst/>
                <a:uFillTx/>
                <a:latin typeface="Calibri"/>
                <a:ea typeface="Calibri"/>
              </a:rPr>
              <a:t>Proxy &amp; Brokerage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17"/>
          <p:cNvSpPr/>
          <p:nvPr/>
        </p:nvSpPr>
        <p:spPr>
          <a:xfrm>
            <a:off x="502920" y="4279320"/>
            <a:ext cx="3794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Shfrytëzoni shërbime proxy dhe ndërmjetëse – klientët nuk aksesojnë direkt makinat fizike të ndara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18"/>
          <p:cNvSpPr/>
          <p:nvPr/>
        </p:nvSpPr>
        <p:spPr>
          <a:xfrm>
            <a:off x="4754880" y="3822120"/>
            <a:ext cx="4160160" cy="1051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19"/>
          <p:cNvSpPr/>
          <p:nvPr/>
        </p:nvSpPr>
        <p:spPr>
          <a:xfrm>
            <a:off x="4754880" y="3822120"/>
            <a:ext cx="63720" cy="1051200"/>
          </a:xfrm>
          <a:prstGeom prst="rect">
            <a:avLst/>
          </a:prstGeom>
          <a:solidFill>
            <a:srgbClr val="1A7A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20"/>
          <p:cNvSpPr/>
          <p:nvPr/>
        </p:nvSpPr>
        <p:spPr>
          <a:xfrm>
            <a:off x="4937760" y="3913560"/>
            <a:ext cx="3794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7A4C"/>
                </a:solidFill>
                <a:effectLst/>
                <a:uFillTx/>
                <a:latin typeface="Calibri"/>
                <a:ea typeface="Calibri"/>
              </a:rPr>
              <a:t>Autentikimi i Forcuar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21"/>
          <p:cNvSpPr/>
          <p:nvPr/>
        </p:nvSpPr>
        <p:spPr>
          <a:xfrm>
            <a:off x="4937760" y="4279320"/>
            <a:ext cx="3794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Metoda autentikimi të forcuara: MFA (Multi-Factor Authentication), biometrika, certifikata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Insider Threat – Ana e Ofruesit të Shërbimit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4"/>
          <p:cNvSpPr/>
          <p:nvPr/>
        </p:nvSpPr>
        <p:spPr>
          <a:xfrm>
            <a:off x="320040" y="804600"/>
            <a:ext cx="8503560" cy="621360"/>
          </a:xfrm>
          <a:prstGeom prst="rect">
            <a:avLst/>
          </a:prstGeom>
          <a:solidFill>
            <a:srgbClr val="6E10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5"/>
          <p:cNvSpPr/>
          <p:nvPr/>
        </p:nvSpPr>
        <p:spPr>
          <a:xfrm>
            <a:off x="457200" y="8229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Tipari kryesor: operatorët/punonjësit cloud kanë akses ose autoritet mbi të dhënat e klientëve – ky kërcënim shpesh injorohet në strategjinë e biznesit!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6"/>
          <p:cNvSpPr/>
          <p:nvPr/>
        </p:nvSpPr>
        <p:spPr>
          <a:xfrm>
            <a:off x="365760" y="157284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040"/>
                </a:solidFill>
                <a:effectLst/>
                <a:uFillTx/>
                <a:latin typeface="Calibri"/>
                <a:ea typeface="Calibri"/>
              </a:rPr>
              <a:t>Aktivitetet e rrezikshme të zakonshme nga anën e </a:t>
            </a:r>
            <a:r>
              <a:rPr lang="en-US" sz="1300" b="1" u="none" strike="noStrike">
                <a:solidFill>
                  <a:srgbClr val="1A2040"/>
                </a:solidFill>
                <a:effectLst/>
                <a:uFillTx/>
                <a:latin typeface="Calibri"/>
                <a:ea typeface="Calibri"/>
              </a:rPr>
              <a:t>ofruesit: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7"/>
          <p:cNvSpPr/>
          <p:nvPr/>
        </p:nvSpPr>
        <p:spPr>
          <a:xfrm>
            <a:off x="365760" y="1993320"/>
            <a:ext cx="84121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Logging i komunikimeve të klientëve pa autorizim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Leximi i të dhënave të pa-enkriptuara pa leje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Kopjimi i VM-ve me të dhëna private të klientëve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Monitorimi i rrjeteve dhe regjistrimi i transmetimeve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Nxjerrja e sjelljeve, zakoneve dhe rrugëve të klientëve me teknika data mining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Vjedhja e informacionit të llogarisë duke shfrytëzuar autoritetin e kontrollit të aksesit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8"/>
          <p:cNvSpPr/>
          <p:nvPr/>
        </p:nvSpPr>
        <p:spPr>
          <a:xfrm>
            <a:off x="365760" y="391356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040"/>
                </a:solidFill>
                <a:effectLst/>
                <a:uFillTx/>
                <a:latin typeface="Calibri"/>
                <a:ea typeface="Calibri"/>
              </a:rPr>
              <a:t>Zgjidhjet: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9"/>
          <p:cNvSpPr/>
          <p:nvPr/>
        </p:nvSpPr>
        <p:spPr>
          <a:xfrm>
            <a:off x="320040" y="4251960"/>
            <a:ext cx="4023000" cy="548280"/>
          </a:xfrm>
          <a:prstGeom prst="rect">
            <a:avLst/>
          </a:prstGeom>
          <a:solidFill>
            <a:srgbClr val="1E57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10"/>
          <p:cNvSpPr/>
          <p:nvPr/>
        </p:nvSpPr>
        <p:spPr>
          <a:xfrm>
            <a:off x="411480" y="4279320"/>
            <a:ext cx="3840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Mekanizëm gjurmimi aktivitetesh – periodic assessment &amp; surveillance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11"/>
          <p:cNvSpPr/>
          <p:nvPr/>
        </p:nvSpPr>
        <p:spPr>
          <a:xfrm>
            <a:off x="4800600" y="4251960"/>
            <a:ext cx="4023000" cy="548280"/>
          </a:xfrm>
          <a:prstGeom prst="rect">
            <a:avLst/>
          </a:prstGeom>
          <a:solidFill>
            <a:srgbClr val="1A7A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12"/>
          <p:cNvSpPr/>
          <p:nvPr/>
        </p:nvSpPr>
        <p:spPr>
          <a:xfrm>
            <a:off x="4892040" y="4279320"/>
            <a:ext cx="3840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SLA (Service-Level Agreement) – kontratat për sigurinë &amp; auditimin e të dhënave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Service-Level Agreement (SLA) – Kontrata e Sigurisë Cloud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4"/>
          <p:cNvSpPr/>
          <p:nvPr/>
        </p:nvSpPr>
        <p:spPr>
          <a:xfrm>
            <a:off x="320040" y="804600"/>
            <a:ext cx="8503560" cy="914040"/>
          </a:xfrm>
          <a:prstGeom prst="rect">
            <a:avLst/>
          </a:prstGeom>
          <a:solidFill>
            <a:srgbClr val="1A2040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5"/>
          <p:cNvSpPr/>
          <p:nvPr/>
        </p:nvSpPr>
        <p:spPr>
          <a:xfrm>
            <a:off x="502920" y="841320"/>
            <a:ext cx="822924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SLA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është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kontratë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që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definon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shërbim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et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specifike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cloud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duke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sqaruar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të gjitha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aspektet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e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nevojsh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me: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shkopët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e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shërbim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it, cilësia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dhe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përgjegj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ësitë.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6"/>
          <p:cNvSpPr/>
          <p:nvPr/>
        </p:nvSpPr>
        <p:spPr>
          <a:xfrm>
            <a:off x="320040" y="1874520"/>
            <a:ext cx="2788560" cy="1142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7"/>
          <p:cNvSpPr/>
          <p:nvPr/>
        </p:nvSpPr>
        <p:spPr>
          <a:xfrm>
            <a:off x="320040" y="1874520"/>
            <a:ext cx="2788560" cy="38376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8"/>
          <p:cNvSpPr/>
          <p:nvPr/>
        </p:nvSpPr>
        <p:spPr>
          <a:xfrm>
            <a:off x="320040" y="1929240"/>
            <a:ext cx="278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Autoritet Logging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9"/>
          <p:cNvSpPr/>
          <p:nvPr/>
        </p:nvSpPr>
        <p:spPr>
          <a:xfrm>
            <a:off x="411480" y="2350080"/>
            <a:ext cx="2605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Definizon kush ka të drejtë të regjistrojë aktivitetet dhe komunikimin e klientëve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10"/>
          <p:cNvSpPr/>
          <p:nvPr/>
        </p:nvSpPr>
        <p:spPr>
          <a:xfrm>
            <a:off x="3291840" y="1874520"/>
            <a:ext cx="2788560" cy="1142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11"/>
          <p:cNvSpPr/>
          <p:nvPr/>
        </p:nvSpPr>
        <p:spPr>
          <a:xfrm>
            <a:off x="3291840" y="1874520"/>
            <a:ext cx="2788560" cy="383760"/>
          </a:xfrm>
          <a:prstGeom prst="rect">
            <a:avLst/>
          </a:prstGeom>
          <a:solidFill>
            <a:srgbClr val="D35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12"/>
          <p:cNvSpPr/>
          <p:nvPr/>
        </p:nvSpPr>
        <p:spPr>
          <a:xfrm>
            <a:off x="3291840" y="1929240"/>
            <a:ext cx="278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Mekanizmi i Auditimit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13"/>
          <p:cNvSpPr/>
          <p:nvPr/>
        </p:nvSpPr>
        <p:spPr>
          <a:xfrm>
            <a:off x="3383280" y="2350080"/>
            <a:ext cx="2605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Specifikon mënyrën dhe shpeshtësinë e auditimit të operacioneve cloud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14"/>
          <p:cNvSpPr/>
          <p:nvPr/>
        </p:nvSpPr>
        <p:spPr>
          <a:xfrm>
            <a:off x="6263640" y="1874520"/>
            <a:ext cx="2788560" cy="1142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15"/>
          <p:cNvSpPr/>
          <p:nvPr/>
        </p:nvSpPr>
        <p:spPr>
          <a:xfrm>
            <a:off x="6263640" y="1874520"/>
            <a:ext cx="2788560" cy="383760"/>
          </a:xfrm>
          <a:prstGeom prst="rect">
            <a:avLst/>
          </a:prstGeom>
          <a:solidFill>
            <a:srgbClr val="1E57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16"/>
          <p:cNvSpPr/>
          <p:nvPr/>
        </p:nvSpPr>
        <p:spPr>
          <a:xfrm>
            <a:off x="6263640" y="1929240"/>
            <a:ext cx="278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Përputhshmëria Rregullatore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17"/>
          <p:cNvSpPr/>
          <p:nvPr/>
        </p:nvSpPr>
        <p:spPr>
          <a:xfrm>
            <a:off x="6355080" y="2350080"/>
            <a:ext cx="2605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Siguron se shërbimi ndjek rregulloret ligjore dhe standardet e industrisë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18"/>
          <p:cNvSpPr/>
          <p:nvPr/>
        </p:nvSpPr>
        <p:spPr>
          <a:xfrm>
            <a:off x="320040" y="3200400"/>
            <a:ext cx="2788560" cy="1142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19"/>
          <p:cNvSpPr/>
          <p:nvPr/>
        </p:nvSpPr>
        <p:spPr>
          <a:xfrm>
            <a:off x="320040" y="3200400"/>
            <a:ext cx="2788560" cy="383760"/>
          </a:xfrm>
          <a:prstGeom prst="rect">
            <a:avLst/>
          </a:prstGeom>
          <a:solidFill>
            <a:srgbClr val="8B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20"/>
          <p:cNvSpPr/>
          <p:nvPr/>
        </p:nvSpPr>
        <p:spPr>
          <a:xfrm>
            <a:off x="320040" y="3255120"/>
            <a:ext cx="278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Siguria e të Dhënave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21"/>
          <p:cNvSpPr/>
          <p:nvPr/>
        </p:nvSpPr>
        <p:spPr>
          <a:xfrm>
            <a:off x="411480" y="3675960"/>
            <a:ext cx="2605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Detyrimet specifike për mbrojtjen e të dhënave klientëve nga operatorët cloud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22"/>
          <p:cNvSpPr/>
          <p:nvPr/>
        </p:nvSpPr>
        <p:spPr>
          <a:xfrm>
            <a:off x="3291840" y="3200400"/>
            <a:ext cx="2788560" cy="1142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23"/>
          <p:cNvSpPr/>
          <p:nvPr/>
        </p:nvSpPr>
        <p:spPr>
          <a:xfrm>
            <a:off x="3291840" y="3200400"/>
            <a:ext cx="2788560" cy="383760"/>
          </a:xfrm>
          <a:prstGeom prst="rect">
            <a:avLst/>
          </a:prstGeom>
          <a:solidFill>
            <a:srgbClr val="1A7A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24"/>
          <p:cNvSpPr/>
          <p:nvPr/>
        </p:nvSpPr>
        <p:spPr>
          <a:xfrm>
            <a:off x="3291840" y="3255120"/>
            <a:ext cx="278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Privatësia e të Dhënave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25"/>
          <p:cNvSpPr/>
          <p:nvPr/>
        </p:nvSpPr>
        <p:spPr>
          <a:xfrm>
            <a:off x="3383280" y="3675960"/>
            <a:ext cx="2605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Ndalon shfrytëzimin e informacionit pa autorizimin e pronarit të të dhënave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26"/>
          <p:cNvSpPr/>
          <p:nvPr/>
        </p:nvSpPr>
        <p:spPr>
          <a:xfrm>
            <a:off x="6263640" y="3200400"/>
            <a:ext cx="2788560" cy="1142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27"/>
          <p:cNvSpPr/>
          <p:nvPr/>
        </p:nvSpPr>
        <p:spPr>
          <a:xfrm>
            <a:off x="6263640" y="3200400"/>
            <a:ext cx="2788560" cy="38376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28"/>
          <p:cNvSpPr/>
          <p:nvPr/>
        </p:nvSpPr>
        <p:spPr>
          <a:xfrm>
            <a:off x="6263640" y="3255120"/>
            <a:ext cx="278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Kufizimi i Aksesit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29"/>
          <p:cNvSpPr/>
          <p:nvPr/>
        </p:nvSpPr>
        <p:spPr>
          <a:xfrm>
            <a:off x="6355080" y="3675960"/>
            <a:ext cx="2605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Restricton aksesin e punonjësve cloud vetëm tek ato të dhëna të domosdoshme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Outsider Threat – Kërcënimet nga Jashtë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4"/>
          <p:cNvSpPr/>
          <p:nvPr/>
        </p:nvSpPr>
        <p:spPr>
          <a:xfrm>
            <a:off x="320040" y="804600"/>
            <a:ext cx="8503560" cy="914040"/>
          </a:xfrm>
          <a:prstGeom prst="rect">
            <a:avLst/>
          </a:prstGeom>
          <a:solidFill>
            <a:srgbClr val="8B1A1A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5"/>
          <p:cNvSpPr/>
          <p:nvPr/>
        </p:nvSpPr>
        <p:spPr>
          <a:xfrm>
            <a:off x="502920" y="841320"/>
            <a:ext cx="822924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Outsider Threat = çdo aktivitet malicious i lansuar nga palë të paautorizuara jashtë sistemeve mobile cloud computing. Motivimi kryesor: marrja e informacionit të mbrojtur.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6"/>
          <p:cNvSpPr/>
          <p:nvPr/>
        </p:nvSpPr>
        <p:spPr>
          <a:xfrm>
            <a:off x="365760" y="1901880"/>
            <a:ext cx="841212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Outsider-i nuk ka kredenciale dhe nuk është i autorizuar të ketë akses direkt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Zhvillimi i vazhdueshëm i teknologjive Web u ka mundësuar sulmuesve metoda shumë të ndryshme sulmi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Sfida kryesore: co-lokacioni me objektivin e sulmit në të njëjtën makinë fizike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Konfigurimet e rrjetit dhe serverit ndryshojnë vazhdimisht – lokalizimi i dobësive është detyrë e vështirë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7"/>
          <p:cNvSpPr/>
          <p:nvPr/>
        </p:nvSpPr>
        <p:spPr>
          <a:xfrm>
            <a:off x="365760" y="370332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2040"/>
                </a:solidFill>
                <a:effectLst/>
                <a:uFillTx/>
                <a:latin typeface="Calibri"/>
                <a:ea typeface="Calibri"/>
              </a:rPr>
              <a:t>4 Metodat Kryesore të Sulmit Outsider: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8"/>
          <p:cNvSpPr/>
          <p:nvPr/>
        </p:nvSpPr>
        <p:spPr>
          <a:xfrm>
            <a:off x="320040" y="4114800"/>
            <a:ext cx="2011320" cy="594000"/>
          </a:xfrm>
          <a:prstGeom prst="rect">
            <a:avLst/>
          </a:prstGeom>
          <a:solidFill>
            <a:srgbClr val="C0392B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9"/>
          <p:cNvSpPr/>
          <p:nvPr/>
        </p:nvSpPr>
        <p:spPr>
          <a:xfrm>
            <a:off x="320040" y="416052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Malware Injection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10"/>
          <p:cNvSpPr/>
          <p:nvPr/>
        </p:nvSpPr>
        <p:spPr>
          <a:xfrm>
            <a:off x="2532960" y="4114800"/>
            <a:ext cx="2011320" cy="594000"/>
          </a:xfrm>
          <a:prstGeom prst="rect">
            <a:avLst/>
          </a:prstGeom>
          <a:solidFill>
            <a:srgbClr val="C0392B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11"/>
          <p:cNvSpPr/>
          <p:nvPr/>
        </p:nvSpPr>
        <p:spPr>
          <a:xfrm>
            <a:off x="2532960" y="416052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Malicious Traffic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Shape 12"/>
          <p:cNvSpPr/>
          <p:nvPr/>
        </p:nvSpPr>
        <p:spPr>
          <a:xfrm>
            <a:off x="4745880" y="4114800"/>
            <a:ext cx="2011320" cy="594000"/>
          </a:xfrm>
          <a:prstGeom prst="rect">
            <a:avLst/>
          </a:prstGeom>
          <a:solidFill>
            <a:srgbClr val="C0392B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13"/>
          <p:cNvSpPr/>
          <p:nvPr/>
        </p:nvSpPr>
        <p:spPr>
          <a:xfrm>
            <a:off x="4745880" y="416052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Probing Network Traffic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14"/>
          <p:cNvSpPr/>
          <p:nvPr/>
        </p:nvSpPr>
        <p:spPr>
          <a:xfrm>
            <a:off x="6958440" y="4114800"/>
            <a:ext cx="2011320" cy="594000"/>
          </a:xfrm>
          <a:prstGeom prst="rect">
            <a:avLst/>
          </a:prstGeom>
          <a:solidFill>
            <a:srgbClr val="C0392B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15"/>
          <p:cNvSpPr/>
          <p:nvPr/>
        </p:nvSpPr>
        <p:spPr>
          <a:xfrm>
            <a:off x="6958440" y="416052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Side-Channel Attacks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Metoda e Sulmit 1: Malware Injection Attacks (MIA)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4"/>
          <p:cNvSpPr/>
          <p:nvPr/>
        </p:nvSpPr>
        <p:spPr>
          <a:xfrm>
            <a:off x="320040" y="804600"/>
            <a:ext cx="8503560" cy="1023840"/>
          </a:xfrm>
          <a:prstGeom prst="rect">
            <a:avLst/>
          </a:prstGeom>
          <a:solidFill>
            <a:srgbClr val="1A2040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5"/>
          <p:cNvSpPr/>
          <p:nvPr/>
        </p:nvSpPr>
        <p:spPr>
          <a:xfrm>
            <a:off x="502920" y="850320"/>
            <a:ext cx="822924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MIA, e njohur si Metadata Spoofing Attack (MSA): grup metodash adversariale që invadojnë sistemet cloud duke injektuar programe malicious gjatë shkëmbimit të metadata-ve.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6"/>
          <p:cNvSpPr/>
          <p:nvPr/>
        </p:nvSpPr>
        <p:spPr>
          <a:xfrm>
            <a:off x="320040" y="1993320"/>
            <a:ext cx="8503560" cy="8683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7"/>
          <p:cNvSpPr/>
          <p:nvPr/>
        </p:nvSpPr>
        <p:spPr>
          <a:xfrm>
            <a:off x="320040" y="1993320"/>
            <a:ext cx="63720" cy="86832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8"/>
          <p:cNvSpPr/>
          <p:nvPr/>
        </p:nvSpPr>
        <p:spPr>
          <a:xfrm>
            <a:off x="502920" y="208476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Mekanizmi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9"/>
          <p:cNvSpPr/>
          <p:nvPr/>
        </p:nvSpPr>
        <p:spPr>
          <a:xfrm>
            <a:off x="502920" y="2414160"/>
            <a:ext cx="8229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Sulmuesi pretendon të jetë përdorues i vlefshëm cloud. Kodet malware injektohen gjatë shkëmbimit të metadata-ve ndërmjet shfletuesit web dhe serverit.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10"/>
          <p:cNvSpPr/>
          <p:nvPr/>
        </p:nvSpPr>
        <p:spPr>
          <a:xfrm>
            <a:off x="320040" y="2999160"/>
            <a:ext cx="8503560" cy="8683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11"/>
          <p:cNvSpPr/>
          <p:nvPr/>
        </p:nvSpPr>
        <p:spPr>
          <a:xfrm>
            <a:off x="320040" y="2999160"/>
            <a:ext cx="63720" cy="868320"/>
          </a:xfrm>
          <a:prstGeom prst="rect">
            <a:avLst/>
          </a:prstGeom>
          <a:solidFill>
            <a:srgbClr val="D35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12"/>
          <p:cNvSpPr/>
          <p:nvPr/>
        </p:nvSpPr>
        <p:spPr>
          <a:xfrm>
            <a:off x="502920" y="309060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35400"/>
                </a:solidFill>
                <a:effectLst/>
                <a:uFillTx/>
                <a:latin typeface="Calibri"/>
                <a:ea typeface="Calibri"/>
              </a:rPr>
              <a:t>Kur ndodh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13"/>
          <p:cNvSpPr/>
          <p:nvPr/>
        </p:nvSpPr>
        <p:spPr>
          <a:xfrm>
            <a:off x="502920" y="3420000"/>
            <a:ext cx="8229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Shërbime web me cloud solutions ku ka metadata exchanges ndërmjet web servers dhe web browsers.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14"/>
          <p:cNvSpPr/>
          <p:nvPr/>
        </p:nvSpPr>
        <p:spPr>
          <a:xfrm>
            <a:off x="320040" y="3749040"/>
            <a:ext cx="2788560" cy="9140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15"/>
          <p:cNvSpPr/>
          <p:nvPr/>
        </p:nvSpPr>
        <p:spPr>
          <a:xfrm>
            <a:off x="320040" y="3749040"/>
            <a:ext cx="63720" cy="914040"/>
          </a:xfrm>
          <a:prstGeom prst="rect">
            <a:avLst/>
          </a:prstGeom>
          <a:solidFill>
            <a:srgbClr val="8B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16"/>
          <p:cNvSpPr/>
          <p:nvPr/>
        </p:nvSpPr>
        <p:spPr>
          <a:xfrm>
            <a:off x="502920" y="3840480"/>
            <a:ext cx="2559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B1A1A"/>
                </a:solidFill>
                <a:effectLst/>
                <a:uFillTx/>
                <a:latin typeface="Calibri"/>
                <a:ea typeface="Calibri"/>
              </a:rPr>
              <a:t>Rreziku 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17"/>
          <p:cNvSpPr/>
          <p:nvPr/>
        </p:nvSpPr>
        <p:spPr>
          <a:xfrm>
            <a:off x="502920" y="4169520"/>
            <a:ext cx="2559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Eavesdropping i komunikimit – sulmuesi dëgjon komunikimet private pa u zbuluar.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18"/>
          <p:cNvSpPr/>
          <p:nvPr/>
        </p:nvSpPr>
        <p:spPr>
          <a:xfrm>
            <a:off x="3246120" y="3749040"/>
            <a:ext cx="2788560" cy="9140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19"/>
          <p:cNvSpPr/>
          <p:nvPr/>
        </p:nvSpPr>
        <p:spPr>
          <a:xfrm>
            <a:off x="3246120" y="3749040"/>
            <a:ext cx="63720" cy="914040"/>
          </a:xfrm>
          <a:prstGeom prst="rect">
            <a:avLst/>
          </a:prstGeom>
          <a:solidFill>
            <a:srgbClr val="1E57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20"/>
          <p:cNvSpPr/>
          <p:nvPr/>
        </p:nvSpPr>
        <p:spPr>
          <a:xfrm>
            <a:off x="3429000" y="3840480"/>
            <a:ext cx="2559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5799"/>
                </a:solidFill>
                <a:effectLst/>
                <a:uFillTx/>
                <a:latin typeface="Calibri"/>
                <a:ea typeface="Calibri"/>
              </a:rPr>
              <a:t>Rreziku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21"/>
          <p:cNvSpPr/>
          <p:nvPr/>
        </p:nvSpPr>
        <p:spPr>
          <a:xfrm>
            <a:off x="3429000" y="4169520"/>
            <a:ext cx="2559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Deadlocks operacionale – procesit blokohen duke shkaktuar ndërprerje të shërbimit.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22"/>
          <p:cNvSpPr/>
          <p:nvPr/>
        </p:nvSpPr>
        <p:spPr>
          <a:xfrm>
            <a:off x="6172200" y="3749040"/>
            <a:ext cx="2788560" cy="9140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23"/>
          <p:cNvSpPr/>
          <p:nvPr/>
        </p:nvSpPr>
        <p:spPr>
          <a:xfrm>
            <a:off x="6172200" y="3749040"/>
            <a:ext cx="63720" cy="914040"/>
          </a:xfrm>
          <a:prstGeom prst="rect">
            <a:avLst/>
          </a:prstGeom>
          <a:solidFill>
            <a:srgbClr val="1A7A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24"/>
          <p:cNvSpPr/>
          <p:nvPr/>
        </p:nvSpPr>
        <p:spPr>
          <a:xfrm>
            <a:off x="6355080" y="3840480"/>
            <a:ext cx="2559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7A4C"/>
                </a:solidFill>
                <a:effectLst/>
                <a:uFillTx/>
                <a:latin typeface="Calibri"/>
                <a:ea typeface="Calibri"/>
              </a:rPr>
              <a:t>Rreziku 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25"/>
          <p:cNvSpPr/>
          <p:nvPr/>
        </p:nvSpPr>
        <p:spPr>
          <a:xfrm>
            <a:off x="6355080" y="4169520"/>
            <a:ext cx="2559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Peeping i strukturës cloud – sulmuesi mëson arkitekturën e brendshme të cloud-it.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Metoda e Sulmit 2: DDoS dhe Trafiku Malicious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4"/>
          <p:cNvSpPr/>
          <p:nvPr/>
        </p:nvSpPr>
        <p:spPr>
          <a:xfrm>
            <a:off x="320040" y="804600"/>
            <a:ext cx="8503560" cy="548280"/>
          </a:xfrm>
          <a:prstGeom prst="rect">
            <a:avLst/>
          </a:prstGeom>
          <a:solidFill>
            <a:srgbClr val="6E10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5"/>
          <p:cNvSpPr/>
          <p:nvPr/>
        </p:nvSpPr>
        <p:spPr>
          <a:xfrm>
            <a:off x="457200" y="831960"/>
            <a:ext cx="8229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Denial-of-Service (DoS): veprime adversariale që pengojnë përdoruesit mobil të arrijnë burimet cloud computing.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6"/>
          <p:cNvSpPr/>
          <p:nvPr/>
        </p:nvSpPr>
        <p:spPr>
          <a:xfrm>
            <a:off x="320040" y="1481400"/>
            <a:ext cx="2788560" cy="1115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Shape 7"/>
          <p:cNvSpPr/>
          <p:nvPr/>
        </p:nvSpPr>
        <p:spPr>
          <a:xfrm>
            <a:off x="320040" y="1481400"/>
            <a:ext cx="2788560" cy="38376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8"/>
          <p:cNvSpPr/>
          <p:nvPr/>
        </p:nvSpPr>
        <p:spPr>
          <a:xfrm>
            <a:off x="320040" y="1536120"/>
            <a:ext cx="278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DoS – Denial of Service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9"/>
          <p:cNvSpPr/>
          <p:nvPr/>
        </p:nvSpPr>
        <p:spPr>
          <a:xfrm>
            <a:off x="411480" y="1938600"/>
            <a:ext cx="2605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Shërbimi cloud pezullohet, ndërpritet ose ndalohet. Ndër sulmet más të zakonshme.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Shape 10"/>
          <p:cNvSpPr/>
          <p:nvPr/>
        </p:nvSpPr>
        <p:spPr>
          <a:xfrm>
            <a:off x="3264480" y="1481400"/>
            <a:ext cx="2788560" cy="1115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11"/>
          <p:cNvSpPr/>
          <p:nvPr/>
        </p:nvSpPr>
        <p:spPr>
          <a:xfrm>
            <a:off x="3264480" y="1481400"/>
            <a:ext cx="2788560" cy="383760"/>
          </a:xfrm>
          <a:prstGeom prst="rect">
            <a:avLst/>
          </a:prstGeom>
          <a:solidFill>
            <a:srgbClr val="8B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12"/>
          <p:cNvSpPr/>
          <p:nvPr/>
        </p:nvSpPr>
        <p:spPr>
          <a:xfrm>
            <a:off x="3264480" y="1536120"/>
            <a:ext cx="278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DDoS – Distributed 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13"/>
          <p:cNvSpPr/>
          <p:nvPr/>
        </p:nvSpPr>
        <p:spPr>
          <a:xfrm>
            <a:off x="3355920" y="1938600"/>
            <a:ext cx="2605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Burime sulmi të shpërndara + objektiva të ndara. Más e rrezikshme se DoS e thjeshtë.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14"/>
          <p:cNvSpPr/>
          <p:nvPr/>
        </p:nvSpPr>
        <p:spPr>
          <a:xfrm>
            <a:off x="6208920" y="1481400"/>
            <a:ext cx="2788560" cy="1115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15"/>
          <p:cNvSpPr/>
          <p:nvPr/>
        </p:nvSpPr>
        <p:spPr>
          <a:xfrm>
            <a:off x="6208920" y="1481400"/>
            <a:ext cx="2788560" cy="383760"/>
          </a:xfrm>
          <a:prstGeom prst="rect">
            <a:avLst/>
          </a:prstGeom>
          <a:solidFill>
            <a:srgbClr val="D35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16"/>
          <p:cNvSpPr/>
          <p:nvPr/>
        </p:nvSpPr>
        <p:spPr>
          <a:xfrm>
            <a:off x="6208920" y="1536120"/>
            <a:ext cx="278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Bandwidth-Oriented DDoS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17"/>
          <p:cNvSpPr/>
          <p:nvPr/>
        </p:nvSpPr>
        <p:spPr>
          <a:xfrm>
            <a:off x="6300360" y="1938600"/>
            <a:ext cx="2605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Flooding attacks dhe amplification attacks – mbushja e kapacitetit të rrjetit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18"/>
          <p:cNvSpPr/>
          <p:nvPr/>
        </p:nvSpPr>
        <p:spPr>
          <a:xfrm>
            <a:off x="320040" y="2743200"/>
            <a:ext cx="2788560" cy="1115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19"/>
          <p:cNvSpPr/>
          <p:nvPr/>
        </p:nvSpPr>
        <p:spPr>
          <a:xfrm>
            <a:off x="320040" y="2743200"/>
            <a:ext cx="2788560" cy="383760"/>
          </a:xfrm>
          <a:prstGeom prst="rect">
            <a:avLst/>
          </a:prstGeom>
          <a:solidFill>
            <a:srgbClr val="1E57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20"/>
          <p:cNvSpPr/>
          <p:nvPr/>
        </p:nvSpPr>
        <p:spPr>
          <a:xfrm>
            <a:off x="320040" y="2797920"/>
            <a:ext cx="278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Computing Resource DDoS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21"/>
          <p:cNvSpPr/>
          <p:nvPr/>
        </p:nvSpPr>
        <p:spPr>
          <a:xfrm>
            <a:off x="411480" y="3200400"/>
            <a:ext cx="2605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Protocol vulnerability exploitations + malformed packets – dëmton burimet llogaritëse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Shape 22"/>
          <p:cNvSpPr/>
          <p:nvPr/>
        </p:nvSpPr>
        <p:spPr>
          <a:xfrm>
            <a:off x="3264480" y="2743200"/>
            <a:ext cx="2788560" cy="1115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Shape 23"/>
          <p:cNvSpPr/>
          <p:nvPr/>
        </p:nvSpPr>
        <p:spPr>
          <a:xfrm>
            <a:off x="3264480" y="2743200"/>
            <a:ext cx="2788560" cy="383760"/>
          </a:xfrm>
          <a:prstGeom prst="rect">
            <a:avLst/>
          </a:prstGeom>
          <a:solidFill>
            <a:srgbClr val="1A7A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24"/>
          <p:cNvSpPr/>
          <p:nvPr/>
        </p:nvSpPr>
        <p:spPr>
          <a:xfrm>
            <a:off x="3264480" y="2797920"/>
            <a:ext cx="278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Worm Attacks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25"/>
          <p:cNvSpPr/>
          <p:nvPr/>
        </p:nvSpPr>
        <p:spPr>
          <a:xfrm>
            <a:off x="3355920" y="3200400"/>
            <a:ext cx="2605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Viruse vetë-replikuese që ndikojnë </a:t>
            </a: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performancën e rrjetit dhe sistemit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26"/>
          <p:cNvSpPr/>
          <p:nvPr/>
        </p:nvSpPr>
        <p:spPr>
          <a:xfrm>
            <a:off x="6208920" y="2743200"/>
            <a:ext cx="2788560" cy="1115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27"/>
          <p:cNvSpPr/>
          <p:nvPr/>
        </p:nvSpPr>
        <p:spPr>
          <a:xfrm>
            <a:off x="6208920" y="2743200"/>
            <a:ext cx="2788560" cy="38376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28"/>
          <p:cNvSpPr/>
          <p:nvPr/>
        </p:nvSpPr>
        <p:spPr>
          <a:xfrm>
            <a:off x="6208920" y="2797920"/>
            <a:ext cx="2788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IDS Zgjidhje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29"/>
          <p:cNvSpPr/>
          <p:nvPr/>
        </p:nvSpPr>
        <p:spPr>
          <a:xfrm>
            <a:off x="6300360" y="3200400"/>
            <a:ext cx="2605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Intrusion Detection Systems (IDS) – teknikat aktuale monitorojnë sjelljen e trafikut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Metoda e Sulmit 4: Side-Channel Attacks (SCA)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4"/>
          <p:cNvSpPr/>
          <p:nvPr/>
        </p:nvSpPr>
        <p:spPr>
          <a:xfrm>
            <a:off x="320040" y="804600"/>
            <a:ext cx="8503560" cy="1051200"/>
          </a:xfrm>
          <a:prstGeom prst="rect">
            <a:avLst/>
          </a:prstGeom>
          <a:solidFill>
            <a:srgbClr val="1A2040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5"/>
          <p:cNvSpPr/>
          <p:nvPr/>
        </p:nvSpPr>
        <p:spPr>
          <a:xfrm>
            <a:off x="502920" y="85032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SCA = çdo aktivitet adversarial që përdor informacionin e nxjerrë nga implementimet fizike të kriptosistemit – JO duke invaduar direkt sistemin, por duke mbledhur informacion anësor (side-channel).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 6"/>
          <p:cNvSpPr/>
          <p:nvPr/>
        </p:nvSpPr>
        <p:spPr>
          <a:xfrm>
            <a:off x="365760" y="1993320"/>
            <a:ext cx="8412120" cy="26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Sulmuesi imiton (impersonates) një përdorues të </a:t>
            </a: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autorizuar në platformën cloud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Mbledh të dhëna aplikacioni të ndjeshme nga </a:t>
            </a: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përdorues të tjerë co-located (bashkë-vendosur)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Merr informacion të mjaftueshëm për të </a:t>
            </a: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hijackuar llogarinë e objektivit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Bazohet në zgjerimin e Flush-Reload Attack (FRA) </a:t>
            </a: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– mekanizëm relativisht pa zhurmë (noise-free)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Shfrytëzon cache-sharing ndërmjet proceseve në </a:t>
            </a: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cloud environment multi-tenant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1C21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Kriptografia konvencionale nuk mbron kundër </a:t>
            </a: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SCA sepse sulmi nuk thyhet kriptimin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Shape 7"/>
          <p:cNvSpPr/>
          <p:nvPr/>
        </p:nvSpPr>
        <p:spPr>
          <a:xfrm>
            <a:off x="320040" y="4453200"/>
            <a:ext cx="8503560" cy="273960"/>
          </a:xfrm>
          <a:prstGeom prst="rect">
            <a:avLst/>
          </a:prstGeom>
          <a:solidFill>
            <a:srgbClr val="FAE0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8"/>
          <p:cNvSpPr/>
          <p:nvPr/>
        </p:nvSpPr>
        <p:spPr>
          <a:xfrm>
            <a:off x="457200" y="4480560"/>
            <a:ext cx="8320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1A1A"/>
                </a:solidFill>
                <a:effectLst/>
                <a:uFillTx/>
                <a:latin typeface="Calibri"/>
                <a:ea typeface="Calibri"/>
              </a:rPr>
              <a:t>⚠ SCA është veçanërisht i rrezikshëm në multi-tenant cloud environments ku shumë klientë ndajnë të njëjtën infrastrukturë fizike.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Përgjegjësitë e Sigurisë: IaaS vs PaaS vs SaaS (Fig. 8.14)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4"/>
          <p:cNvSpPr/>
          <p:nvPr/>
        </p:nvSpPr>
        <p:spPr>
          <a:xfrm>
            <a:off x="365760" y="82296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Modelet e shërbimit ndikojnë drejtpërdrejt tek ndarja e përgjegjësive të sigurisë: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5"/>
          <p:cNvSpPr/>
          <p:nvPr/>
        </p:nvSpPr>
        <p:spPr>
          <a:xfrm>
            <a:off x="320040" y="1298520"/>
            <a:ext cx="2788560" cy="3474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Shape 6"/>
          <p:cNvSpPr/>
          <p:nvPr/>
        </p:nvSpPr>
        <p:spPr>
          <a:xfrm>
            <a:off x="320040" y="1298520"/>
            <a:ext cx="2788560" cy="475200"/>
          </a:xfrm>
          <a:prstGeom prst="rect">
            <a:avLst/>
          </a:prstGeom>
          <a:solidFill>
            <a:srgbClr val="8B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7"/>
          <p:cNvSpPr/>
          <p:nvPr/>
        </p:nvSpPr>
        <p:spPr>
          <a:xfrm>
            <a:off x="320040" y="1344240"/>
            <a:ext cx="278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IaaS – Infrastructure-as-a-Service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8"/>
          <p:cNvSpPr/>
          <p:nvPr/>
        </p:nvSpPr>
        <p:spPr>
          <a:xfrm>
            <a:off x="411480" y="182880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1A1A"/>
                </a:solidFill>
                <a:effectLst/>
                <a:uFillTx/>
                <a:latin typeface="Calibri"/>
                <a:ea typeface="Calibri"/>
              </a:rPr>
              <a:t>Klienti: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9"/>
          <p:cNvSpPr/>
          <p:nvPr/>
        </p:nvSpPr>
        <p:spPr>
          <a:xfrm>
            <a:off x="411480" y="2103120"/>
            <a:ext cx="2605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Klienti mban PJESËN MÁ TÁ MADHE të përgjegjësisë: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• Application + Solution Stack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• Virtual Machine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• Klienti kontrollon gjithçka mbi hypervisor-in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10"/>
          <p:cNvSpPr/>
          <p:nvPr/>
        </p:nvSpPr>
        <p:spPr>
          <a:xfrm>
            <a:off x="411480" y="299916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040"/>
                </a:solidFill>
                <a:effectLst/>
                <a:uFillTx/>
                <a:latin typeface="Calibri"/>
                <a:ea typeface="Calibri"/>
              </a:rPr>
              <a:t>Ofruesi: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11"/>
          <p:cNvSpPr/>
          <p:nvPr/>
        </p:nvSpPr>
        <p:spPr>
          <a:xfrm>
            <a:off x="411480" y="3273480"/>
            <a:ext cx="2605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Ofruesi siguron: Hypervisor, Data Processing, Storage, Network, Physical Machine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Shape 12"/>
          <p:cNvSpPr/>
          <p:nvPr/>
        </p:nvSpPr>
        <p:spPr>
          <a:xfrm>
            <a:off x="320040" y="4526280"/>
            <a:ext cx="2788560" cy="200880"/>
          </a:xfrm>
          <a:prstGeom prst="rect">
            <a:avLst/>
          </a:prstGeom>
          <a:solidFill>
            <a:srgbClr val="8B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13"/>
          <p:cNvSpPr/>
          <p:nvPr/>
        </p:nvSpPr>
        <p:spPr>
          <a:xfrm>
            <a:off x="320040" y="4535280"/>
            <a:ext cx="2788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NIVEL SIGURIE MÁ I ULËT – rrezik más i lartë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14"/>
          <p:cNvSpPr/>
          <p:nvPr/>
        </p:nvSpPr>
        <p:spPr>
          <a:xfrm>
            <a:off x="3264480" y="1298520"/>
            <a:ext cx="2788560" cy="3474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15"/>
          <p:cNvSpPr/>
          <p:nvPr/>
        </p:nvSpPr>
        <p:spPr>
          <a:xfrm>
            <a:off x="3264480" y="1298520"/>
            <a:ext cx="2788560" cy="475200"/>
          </a:xfrm>
          <a:prstGeom prst="rect">
            <a:avLst/>
          </a:prstGeom>
          <a:solidFill>
            <a:srgbClr val="D35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16"/>
          <p:cNvSpPr/>
          <p:nvPr/>
        </p:nvSpPr>
        <p:spPr>
          <a:xfrm>
            <a:off x="3264480" y="1344240"/>
            <a:ext cx="278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PaaS – Platform-as-a-Service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17"/>
          <p:cNvSpPr/>
          <p:nvPr/>
        </p:nvSpPr>
        <p:spPr>
          <a:xfrm>
            <a:off x="3355920" y="182880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D35400"/>
                </a:solidFill>
                <a:effectLst/>
                <a:uFillTx/>
                <a:latin typeface="Calibri"/>
                <a:ea typeface="Calibri"/>
              </a:rPr>
              <a:t>Klienti: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18"/>
          <p:cNvSpPr/>
          <p:nvPr/>
        </p:nvSpPr>
        <p:spPr>
          <a:xfrm>
            <a:off x="3355920" y="2103120"/>
            <a:ext cx="2605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Klienti siguron: API + GUI + Application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• Kufiri i qartë ndërmjet klientit dhe ofruesit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• Ofruesi siguron: Solution Stack + VM + Hypervisor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19"/>
          <p:cNvSpPr/>
          <p:nvPr/>
        </p:nvSpPr>
        <p:spPr>
          <a:xfrm>
            <a:off x="3355920" y="299916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040"/>
                </a:solidFill>
                <a:effectLst/>
                <a:uFillTx/>
                <a:latin typeface="Calibri"/>
                <a:ea typeface="Calibri"/>
              </a:rPr>
              <a:t>Ofruesi: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20"/>
          <p:cNvSpPr/>
          <p:nvPr/>
        </p:nvSpPr>
        <p:spPr>
          <a:xfrm>
            <a:off x="3355920" y="3273480"/>
            <a:ext cx="2605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Nivel mesatar sigurie – përgjegjësi e ndarë qartë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21"/>
          <p:cNvSpPr/>
          <p:nvPr/>
        </p:nvSpPr>
        <p:spPr>
          <a:xfrm>
            <a:off x="3264480" y="4526280"/>
            <a:ext cx="2788560" cy="200880"/>
          </a:xfrm>
          <a:prstGeom prst="rect">
            <a:avLst/>
          </a:prstGeom>
          <a:solidFill>
            <a:srgbClr val="D35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22"/>
          <p:cNvSpPr/>
          <p:nvPr/>
        </p:nvSpPr>
        <p:spPr>
          <a:xfrm>
            <a:off x="3264480" y="4535280"/>
            <a:ext cx="2788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API + GUI + Application → Klienti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23"/>
          <p:cNvSpPr/>
          <p:nvPr/>
        </p:nvSpPr>
        <p:spPr>
          <a:xfrm>
            <a:off x="6208920" y="1298520"/>
            <a:ext cx="2788560" cy="3474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Shape 24"/>
          <p:cNvSpPr/>
          <p:nvPr/>
        </p:nvSpPr>
        <p:spPr>
          <a:xfrm>
            <a:off x="6208920" y="1298520"/>
            <a:ext cx="2788560" cy="475200"/>
          </a:xfrm>
          <a:prstGeom prst="rect">
            <a:avLst/>
          </a:prstGeom>
          <a:solidFill>
            <a:srgbClr val="1A7A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25"/>
          <p:cNvSpPr/>
          <p:nvPr/>
        </p:nvSpPr>
        <p:spPr>
          <a:xfrm>
            <a:off x="6208920" y="1344240"/>
            <a:ext cx="278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SaaS – Software-as-a-Service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26"/>
          <p:cNvSpPr/>
          <p:nvPr/>
        </p:nvSpPr>
        <p:spPr>
          <a:xfrm>
            <a:off x="6300360" y="182880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7A4C"/>
                </a:solidFill>
                <a:effectLst/>
                <a:uFillTx/>
                <a:latin typeface="Calibri"/>
                <a:ea typeface="Calibri"/>
              </a:rPr>
              <a:t>Klienti: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 27"/>
          <p:cNvSpPr/>
          <p:nvPr/>
        </p:nvSpPr>
        <p:spPr>
          <a:xfrm>
            <a:off x="6300360" y="2103120"/>
            <a:ext cx="2605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Ofruesi mban PJESËN MÁ TÁ MADHE të përgjegjësisë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• Klienti siguron vetëm: API + GUI (ndërfaqen)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• Ofruesi siguron gjithçka tjetër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28"/>
          <p:cNvSpPr/>
          <p:nvPr/>
        </p:nvSpPr>
        <p:spPr>
          <a:xfrm>
            <a:off x="6300360" y="299916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040"/>
                </a:solidFill>
                <a:effectLst/>
                <a:uFillTx/>
                <a:latin typeface="Calibri"/>
                <a:ea typeface="Calibri"/>
              </a:rPr>
              <a:t>Ofruesi: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29"/>
          <p:cNvSpPr/>
          <p:nvPr/>
        </p:nvSpPr>
        <p:spPr>
          <a:xfrm>
            <a:off x="6300360" y="3273480"/>
            <a:ext cx="2605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NIVEL SIGURIE MÁ I LARTË – klienti ka MENOS përgjegjësi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Shape 30"/>
          <p:cNvSpPr/>
          <p:nvPr/>
        </p:nvSpPr>
        <p:spPr>
          <a:xfrm>
            <a:off x="6208920" y="4526280"/>
            <a:ext cx="2788560" cy="200880"/>
          </a:xfrm>
          <a:prstGeom prst="rect">
            <a:avLst/>
          </a:prstGeom>
          <a:solidFill>
            <a:srgbClr val="1A7A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 31"/>
          <p:cNvSpPr/>
          <p:nvPr/>
        </p:nvSpPr>
        <p:spPr>
          <a:xfrm>
            <a:off x="6208920" y="4535280"/>
            <a:ext cx="2788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SaaS mundëson SLA-të más strikte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Krahasim: Insider Threat vs. Outsider Threat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42" name="Table 0"/>
          <p:cNvGraphicFramePr/>
          <p:nvPr/>
        </p:nvGraphicFramePr>
        <p:xfrm>
          <a:off x="320040" y="841320"/>
          <a:ext cx="8503560" cy="3840120"/>
        </p:xfrm>
        <a:graphic>
          <a:graphicData uri="http://schemas.openxmlformats.org/drawingml/2006/table">
            <a:tbl>
              <a:tblPr/>
              <a:tblGrid>
                <a:gridCol w="2286000"/>
                <a:gridCol w="3108960"/>
                <a:gridCol w="3108960"/>
              </a:tblGrid>
              <a:tr h="479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Karakteristika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1D5DB"/>
                      </a:solidFill>
                      <a:prstDash val="solid"/>
                    </a:lnL>
                    <a:lnR w="12240">
                      <a:solidFill>
                        <a:srgbClr val="D1D5DB"/>
                      </a:solidFill>
                      <a:prstDash val="solid"/>
                    </a:lnR>
                    <a:lnT w="12240">
                      <a:solidFill>
                        <a:srgbClr val="D1D5DB"/>
                      </a:solidFill>
                      <a:prstDash val="solid"/>
                    </a:lnT>
                    <a:lnB w="12240">
                      <a:solidFill>
                        <a:srgbClr val="D1D5DB"/>
                      </a:solidFill>
                      <a:prstDash val="solid"/>
                    </a:lnB>
                    <a:solidFill>
                      <a:srgbClr val="1A20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Insider Threat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1D5DB"/>
                      </a:solidFill>
                      <a:prstDash val="solid"/>
                    </a:lnL>
                    <a:lnR w="12240">
                      <a:solidFill>
                        <a:srgbClr val="D1D5DB"/>
                      </a:solidFill>
                      <a:prstDash val="solid"/>
                    </a:lnR>
                    <a:lnT w="12240">
                      <a:solidFill>
                        <a:srgbClr val="D1D5DB"/>
                      </a:solidFill>
                      <a:prstDash val="solid"/>
                    </a:lnT>
                    <a:lnB w="12240">
                      <a:solidFill>
                        <a:srgbClr val="D1D5DB"/>
                      </a:solidFill>
                      <a:prstDash val="soli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Outsider Threat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1D5DB"/>
                      </a:solidFill>
                      <a:prstDash val="solid"/>
                    </a:lnL>
                    <a:lnR w="12240">
                      <a:solidFill>
                        <a:srgbClr val="D1D5DB"/>
                      </a:solidFill>
                      <a:prstDash val="solid"/>
                    </a:lnR>
                    <a:lnT w="12240">
                      <a:solidFill>
                        <a:srgbClr val="D1D5DB"/>
                      </a:solidFill>
                      <a:prstDash val="solid"/>
                    </a:lnT>
                    <a:lnB w="12240">
                      <a:solidFill>
                        <a:srgbClr val="D1D5DB"/>
                      </a:solidFill>
                      <a:prstDash val="solid"/>
                    </a:lnB>
                    <a:solidFill>
                      <a:srgbClr val="8B1A1A"/>
                    </a:solidFill>
                  </a:tcPr>
                </a:tc>
              </a:tr>
              <a:tr h="479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Pozicioni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1D5DB"/>
                      </a:solidFill>
                      <a:prstDash val="solid"/>
                    </a:lnL>
                    <a:lnR w="12240">
                      <a:solidFill>
                        <a:srgbClr val="D1D5DB"/>
                      </a:solidFill>
                      <a:prstDash val="solid"/>
                    </a:lnR>
                    <a:lnT w="12240">
                      <a:solidFill>
                        <a:srgbClr val="D1D5DB"/>
                      </a:solidFill>
                      <a:prstDash val="solid"/>
                    </a:lnT>
                    <a:lnB w="1224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BRENDA sistemit cloud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1D5DB"/>
                      </a:solidFill>
                      <a:prstDash val="solid"/>
                    </a:lnL>
                    <a:lnR w="12240">
                      <a:solidFill>
                        <a:srgbClr val="D1D5DB"/>
                      </a:solidFill>
                      <a:prstDash val="solid"/>
                    </a:lnR>
                    <a:lnT w="12240">
                      <a:solidFill>
                        <a:srgbClr val="D1D5DB"/>
                      </a:solidFill>
                      <a:prstDash val="solid"/>
                    </a:lnT>
                    <a:lnB w="1224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JASHTË sistemit cloud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1D5DB"/>
                      </a:solidFill>
                      <a:prstDash val="solid"/>
                    </a:lnL>
                    <a:lnR w="12240">
                      <a:solidFill>
                        <a:srgbClr val="D1D5DB"/>
                      </a:solidFill>
                      <a:prstDash val="solid"/>
                    </a:lnR>
                    <a:lnT w="12240">
                      <a:solidFill>
                        <a:srgbClr val="D1D5DB"/>
                      </a:solidFill>
                      <a:prstDash val="solid"/>
                    </a:lnT>
                    <a:lnB w="1224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9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Aksesi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1D5DB"/>
                      </a:solidFill>
                      <a:prstDash val="solid"/>
                    </a:lnL>
                    <a:lnR w="12240">
                      <a:solidFill>
                        <a:srgbClr val="D1D5DB"/>
                      </a:solidFill>
                      <a:prstDash val="solid"/>
                    </a:lnR>
                    <a:lnT w="12240">
                      <a:solidFill>
                        <a:srgbClr val="D1D5DB"/>
                      </a:solidFill>
                      <a:prstDash val="solid"/>
                    </a:lnT>
                    <a:lnB w="1224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 autorizuar – ka privilegje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1D5DB"/>
                      </a:solidFill>
                      <a:prstDash val="solid"/>
                    </a:lnL>
                    <a:lnR w="12240">
                      <a:solidFill>
                        <a:srgbClr val="D1D5DB"/>
                      </a:solidFill>
                      <a:prstDash val="solid"/>
                    </a:lnR>
                    <a:lnT w="12240">
                      <a:solidFill>
                        <a:srgbClr val="D1D5DB"/>
                      </a:solidFill>
                      <a:prstDash val="solid"/>
                    </a:lnT>
                    <a:lnB w="1224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Jo i autorizuar – nuk ka kredenciale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1D5DB"/>
                      </a:solidFill>
                      <a:prstDash val="solid"/>
                    </a:lnL>
                    <a:lnR w="12240">
                      <a:solidFill>
                        <a:srgbClr val="D1D5DB"/>
                      </a:solidFill>
                      <a:prstDash val="solid"/>
                    </a:lnR>
                    <a:lnT w="12240">
                      <a:solidFill>
                        <a:srgbClr val="D1D5DB"/>
                      </a:solidFill>
                      <a:prstDash val="solid"/>
                    </a:lnT>
                    <a:lnB w="1224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9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Motivimi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1D5DB"/>
                      </a:solidFill>
                      <a:prstDash val="solid"/>
                    </a:lnL>
                    <a:lnR w="12240">
                      <a:solidFill>
                        <a:srgbClr val="D1D5DB"/>
                      </a:solidFill>
                      <a:prstDash val="solid"/>
                    </a:lnR>
                    <a:lnT w="12240">
                      <a:solidFill>
                        <a:srgbClr val="D1D5DB"/>
                      </a:solidFill>
                      <a:prstDash val="solid"/>
                    </a:lnT>
                    <a:lnB w="1224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Fitim personal, hakmarrje, shitje informacioni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1D5DB"/>
                      </a:solidFill>
                      <a:prstDash val="solid"/>
                    </a:lnL>
                    <a:lnR w="12240">
                      <a:solidFill>
                        <a:srgbClr val="D1D5DB"/>
                      </a:solidFill>
                      <a:prstDash val="solid"/>
                    </a:lnR>
                    <a:lnT w="12240">
                      <a:solidFill>
                        <a:srgbClr val="D1D5DB"/>
                      </a:solidFill>
                      <a:prstDash val="solid"/>
                    </a:lnT>
                    <a:lnB w="1224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Marrja e informacionit të mbrojtur, dëmtimi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1D5DB"/>
                      </a:solidFill>
                      <a:prstDash val="solid"/>
                    </a:lnL>
                    <a:lnR w="12240">
                      <a:solidFill>
                        <a:srgbClr val="D1D5DB"/>
                      </a:solidFill>
                      <a:prstDash val="solid"/>
                    </a:lnR>
                    <a:lnT w="12240">
                      <a:solidFill>
                        <a:srgbClr val="D1D5DB"/>
                      </a:solidFill>
                      <a:prstDash val="solid"/>
                    </a:lnT>
                    <a:lnB w="1224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9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Vështirësia e zbulimit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1D5DB"/>
                      </a:solidFill>
                      <a:prstDash val="solid"/>
                    </a:lnL>
                    <a:lnR w="12240">
                      <a:solidFill>
                        <a:srgbClr val="D1D5DB"/>
                      </a:solidFill>
                      <a:prstDash val="solid"/>
                    </a:lnR>
                    <a:lnT w="12240">
                      <a:solidFill>
                        <a:srgbClr val="D1D5DB"/>
                      </a:solidFill>
                      <a:prstDash val="solid"/>
                    </a:lnT>
                    <a:lnB w="1224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SHUMË E LARTË – disguise-ohet si normal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1D5DB"/>
                      </a:solidFill>
                      <a:prstDash val="solid"/>
                    </a:lnL>
                    <a:lnR w="12240">
                      <a:solidFill>
                        <a:srgbClr val="D1D5DB"/>
                      </a:solidFill>
                      <a:prstDash val="solid"/>
                    </a:lnR>
                    <a:lnT w="12240">
                      <a:solidFill>
                        <a:srgbClr val="D1D5DB"/>
                      </a:solidFill>
                      <a:prstDash val="solid"/>
                    </a:lnT>
                    <a:lnB w="1224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Más e ulët – sjellje anomale rrjeti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1D5DB"/>
                      </a:solidFill>
                      <a:prstDash val="solid"/>
                    </a:lnL>
                    <a:lnR w="12240">
                      <a:solidFill>
                        <a:srgbClr val="D1D5DB"/>
                      </a:solidFill>
                      <a:prstDash val="solid"/>
                    </a:lnR>
                    <a:lnT w="12240">
                      <a:solidFill>
                        <a:srgbClr val="D1D5DB"/>
                      </a:solidFill>
                      <a:prstDash val="solid"/>
                    </a:lnT>
                    <a:lnB w="1224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9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Shembuj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1D5DB"/>
                      </a:solidFill>
                      <a:prstDash val="solid"/>
                    </a:lnL>
                    <a:lnR w="12240">
                      <a:solidFill>
                        <a:srgbClr val="D1D5DB"/>
                      </a:solidFill>
                      <a:prstDash val="solid"/>
                    </a:lnR>
                    <a:lnT w="12240">
                      <a:solidFill>
                        <a:srgbClr val="D1D5DB"/>
                      </a:solidFill>
                      <a:prstDash val="solid"/>
                    </a:lnT>
                    <a:lnB w="1224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Operatorë cloud që lexojnë të dhëna, klientë malicious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1D5DB"/>
                      </a:solidFill>
                      <a:prstDash val="solid"/>
                    </a:lnL>
                    <a:lnR w="12240">
                      <a:solidFill>
                        <a:srgbClr val="D1D5DB"/>
                      </a:solidFill>
                      <a:prstDash val="solid"/>
                    </a:lnR>
                    <a:lnT w="12240">
                      <a:solidFill>
                        <a:srgbClr val="D1D5DB"/>
                      </a:solidFill>
                      <a:prstDash val="solid"/>
                    </a:lnT>
                    <a:lnB w="1224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MIA, DDoS, SCA, Probing Traffic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1D5DB"/>
                      </a:solidFill>
                      <a:prstDash val="solid"/>
                    </a:lnL>
                    <a:lnR w="12240">
                      <a:solidFill>
                        <a:srgbClr val="D1D5DB"/>
                      </a:solidFill>
                      <a:prstDash val="solid"/>
                    </a:lnR>
                    <a:lnT w="12240">
                      <a:solidFill>
                        <a:srgbClr val="D1D5DB"/>
                      </a:solidFill>
                      <a:prstDash val="solid"/>
                    </a:lnT>
                    <a:lnB w="1224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9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Zgjidhjet kryesore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1D5DB"/>
                      </a:solidFill>
                      <a:prstDash val="solid"/>
                    </a:lnL>
                    <a:lnR w="12240">
                      <a:solidFill>
                        <a:srgbClr val="D1D5DB"/>
                      </a:solidFill>
                      <a:prstDash val="solid"/>
                    </a:lnR>
                    <a:lnT w="12240">
                      <a:solidFill>
                        <a:srgbClr val="D1D5DB"/>
                      </a:solidFill>
                      <a:prstDash val="solid"/>
                    </a:lnT>
                    <a:lnB w="1224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SLA, logging, surveillance, autentikimi i forcuar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1D5DB"/>
                      </a:solidFill>
                      <a:prstDash val="solid"/>
                    </a:lnL>
                    <a:lnR w="12240">
                      <a:solidFill>
                        <a:srgbClr val="D1D5DB"/>
                      </a:solidFill>
                      <a:prstDash val="solid"/>
                    </a:lnR>
                    <a:lnT w="12240">
                      <a:solidFill>
                        <a:srgbClr val="D1D5DB"/>
                      </a:solidFill>
                      <a:prstDash val="solid"/>
                    </a:lnT>
                    <a:lnB w="1224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IDS, izolim rrjeti, enkriptim, firewalls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1D5DB"/>
                      </a:solidFill>
                      <a:prstDash val="solid"/>
                    </a:lnL>
                    <a:lnR w="12240">
                      <a:solidFill>
                        <a:srgbClr val="D1D5DB"/>
                      </a:solidFill>
                      <a:prstDash val="solid"/>
                    </a:lnR>
                    <a:lnT w="12240">
                      <a:solidFill>
                        <a:srgbClr val="D1D5DB"/>
                      </a:solidFill>
                      <a:prstDash val="solid"/>
                    </a:lnT>
                    <a:lnB w="1224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9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Nivel rreziku (cloud)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1D5DB"/>
                      </a:solidFill>
                      <a:prstDash val="solid"/>
                    </a:lnL>
                    <a:lnR w="12240">
                      <a:solidFill>
                        <a:srgbClr val="D1D5DB"/>
                      </a:solidFill>
                      <a:prstDash val="solid"/>
                    </a:lnR>
                    <a:lnT w="12240">
                      <a:solidFill>
                        <a:srgbClr val="D1D5DB"/>
                      </a:solidFill>
                      <a:prstDash val="solid"/>
                    </a:lnT>
                    <a:lnB w="1224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EKSTREMISHT I LARTË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1D5DB"/>
                      </a:solidFill>
                      <a:prstDash val="solid"/>
                    </a:lnL>
                    <a:lnR w="12240">
                      <a:solidFill>
                        <a:srgbClr val="D1D5DB"/>
                      </a:solidFill>
                      <a:prstDash val="solid"/>
                    </a:lnR>
                    <a:lnT w="12240">
                      <a:solidFill>
                        <a:srgbClr val="D1D5DB"/>
                      </a:solidFill>
                      <a:prstDash val="solid"/>
                    </a:lnT>
                    <a:lnB w="1224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 LARTË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D1D5DB"/>
                      </a:solidFill>
                      <a:prstDash val="solid"/>
                    </a:lnL>
                    <a:lnR w="12240">
                      <a:solidFill>
                        <a:srgbClr val="D1D5DB"/>
                      </a:solidFill>
                      <a:prstDash val="solid"/>
                    </a:lnR>
                    <a:lnT w="12240">
                      <a:solidFill>
                        <a:srgbClr val="D1D5DB"/>
                      </a:solidFill>
                      <a:prstDash val="solid"/>
                    </a:lnT>
                    <a:lnB w="1224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3" name="Text 4"/>
          <p:cNvSpPr/>
          <p:nvPr/>
        </p:nvSpPr>
        <p:spPr>
          <a:xfrm>
            <a:off x="365760" y="472752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4748B"/>
                </a:solidFill>
                <a:effectLst/>
                <a:uFillTx/>
                <a:latin typeface="Calibri Light"/>
                <a:ea typeface="Calibri Light"/>
              </a:rPr>
              <a:t>Burimi: Kapitulli 8, Mobile Cloud Computing (Gai &amp; Qiu, 2017)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Studim Rasti: Siguria Financiare dhe Mobile Cloud (Seksioni 8.5)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4"/>
          <p:cNvSpPr/>
          <p:nvPr/>
        </p:nvSpPr>
        <p:spPr>
          <a:xfrm>
            <a:off x="320040" y="804600"/>
            <a:ext cx="8503560" cy="502560"/>
          </a:xfrm>
          <a:prstGeom prst="rect">
            <a:avLst/>
          </a:prstGeom>
          <a:solidFill>
            <a:srgbClr val="1A7A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5"/>
          <p:cNvSpPr/>
          <p:nvPr/>
        </p:nvSpPr>
        <p:spPr>
          <a:xfrm>
            <a:off x="411480" y="822960"/>
            <a:ext cx="8320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Rast Studimi nga literatura shkencore: SA-EAST – Transmetim i Sigurt Efiçent i të Dhënave për ITS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 6"/>
          <p:cNvSpPr/>
          <p:nvPr/>
        </p:nvSpPr>
        <p:spPr>
          <a:xfrm>
            <a:off x="320040" y="141732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4748B"/>
                </a:solidFill>
                <a:effectLst/>
                <a:uFillTx/>
                <a:latin typeface="Calibri Light"/>
                <a:ea typeface="Calibri Light"/>
              </a:rPr>
              <a:t>(Gai, Qiu, Chen, Zhao – ACM Transactions on Embedded Computing Systems, 2016)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Shape 7"/>
          <p:cNvSpPr/>
          <p:nvPr/>
        </p:nvSpPr>
        <p:spPr>
          <a:xfrm>
            <a:off x="320040" y="1783080"/>
            <a:ext cx="8503560" cy="639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Shape 8"/>
          <p:cNvSpPr/>
          <p:nvPr/>
        </p:nvSpPr>
        <p:spPr>
          <a:xfrm>
            <a:off x="320040" y="1783080"/>
            <a:ext cx="63720" cy="639720"/>
          </a:xfrm>
          <a:prstGeom prst="rect">
            <a:avLst/>
          </a:prstGeom>
          <a:solidFill>
            <a:srgbClr val="1A7A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9"/>
          <p:cNvSpPr/>
          <p:nvPr/>
        </p:nvSpPr>
        <p:spPr>
          <a:xfrm>
            <a:off x="502920" y="182880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7A4C"/>
                </a:solidFill>
                <a:effectLst/>
                <a:uFillTx/>
                <a:latin typeface="Calibri"/>
                <a:ea typeface="Calibri"/>
              </a:rPr>
              <a:t>SA-EAST – Transmetim Efiçent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10"/>
          <p:cNvSpPr/>
          <p:nvPr/>
        </p:nvSpPr>
        <p:spPr>
          <a:xfrm>
            <a:off x="3154680" y="1847160"/>
            <a:ext cx="5577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Security-aware efficient data transmission for ITS (Intelligent Transport Systems) in mobile heterogeneous cloud. Siguron transmetim të sigurt dhe efiçent.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11"/>
          <p:cNvSpPr/>
          <p:nvPr/>
        </p:nvSpPr>
        <p:spPr>
          <a:xfrm>
            <a:off x="320040" y="2514600"/>
            <a:ext cx="8503560" cy="639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Shape 12"/>
          <p:cNvSpPr/>
          <p:nvPr/>
        </p:nvSpPr>
        <p:spPr>
          <a:xfrm>
            <a:off x="320040" y="2514600"/>
            <a:ext cx="63720" cy="639720"/>
          </a:xfrm>
          <a:prstGeom prst="rect">
            <a:avLst/>
          </a:prstGeom>
          <a:solidFill>
            <a:srgbClr val="1E57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13"/>
          <p:cNvSpPr/>
          <p:nvPr/>
        </p:nvSpPr>
        <p:spPr>
          <a:xfrm>
            <a:off x="502920" y="256032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5799"/>
                </a:solidFill>
                <a:effectLst/>
                <a:uFillTx/>
                <a:latin typeface="Calibri"/>
                <a:ea typeface="Calibri"/>
              </a:rPr>
              <a:t>Kriptografi Inteligjente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14"/>
          <p:cNvSpPr/>
          <p:nvPr/>
        </p:nvSpPr>
        <p:spPr>
          <a:xfrm>
            <a:off x="3154680" y="2578680"/>
            <a:ext cx="5577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Intelligent cryptography for secure distributed big data storage – zgjidhje kriptografike të avancuara për ruajtje cloud (Li, Gai, Qiu et al., 2016).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Shape 15"/>
          <p:cNvSpPr/>
          <p:nvPr/>
        </p:nvSpPr>
        <p:spPr>
          <a:xfrm>
            <a:off x="320040" y="3246120"/>
            <a:ext cx="8503560" cy="639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Shape 16"/>
          <p:cNvSpPr/>
          <p:nvPr/>
        </p:nvSpPr>
        <p:spPr>
          <a:xfrm>
            <a:off x="320040" y="3246120"/>
            <a:ext cx="63720" cy="63972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17"/>
          <p:cNvSpPr/>
          <p:nvPr/>
        </p:nvSpPr>
        <p:spPr>
          <a:xfrm>
            <a:off x="502920" y="329184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Siguria FinTech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18"/>
          <p:cNvSpPr/>
          <p:nvPr/>
        </p:nvSpPr>
        <p:spPr>
          <a:xfrm>
            <a:off x="3154680" y="3310200"/>
            <a:ext cx="5577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Survey mbi sigurinë dhe privatësinë në FinTech – industria financiare halon sfida specifike të MCC (Gai, Qiu, Sun, Zhao, SmartCom 2016).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Shape 19"/>
          <p:cNvSpPr/>
          <p:nvPr/>
        </p:nvSpPr>
        <p:spPr>
          <a:xfrm>
            <a:off x="320040" y="3977640"/>
            <a:ext cx="8503560" cy="639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Shape 20"/>
          <p:cNvSpPr/>
          <p:nvPr/>
        </p:nvSpPr>
        <p:spPr>
          <a:xfrm>
            <a:off x="320040" y="3977640"/>
            <a:ext cx="63720" cy="639720"/>
          </a:xfrm>
          <a:prstGeom prst="rect">
            <a:avLst/>
          </a:prstGeom>
          <a:solidFill>
            <a:srgbClr val="D35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 21"/>
          <p:cNvSpPr/>
          <p:nvPr/>
        </p:nvSpPr>
        <p:spPr>
          <a:xfrm>
            <a:off x="502920" y="402336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35400"/>
                </a:solidFill>
                <a:effectLst/>
                <a:uFillTx/>
                <a:latin typeface="Calibri"/>
                <a:ea typeface="Calibri"/>
              </a:rPr>
              <a:t>Monte Carlo Simulations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22"/>
          <p:cNvSpPr/>
          <p:nvPr/>
        </p:nvSpPr>
        <p:spPr>
          <a:xfrm>
            <a:off x="3154680" y="4041720"/>
            <a:ext cx="5577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Siguria kybernetike e cloud-based financial cybersecurity insurance duke përdorur simulime Monte Carlo (Gai, Qiu, Hassan, Wiley 2016).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Statistika dhe Numra Kyçë të Sigurisë MCC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Shape 4"/>
          <p:cNvSpPr/>
          <p:nvPr/>
        </p:nvSpPr>
        <p:spPr>
          <a:xfrm>
            <a:off x="274320" y="822960"/>
            <a:ext cx="1919880" cy="1737000"/>
          </a:xfrm>
          <a:prstGeom prst="rect">
            <a:avLst/>
          </a:prstGeom>
          <a:solidFill>
            <a:srgbClr val="8B1A1A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5"/>
          <p:cNvSpPr/>
          <p:nvPr/>
        </p:nvSpPr>
        <p:spPr>
          <a:xfrm>
            <a:off x="274320" y="914400"/>
            <a:ext cx="1919880" cy="95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78%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6"/>
          <p:cNvSpPr/>
          <p:nvPr/>
        </p:nvSpPr>
        <p:spPr>
          <a:xfrm>
            <a:off x="274320" y="1865520"/>
            <a:ext cx="1919880" cy="65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Sulme nga Outsiders (2016)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Shape 7"/>
          <p:cNvSpPr/>
          <p:nvPr/>
        </p:nvSpPr>
        <p:spPr>
          <a:xfrm>
            <a:off x="2331720" y="822960"/>
            <a:ext cx="1919880" cy="1737000"/>
          </a:xfrm>
          <a:prstGeom prst="rect">
            <a:avLst/>
          </a:prstGeom>
          <a:solidFill>
            <a:srgbClr val="C0392B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8"/>
          <p:cNvSpPr/>
          <p:nvPr/>
        </p:nvSpPr>
        <p:spPr>
          <a:xfrm>
            <a:off x="2331720" y="914400"/>
            <a:ext cx="1919880" cy="95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16%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9"/>
          <p:cNvSpPr/>
          <p:nvPr/>
        </p:nvSpPr>
        <p:spPr>
          <a:xfrm>
            <a:off x="2331720" y="1865520"/>
            <a:ext cx="1919880" cy="65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Sulme nga Insiders (2016)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Shape 10"/>
          <p:cNvSpPr/>
          <p:nvPr/>
        </p:nvSpPr>
        <p:spPr>
          <a:xfrm>
            <a:off x="4389120" y="822960"/>
            <a:ext cx="1919880" cy="1737000"/>
          </a:xfrm>
          <a:prstGeom prst="rect">
            <a:avLst/>
          </a:prstGeom>
          <a:solidFill>
            <a:srgbClr val="D35400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11"/>
          <p:cNvSpPr/>
          <p:nvPr/>
        </p:nvSpPr>
        <p:spPr>
          <a:xfrm>
            <a:off x="4389120" y="914400"/>
            <a:ext cx="1919880" cy="95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3.1M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Text 12"/>
          <p:cNvSpPr/>
          <p:nvPr/>
        </p:nvSpPr>
        <p:spPr>
          <a:xfrm>
            <a:off x="4389120" y="1865520"/>
            <a:ext cx="1919880" cy="65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Amerikanë viktimë vjedhje smartphone (2013)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Shape 13"/>
          <p:cNvSpPr/>
          <p:nvPr/>
        </p:nvSpPr>
        <p:spPr>
          <a:xfrm>
            <a:off x="6446520" y="822960"/>
            <a:ext cx="1919880" cy="1737000"/>
          </a:xfrm>
          <a:prstGeom prst="rect">
            <a:avLst/>
          </a:prstGeom>
          <a:solidFill>
            <a:srgbClr val="1A2040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 14"/>
          <p:cNvSpPr/>
          <p:nvPr/>
        </p:nvSpPr>
        <p:spPr>
          <a:xfrm>
            <a:off x="6446520" y="914400"/>
            <a:ext cx="1919880" cy="95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 15"/>
          <p:cNvSpPr/>
          <p:nvPr/>
        </p:nvSpPr>
        <p:spPr>
          <a:xfrm>
            <a:off x="6446520" y="1865520"/>
            <a:ext cx="1919880" cy="65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Problemet kryesore: DOC, Kontrolli, TM, Multi-Tenancy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16"/>
          <p:cNvSpPr/>
          <p:nvPr/>
        </p:nvSpPr>
        <p:spPr>
          <a:xfrm>
            <a:off x="274320" y="2743200"/>
            <a:ext cx="8595000" cy="36360"/>
          </a:xfrm>
          <a:prstGeom prst="rect">
            <a:avLst/>
          </a:prstGeom>
          <a:solidFill>
            <a:srgbClr val="E5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Shape 17"/>
          <p:cNvSpPr/>
          <p:nvPr/>
        </p:nvSpPr>
        <p:spPr>
          <a:xfrm>
            <a:off x="274320" y="2926080"/>
            <a:ext cx="2651400" cy="1554120"/>
          </a:xfrm>
          <a:prstGeom prst="rect">
            <a:avLst/>
          </a:prstGeom>
          <a:solidFill>
            <a:srgbClr val="8B1A1A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18"/>
          <p:cNvSpPr/>
          <p:nvPr/>
        </p:nvSpPr>
        <p:spPr>
          <a:xfrm>
            <a:off x="274320" y="3017520"/>
            <a:ext cx="2651400" cy="85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 19"/>
          <p:cNvSpPr/>
          <p:nvPr/>
        </p:nvSpPr>
        <p:spPr>
          <a:xfrm>
            <a:off x="274320" y="3858840"/>
            <a:ext cx="265140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Taksonomitë e Kërcënimeve: CIA, MDM, API, Forensics, Legal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20"/>
          <p:cNvSpPr/>
          <p:nvPr/>
        </p:nvSpPr>
        <p:spPr>
          <a:xfrm>
            <a:off x="3063240" y="2926080"/>
            <a:ext cx="2651400" cy="1554120"/>
          </a:xfrm>
          <a:prstGeom prst="rect">
            <a:avLst/>
          </a:prstGeom>
          <a:solidFill>
            <a:srgbClr val="1E5799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21"/>
          <p:cNvSpPr/>
          <p:nvPr/>
        </p:nvSpPr>
        <p:spPr>
          <a:xfrm>
            <a:off x="3063240" y="3017520"/>
            <a:ext cx="2651400" cy="85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 22"/>
          <p:cNvSpPr/>
          <p:nvPr/>
        </p:nvSpPr>
        <p:spPr>
          <a:xfrm>
            <a:off x="3063240" y="3858840"/>
            <a:ext cx="265140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Modelet shërbimi: IaaS · PaaS · SaaS (level sigurie ↑)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Shape 23"/>
          <p:cNvSpPr/>
          <p:nvPr/>
        </p:nvSpPr>
        <p:spPr>
          <a:xfrm>
            <a:off x="5852160" y="2926080"/>
            <a:ext cx="2971440" cy="1554120"/>
          </a:xfrm>
          <a:prstGeom prst="rect">
            <a:avLst/>
          </a:prstGeom>
          <a:solidFill>
            <a:srgbClr val="1A7A4C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24"/>
          <p:cNvSpPr/>
          <p:nvPr/>
        </p:nvSpPr>
        <p:spPr>
          <a:xfrm>
            <a:off x="5852160" y="3017520"/>
            <a:ext cx="2971440" cy="85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25"/>
          <p:cNvSpPr/>
          <p:nvPr/>
        </p:nvSpPr>
        <p:spPr>
          <a:xfrm>
            <a:off x="5852160" y="3858840"/>
            <a:ext cx="297144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Llojet e kërcënimeve: Insider Threat &amp; Outsider Threat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Peizazhi i Plotë i Kërcënimeve – Pamje e Integruar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Shape 4"/>
          <p:cNvSpPr/>
          <p:nvPr/>
        </p:nvSpPr>
        <p:spPr>
          <a:xfrm>
            <a:off x="320040" y="822960"/>
            <a:ext cx="5943240" cy="566640"/>
          </a:xfrm>
          <a:prstGeom prst="rect">
            <a:avLst/>
          </a:prstGeom>
          <a:solidFill>
            <a:srgbClr val="8B1A1A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5"/>
          <p:cNvSpPr/>
          <p:nvPr/>
        </p:nvSpPr>
        <p:spPr>
          <a:xfrm>
            <a:off x="411480" y="896040"/>
            <a:ext cx="5760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Shtresa e Aplikacionit (Application Layer)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6"/>
          <p:cNvSpPr/>
          <p:nvPr/>
        </p:nvSpPr>
        <p:spPr>
          <a:xfrm>
            <a:off x="320040" y="1508760"/>
            <a:ext cx="5943240" cy="566640"/>
          </a:xfrm>
          <a:prstGeom prst="rect">
            <a:avLst/>
          </a:prstGeom>
          <a:solidFill>
            <a:srgbClr val="C0392B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7"/>
          <p:cNvSpPr/>
          <p:nvPr/>
        </p:nvSpPr>
        <p:spPr>
          <a:xfrm>
            <a:off x="411480" y="1581840"/>
            <a:ext cx="5760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Shtresa e Platformës – API &amp; Interfaces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Shape 8"/>
          <p:cNvSpPr/>
          <p:nvPr/>
        </p:nvSpPr>
        <p:spPr>
          <a:xfrm>
            <a:off x="320040" y="2194560"/>
            <a:ext cx="5943240" cy="566640"/>
          </a:xfrm>
          <a:prstGeom prst="rect">
            <a:avLst/>
          </a:prstGeom>
          <a:solidFill>
            <a:srgbClr val="D35400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 9"/>
          <p:cNvSpPr/>
          <p:nvPr/>
        </p:nvSpPr>
        <p:spPr>
          <a:xfrm>
            <a:off x="411480" y="2267640"/>
            <a:ext cx="5760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Shtresa e Virtualizimit – VM, Hypervisor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Shape 10"/>
          <p:cNvSpPr/>
          <p:nvPr/>
        </p:nvSpPr>
        <p:spPr>
          <a:xfrm>
            <a:off x="320040" y="2880360"/>
            <a:ext cx="5943240" cy="566640"/>
          </a:xfrm>
          <a:prstGeom prst="rect">
            <a:avLst/>
          </a:prstGeom>
          <a:solidFill>
            <a:srgbClr val="1E5799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11"/>
          <p:cNvSpPr/>
          <p:nvPr/>
        </p:nvSpPr>
        <p:spPr>
          <a:xfrm>
            <a:off x="411480" y="2953440"/>
            <a:ext cx="5760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Shtresa e Ruajtjes – HDFS, Cloud Storage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Shape 12"/>
          <p:cNvSpPr/>
          <p:nvPr/>
        </p:nvSpPr>
        <p:spPr>
          <a:xfrm>
            <a:off x="320040" y="3566160"/>
            <a:ext cx="5943240" cy="566640"/>
          </a:xfrm>
          <a:prstGeom prst="rect">
            <a:avLst/>
          </a:prstGeom>
          <a:solidFill>
            <a:srgbClr val="1A2040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6" name="Text 13"/>
          <p:cNvSpPr/>
          <p:nvPr/>
        </p:nvSpPr>
        <p:spPr>
          <a:xfrm>
            <a:off x="411480" y="3639240"/>
            <a:ext cx="5760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Shtresa Fizike – Hardware, Data Centers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Shape 14"/>
          <p:cNvSpPr/>
          <p:nvPr/>
        </p:nvSpPr>
        <p:spPr>
          <a:xfrm>
            <a:off x="6446520" y="822960"/>
            <a:ext cx="2377080" cy="566640"/>
          </a:xfrm>
          <a:prstGeom prst="rect">
            <a:avLst/>
          </a:prstGeom>
          <a:solidFill>
            <a:srgbClr val="8B1A1A">
              <a:alpha val="80000"/>
            </a:srgbClr>
          </a:solidFill>
          <a:ln w="12700">
            <a:solidFill>
              <a:srgbClr val="8B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 15"/>
          <p:cNvSpPr/>
          <p:nvPr/>
        </p:nvSpPr>
        <p:spPr>
          <a:xfrm>
            <a:off x="6492240" y="850320"/>
            <a:ext cx="2285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Cookie Poisoning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DoS, SQL Injection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Shape 16"/>
          <p:cNvSpPr/>
          <p:nvPr/>
        </p:nvSpPr>
        <p:spPr>
          <a:xfrm>
            <a:off x="6446520" y="1508760"/>
            <a:ext cx="2377080" cy="566640"/>
          </a:xfrm>
          <a:prstGeom prst="rect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 17"/>
          <p:cNvSpPr/>
          <p:nvPr/>
        </p:nvSpPr>
        <p:spPr>
          <a:xfrm>
            <a:off x="6492240" y="1536120"/>
            <a:ext cx="2285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API Hacking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Malware Injection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Shape 18"/>
          <p:cNvSpPr/>
          <p:nvPr/>
        </p:nvSpPr>
        <p:spPr>
          <a:xfrm>
            <a:off x="6446520" y="2194560"/>
            <a:ext cx="2377080" cy="566640"/>
          </a:xfrm>
          <a:prstGeom prst="rect">
            <a:avLst/>
          </a:prstGeom>
          <a:solidFill>
            <a:srgbClr val="D35400">
              <a:alpha val="80000"/>
            </a:srgbClr>
          </a:solidFill>
          <a:ln w="12700">
            <a:solidFill>
              <a:srgbClr val="D354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19"/>
          <p:cNvSpPr/>
          <p:nvPr/>
        </p:nvSpPr>
        <p:spPr>
          <a:xfrm>
            <a:off x="6492240" y="2221920"/>
            <a:ext cx="2285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Side-Channel Attacks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VM Escape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Shape 20"/>
          <p:cNvSpPr/>
          <p:nvPr/>
        </p:nvSpPr>
        <p:spPr>
          <a:xfrm>
            <a:off x="6446520" y="2880360"/>
            <a:ext cx="2377080" cy="566640"/>
          </a:xfrm>
          <a:prstGeom prst="rect">
            <a:avLst/>
          </a:prstGeom>
          <a:solidFill>
            <a:srgbClr val="1E5799">
              <a:alpha val="80000"/>
            </a:srgbClr>
          </a:solidFill>
          <a:ln w="12700">
            <a:solidFill>
              <a:srgbClr val="1E57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4" name="Text 21"/>
          <p:cNvSpPr/>
          <p:nvPr/>
        </p:nvSpPr>
        <p:spPr>
          <a:xfrm>
            <a:off x="6492240" y="2907720"/>
            <a:ext cx="2285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Data Mining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DOC Attacks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Shape 22"/>
          <p:cNvSpPr/>
          <p:nvPr/>
        </p:nvSpPr>
        <p:spPr>
          <a:xfrm>
            <a:off x="6446520" y="3566160"/>
            <a:ext cx="2377080" cy="566640"/>
          </a:xfrm>
          <a:prstGeom prst="rect">
            <a:avLst/>
          </a:prstGeom>
          <a:solidFill>
            <a:srgbClr val="1A2040">
              <a:alpha val="80000"/>
            </a:srgbClr>
          </a:solidFill>
          <a:ln w="12700">
            <a:solidFill>
              <a:srgbClr val="1A2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 23"/>
          <p:cNvSpPr/>
          <p:nvPr/>
        </p:nvSpPr>
        <p:spPr>
          <a:xfrm>
            <a:off x="6492240" y="3593520"/>
            <a:ext cx="2285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Multi-Tenancy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 Light"/>
                <a:ea typeface="Calibri Light"/>
              </a:rPr>
              <a:t>Physical Access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 24"/>
          <p:cNvSpPr/>
          <p:nvPr/>
        </p:nvSpPr>
        <p:spPr>
          <a:xfrm>
            <a:off x="320040" y="4260960"/>
            <a:ext cx="5943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SHTRESAT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 25"/>
          <p:cNvSpPr/>
          <p:nvPr/>
        </p:nvSpPr>
        <p:spPr>
          <a:xfrm>
            <a:off x="6446520" y="426096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KËRCËNIMET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Përmbledhja e Kapitullit 8 (Seksioni 8.6)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2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Text 4"/>
          <p:cNvSpPr/>
          <p:nvPr/>
        </p:nvSpPr>
        <p:spPr>
          <a:xfrm>
            <a:off x="365760" y="822960"/>
            <a:ext cx="841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040"/>
                </a:solidFill>
                <a:effectLst/>
                <a:uFillTx/>
                <a:latin typeface="Calibri"/>
                <a:ea typeface="Calibri"/>
              </a:rPr>
              <a:t>Kapitulli 8 mbuloi 4 aspektet kryesore të sigurisë/privatësisë MCC: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Shape 5"/>
          <p:cNvSpPr/>
          <p:nvPr/>
        </p:nvSpPr>
        <p:spPr>
          <a:xfrm>
            <a:off x="320040" y="1325880"/>
            <a:ext cx="8503560" cy="804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Shape 6"/>
          <p:cNvSpPr/>
          <p:nvPr/>
        </p:nvSpPr>
        <p:spPr>
          <a:xfrm>
            <a:off x="320040" y="1325880"/>
            <a:ext cx="63720" cy="804240"/>
          </a:xfrm>
          <a:prstGeom prst="rect">
            <a:avLst/>
          </a:prstGeom>
          <a:solidFill>
            <a:srgbClr val="1E57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6" name="Shape 7"/>
          <p:cNvSpPr/>
          <p:nvPr/>
        </p:nvSpPr>
        <p:spPr>
          <a:xfrm>
            <a:off x="457200" y="1454040"/>
            <a:ext cx="438480" cy="438480"/>
          </a:xfrm>
          <a:prstGeom prst="ellipse">
            <a:avLst/>
          </a:prstGeom>
          <a:solidFill>
            <a:srgbClr val="1E5799"/>
          </a:solidFill>
          <a:ln w="12700">
            <a:solidFill>
              <a:srgbClr val="1E57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 8"/>
          <p:cNvSpPr/>
          <p:nvPr/>
        </p:nvSpPr>
        <p:spPr>
          <a:xfrm>
            <a:off x="457200" y="145404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 9"/>
          <p:cNvSpPr/>
          <p:nvPr/>
        </p:nvSpPr>
        <p:spPr>
          <a:xfrm>
            <a:off x="1024200" y="139896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5799"/>
                </a:solidFill>
                <a:effectLst/>
                <a:uFillTx/>
                <a:latin typeface="Calibri"/>
                <a:ea typeface="Calibri"/>
              </a:rPr>
              <a:t>Konceptet Bazë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 10"/>
          <p:cNvSpPr/>
          <p:nvPr/>
        </p:nvSpPr>
        <p:spPr>
          <a:xfrm>
            <a:off x="1024200" y="1755720"/>
            <a:ext cx="7680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Siguria dhe privatësia – definicione dhe karakteristika. Siguia mbron sistemet; privatësia fokuson rrjedhjen e informacionit. Dy tipare: specificiteti i problemeve dhe trashëgimia e dobësive.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Shape 11"/>
          <p:cNvSpPr/>
          <p:nvPr/>
        </p:nvSpPr>
        <p:spPr>
          <a:xfrm>
            <a:off x="320040" y="2240280"/>
            <a:ext cx="8503560" cy="804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Shape 12"/>
          <p:cNvSpPr/>
          <p:nvPr/>
        </p:nvSpPr>
        <p:spPr>
          <a:xfrm>
            <a:off x="320040" y="2240280"/>
            <a:ext cx="63720" cy="80424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2" name="Shape 13"/>
          <p:cNvSpPr/>
          <p:nvPr/>
        </p:nvSpPr>
        <p:spPr>
          <a:xfrm>
            <a:off x="457200" y="2368440"/>
            <a:ext cx="438480" cy="4384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14"/>
          <p:cNvSpPr/>
          <p:nvPr/>
        </p:nvSpPr>
        <p:spPr>
          <a:xfrm>
            <a:off x="457200" y="236844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 15"/>
          <p:cNvSpPr/>
          <p:nvPr/>
        </p:nvSpPr>
        <p:spPr>
          <a:xfrm>
            <a:off x="1024200" y="231336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Problemet Kryesore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16"/>
          <p:cNvSpPr/>
          <p:nvPr/>
        </p:nvSpPr>
        <p:spPr>
          <a:xfrm>
            <a:off x="1024200" y="2670120"/>
            <a:ext cx="7680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4 probleme: DOC (over-collection), Kontrolli (humbja e kontrollit), TM (besimi ndaj palëve të treta) dhe Multi-Tenancy (ndarja e makinave fizike).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Shape 17"/>
          <p:cNvSpPr/>
          <p:nvPr/>
        </p:nvSpPr>
        <p:spPr>
          <a:xfrm>
            <a:off x="320040" y="3154680"/>
            <a:ext cx="8503560" cy="804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Shape 18"/>
          <p:cNvSpPr/>
          <p:nvPr/>
        </p:nvSpPr>
        <p:spPr>
          <a:xfrm>
            <a:off x="320040" y="3154680"/>
            <a:ext cx="63720" cy="804240"/>
          </a:xfrm>
          <a:prstGeom prst="rect">
            <a:avLst/>
          </a:prstGeom>
          <a:solidFill>
            <a:srgbClr val="D35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8" name="Shape 19"/>
          <p:cNvSpPr/>
          <p:nvPr/>
        </p:nvSpPr>
        <p:spPr>
          <a:xfrm>
            <a:off x="457200" y="3282840"/>
            <a:ext cx="438480" cy="438480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 20"/>
          <p:cNvSpPr/>
          <p:nvPr/>
        </p:nvSpPr>
        <p:spPr>
          <a:xfrm>
            <a:off x="457200" y="328284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21"/>
          <p:cNvSpPr/>
          <p:nvPr/>
        </p:nvSpPr>
        <p:spPr>
          <a:xfrm>
            <a:off x="1024200" y="322776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35400"/>
                </a:solidFill>
                <a:effectLst/>
                <a:uFillTx/>
                <a:latin typeface="Calibri"/>
                <a:ea typeface="Calibri"/>
              </a:rPr>
              <a:t>Taksonomia e Kërcënimeve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 22"/>
          <p:cNvSpPr/>
          <p:nvPr/>
        </p:nvSpPr>
        <p:spPr>
          <a:xfrm>
            <a:off x="1024200" y="3584520"/>
            <a:ext cx="7680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CIA (Konfidencialitet, Integriteti, Disponueshmëria), MDM (Massive Data Mining), Interfaqet e sulmit, Auditability/Forensics, Çështjet Ligjore.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Shape 23"/>
          <p:cNvSpPr/>
          <p:nvPr/>
        </p:nvSpPr>
        <p:spPr>
          <a:xfrm>
            <a:off x="320040" y="4069080"/>
            <a:ext cx="8503560" cy="804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Shape 24"/>
          <p:cNvSpPr/>
          <p:nvPr/>
        </p:nvSpPr>
        <p:spPr>
          <a:xfrm>
            <a:off x="320040" y="4069080"/>
            <a:ext cx="63720" cy="804240"/>
          </a:xfrm>
          <a:prstGeom prst="rect">
            <a:avLst/>
          </a:prstGeom>
          <a:solidFill>
            <a:srgbClr val="8B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4" name="Shape 25"/>
          <p:cNvSpPr/>
          <p:nvPr/>
        </p:nvSpPr>
        <p:spPr>
          <a:xfrm>
            <a:off x="457200" y="4197240"/>
            <a:ext cx="438480" cy="4384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26"/>
          <p:cNvSpPr/>
          <p:nvPr/>
        </p:nvSpPr>
        <p:spPr>
          <a:xfrm>
            <a:off x="457200" y="419724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Text 27"/>
          <p:cNvSpPr/>
          <p:nvPr/>
        </p:nvSpPr>
        <p:spPr>
          <a:xfrm>
            <a:off x="1024200" y="414216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B1A1A"/>
                </a:solidFill>
                <a:effectLst/>
                <a:uFillTx/>
                <a:latin typeface="Calibri"/>
                <a:ea typeface="Calibri"/>
              </a:rPr>
              <a:t>Modelet e Kërcënimeve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 28"/>
          <p:cNvSpPr/>
          <p:nvPr/>
        </p:nvSpPr>
        <p:spPr>
          <a:xfrm>
            <a:off x="1024200" y="4498920"/>
            <a:ext cx="7680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Insider Threats (palë të autorizuara – klienti + ofruesi) dhe Outsider Threats (MIA, DDoS, SCA, Probing). SaaS sigurt más; IaaS sigurt más pak.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Ushtrime (Seksioni 8.7)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1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Shape 4"/>
          <p:cNvSpPr/>
          <p:nvPr/>
        </p:nvSpPr>
        <p:spPr>
          <a:xfrm>
            <a:off x="274320" y="841320"/>
            <a:ext cx="8595000" cy="438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Shape 5"/>
          <p:cNvSpPr/>
          <p:nvPr/>
        </p:nvSpPr>
        <p:spPr>
          <a:xfrm>
            <a:off x="320040" y="914400"/>
            <a:ext cx="319680" cy="3196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 6"/>
          <p:cNvSpPr/>
          <p:nvPr/>
        </p:nvSpPr>
        <p:spPr>
          <a:xfrm>
            <a:off x="320040" y="9144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Text 7"/>
          <p:cNvSpPr/>
          <p:nvPr/>
        </p:nvSpPr>
        <p:spPr>
          <a:xfrm>
            <a:off x="777240" y="896040"/>
            <a:ext cx="7954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Përshkruaj shkurtimisht ndryshimet ndërmjet sigurisë dhe privatësisë. Çfarë marrëdhëniesh kanë?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Shape 8"/>
          <p:cNvSpPr/>
          <p:nvPr/>
        </p:nvSpPr>
        <p:spPr>
          <a:xfrm>
            <a:off x="274320" y="1344240"/>
            <a:ext cx="8595000" cy="438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Shape 9"/>
          <p:cNvSpPr/>
          <p:nvPr/>
        </p:nvSpPr>
        <p:spPr>
          <a:xfrm>
            <a:off x="320040" y="1417320"/>
            <a:ext cx="319680" cy="3196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8" name="Text 10"/>
          <p:cNvSpPr/>
          <p:nvPr/>
        </p:nvSpPr>
        <p:spPr>
          <a:xfrm>
            <a:off x="320040" y="141732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Text 11"/>
          <p:cNvSpPr/>
          <p:nvPr/>
        </p:nvSpPr>
        <p:spPr>
          <a:xfrm>
            <a:off x="777240" y="1398960"/>
            <a:ext cx="7954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Listo dy tipare të çështjeve të sigurisë/privatësisë në sistemet mobile cloud dhe shpjego.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Shape 12"/>
          <p:cNvSpPr/>
          <p:nvPr/>
        </p:nvSpPr>
        <p:spPr>
          <a:xfrm>
            <a:off x="274320" y="1847160"/>
            <a:ext cx="8595000" cy="438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Shape 13"/>
          <p:cNvSpPr/>
          <p:nvPr/>
        </p:nvSpPr>
        <p:spPr>
          <a:xfrm>
            <a:off x="320040" y="1920240"/>
            <a:ext cx="319680" cy="3196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 14"/>
          <p:cNvSpPr/>
          <p:nvPr/>
        </p:nvSpPr>
        <p:spPr>
          <a:xfrm>
            <a:off x="320040" y="192024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 15"/>
          <p:cNvSpPr/>
          <p:nvPr/>
        </p:nvSpPr>
        <p:spPr>
          <a:xfrm>
            <a:off x="777240" y="1901880"/>
            <a:ext cx="7954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Çfarë rreziqesh mund të shkaktojë problemi Data Over-Collection (DOC) në cloud mobil?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Shape 16"/>
          <p:cNvSpPr/>
          <p:nvPr/>
        </p:nvSpPr>
        <p:spPr>
          <a:xfrm>
            <a:off x="274320" y="2350080"/>
            <a:ext cx="8595000" cy="438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Shape 17"/>
          <p:cNvSpPr/>
          <p:nvPr/>
        </p:nvSpPr>
        <p:spPr>
          <a:xfrm>
            <a:off x="320040" y="2423160"/>
            <a:ext cx="319680" cy="3196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6" name="Text 18"/>
          <p:cNvSpPr/>
          <p:nvPr/>
        </p:nvSpPr>
        <p:spPr>
          <a:xfrm>
            <a:off x="320040" y="24231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Text 19"/>
          <p:cNvSpPr/>
          <p:nvPr/>
        </p:nvSpPr>
        <p:spPr>
          <a:xfrm>
            <a:off x="777240" y="2404800"/>
            <a:ext cx="7954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Shpjego pse multi-tenancy i cloud computing mund të sjellë rreziqe.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Shape 20"/>
          <p:cNvSpPr/>
          <p:nvPr/>
        </p:nvSpPr>
        <p:spPr>
          <a:xfrm>
            <a:off x="274320" y="2853000"/>
            <a:ext cx="8595000" cy="438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Shape 21"/>
          <p:cNvSpPr/>
          <p:nvPr/>
        </p:nvSpPr>
        <p:spPr>
          <a:xfrm>
            <a:off x="320040" y="2926080"/>
            <a:ext cx="319680" cy="3196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0" name="Text 22"/>
          <p:cNvSpPr/>
          <p:nvPr/>
        </p:nvSpPr>
        <p:spPr>
          <a:xfrm>
            <a:off x="320040" y="292608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Text 23"/>
          <p:cNvSpPr/>
          <p:nvPr/>
        </p:nvSpPr>
        <p:spPr>
          <a:xfrm>
            <a:off x="777240" y="2907720"/>
            <a:ext cx="7954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Përshkruaj dallimet ndërmjet Konfidencialitetit, Integritetit dhe Disponueshmërisë.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Shape 24"/>
          <p:cNvSpPr/>
          <p:nvPr/>
        </p:nvSpPr>
        <p:spPr>
          <a:xfrm>
            <a:off x="274320" y="3355920"/>
            <a:ext cx="8595000" cy="438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Shape 25"/>
          <p:cNvSpPr/>
          <p:nvPr/>
        </p:nvSpPr>
        <p:spPr>
          <a:xfrm>
            <a:off x="320040" y="3429000"/>
            <a:ext cx="319680" cy="3196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 26"/>
          <p:cNvSpPr/>
          <p:nvPr/>
        </p:nvSpPr>
        <p:spPr>
          <a:xfrm>
            <a:off x="320040" y="34290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 27"/>
          <p:cNvSpPr/>
          <p:nvPr/>
        </p:nvSpPr>
        <p:spPr>
          <a:xfrm>
            <a:off x="777240" y="3410640"/>
            <a:ext cx="7954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Çfarë është Massive Data Mining (MDM)? Pse është e rrezikshme edhe me kriptim?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Shape 28"/>
          <p:cNvSpPr/>
          <p:nvPr/>
        </p:nvSpPr>
        <p:spPr>
          <a:xfrm>
            <a:off x="274320" y="3858840"/>
            <a:ext cx="8595000" cy="438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Shape 29"/>
          <p:cNvSpPr/>
          <p:nvPr/>
        </p:nvSpPr>
        <p:spPr>
          <a:xfrm>
            <a:off x="320040" y="3931920"/>
            <a:ext cx="319680" cy="3196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8" name="Text 30"/>
          <p:cNvSpPr/>
          <p:nvPr/>
        </p:nvSpPr>
        <p:spPr>
          <a:xfrm>
            <a:off x="320040" y="393192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Text 31"/>
          <p:cNvSpPr/>
          <p:nvPr/>
        </p:nvSpPr>
        <p:spPr>
          <a:xfrm>
            <a:off x="777240" y="3913560"/>
            <a:ext cx="7954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Përshkruaj marrëdhëniet ndërmjet Digital Forensics, Cloud Forensics dhe MCF.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Shape 32"/>
          <p:cNvSpPr/>
          <p:nvPr/>
        </p:nvSpPr>
        <p:spPr>
          <a:xfrm>
            <a:off x="274320" y="4361760"/>
            <a:ext cx="8595000" cy="438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Shape 33"/>
          <p:cNvSpPr/>
          <p:nvPr/>
        </p:nvSpPr>
        <p:spPr>
          <a:xfrm>
            <a:off x="320040" y="4434840"/>
            <a:ext cx="319680" cy="3196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 34"/>
          <p:cNvSpPr/>
          <p:nvPr/>
        </p:nvSpPr>
        <p:spPr>
          <a:xfrm>
            <a:off x="320040" y="443484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 35"/>
          <p:cNvSpPr/>
          <p:nvPr/>
        </p:nvSpPr>
        <p:spPr>
          <a:xfrm>
            <a:off x="777240" y="4416480"/>
            <a:ext cx="7954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"/>
                <a:ea typeface="Calibri"/>
              </a:rPr>
              <a:t>Ushtrimi i ndërtimit të Threat Model: Jenny zotëron kompani shërbimi storage cloud. Si CIO, propozoni analizën e detajuar të modelit të kërcënimit.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5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Fjalori – Termat Kyçe Pjesa 1 (Seksioni 8.8)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7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Shape 4"/>
          <p:cNvSpPr/>
          <p:nvPr/>
        </p:nvSpPr>
        <p:spPr>
          <a:xfrm>
            <a:off x="274320" y="868680"/>
            <a:ext cx="8595000" cy="548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Shape 5"/>
          <p:cNvSpPr/>
          <p:nvPr/>
        </p:nvSpPr>
        <p:spPr>
          <a:xfrm>
            <a:off x="274320" y="868680"/>
            <a:ext cx="1919880" cy="54828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0" name="Text 6"/>
          <p:cNvSpPr/>
          <p:nvPr/>
        </p:nvSpPr>
        <p:spPr>
          <a:xfrm>
            <a:off x="274320" y="96012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Attacker/Adversary Model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Text 7"/>
          <p:cNvSpPr/>
          <p:nvPr/>
        </p:nvSpPr>
        <p:spPr>
          <a:xfrm>
            <a:off x="2304360" y="96012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Model përshkrues që ofron informacion kërcënimi: llojet sulmues, motivimet dhe kapacitetet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Shape 8"/>
          <p:cNvSpPr/>
          <p:nvPr/>
        </p:nvSpPr>
        <p:spPr>
          <a:xfrm>
            <a:off x="274320" y="1527120"/>
            <a:ext cx="8595000" cy="548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Shape 9"/>
          <p:cNvSpPr/>
          <p:nvPr/>
        </p:nvSpPr>
        <p:spPr>
          <a:xfrm>
            <a:off x="274320" y="1527120"/>
            <a:ext cx="1919880" cy="548280"/>
          </a:xfrm>
          <a:prstGeom prst="rect">
            <a:avLst/>
          </a:prstGeom>
          <a:solidFill>
            <a:srgbClr val="D35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4" name="Text 10"/>
          <p:cNvSpPr/>
          <p:nvPr/>
        </p:nvSpPr>
        <p:spPr>
          <a:xfrm>
            <a:off x="274320" y="161856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Availability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 11"/>
          <p:cNvSpPr/>
          <p:nvPr/>
        </p:nvSpPr>
        <p:spPr>
          <a:xfrm>
            <a:off x="2304360" y="161856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A mund ofruesit cloud të garantojnë shërbime të vazhdueshme për klientët (siguri/privatësi)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Shape 12"/>
          <p:cNvSpPr/>
          <p:nvPr/>
        </p:nvSpPr>
        <p:spPr>
          <a:xfrm>
            <a:off x="274320" y="2185560"/>
            <a:ext cx="8595000" cy="548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Shape 13"/>
          <p:cNvSpPr/>
          <p:nvPr/>
        </p:nvSpPr>
        <p:spPr>
          <a:xfrm>
            <a:off x="274320" y="2185560"/>
            <a:ext cx="1919880" cy="548280"/>
          </a:xfrm>
          <a:prstGeom prst="rect">
            <a:avLst/>
          </a:prstGeom>
          <a:solidFill>
            <a:srgbClr val="1E57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8" name="Text 14"/>
          <p:cNvSpPr/>
          <p:nvPr/>
        </p:nvSpPr>
        <p:spPr>
          <a:xfrm>
            <a:off x="274320" y="227700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Compatibility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Text 15"/>
          <p:cNvSpPr/>
          <p:nvPr/>
        </p:nvSpPr>
        <p:spPr>
          <a:xfrm>
            <a:off x="2304360" y="227700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A mund të jepen shërbime të ndryshme duke përdorur të njëjtën makinë fizike (multi-tenancy)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Shape 16"/>
          <p:cNvSpPr/>
          <p:nvPr/>
        </p:nvSpPr>
        <p:spPr>
          <a:xfrm>
            <a:off x="274320" y="2843640"/>
            <a:ext cx="8595000" cy="548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Shape 17"/>
          <p:cNvSpPr/>
          <p:nvPr/>
        </p:nvSpPr>
        <p:spPr>
          <a:xfrm>
            <a:off x="274320" y="2843640"/>
            <a:ext cx="1919880" cy="548280"/>
          </a:xfrm>
          <a:prstGeom prst="rect">
            <a:avLst/>
          </a:prstGeom>
          <a:solidFill>
            <a:srgbClr val="8B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2" name="Text 18"/>
          <p:cNvSpPr/>
          <p:nvPr/>
        </p:nvSpPr>
        <p:spPr>
          <a:xfrm>
            <a:off x="274320" y="293508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Confidentiality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Text 19"/>
          <p:cNvSpPr/>
          <p:nvPr/>
        </p:nvSpPr>
        <p:spPr>
          <a:xfrm>
            <a:off x="2304360" y="293508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Sigurimi se informacioni i klientëve cloud nuk aksesohet nga persona të paautorizuar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Shape 20"/>
          <p:cNvSpPr/>
          <p:nvPr/>
        </p:nvSpPr>
        <p:spPr>
          <a:xfrm>
            <a:off x="274320" y="3502080"/>
            <a:ext cx="8595000" cy="548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Shape 21"/>
          <p:cNvSpPr/>
          <p:nvPr/>
        </p:nvSpPr>
        <p:spPr>
          <a:xfrm>
            <a:off x="274320" y="3502080"/>
            <a:ext cx="1919880" cy="548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6" name="Text 22"/>
          <p:cNvSpPr/>
          <p:nvPr/>
        </p:nvSpPr>
        <p:spPr>
          <a:xfrm>
            <a:off x="274320" y="359352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Insider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Text 23"/>
          <p:cNvSpPr/>
          <p:nvPr/>
        </p:nvSpPr>
        <p:spPr>
          <a:xfrm>
            <a:off x="2304360" y="359352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Çdo palë me autoritet/privilegj për të aksesuar plotësisht/pjesërisht të dhënat cloud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Shape 24"/>
          <p:cNvSpPr/>
          <p:nvPr/>
        </p:nvSpPr>
        <p:spPr>
          <a:xfrm>
            <a:off x="274320" y="4160520"/>
            <a:ext cx="8595000" cy="548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Shape 25"/>
          <p:cNvSpPr/>
          <p:nvPr/>
        </p:nvSpPr>
        <p:spPr>
          <a:xfrm>
            <a:off x="274320" y="4160520"/>
            <a:ext cx="1919880" cy="548280"/>
          </a:xfrm>
          <a:prstGeom prst="rect">
            <a:avLst/>
          </a:prstGeom>
          <a:solidFill>
            <a:srgbClr val="6E10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0" name="Text 26"/>
          <p:cNvSpPr/>
          <p:nvPr/>
        </p:nvSpPr>
        <p:spPr>
          <a:xfrm>
            <a:off x="274320" y="425196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Insider Threat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Text 27"/>
          <p:cNvSpPr/>
          <p:nvPr/>
        </p:nvSpPr>
        <p:spPr>
          <a:xfrm>
            <a:off x="2304360" y="425196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Aktivitete rreziku ose operacione të papërshtatshme nga palë insider (klient ose ofrues)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3" name="Text 1"/>
          <p:cNvSpPr/>
          <p:nvPr/>
        </p:nvSpPr>
        <p:spPr>
          <a:xfrm>
            <a:off x="274320" y="4572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Fjalori – Termat Kyçe Pjesa 2 (Seksioni 8.8)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Shape 2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5" name="Text 3"/>
          <p:cNvSpPr/>
          <p:nvPr/>
        </p:nvSpPr>
        <p:spPr>
          <a:xfrm>
            <a:off x="274320" y="489204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DD9F2"/>
                </a:solidFill>
                <a:effectLst/>
                <a:uFillTx/>
                <a:latin typeface="Calibri"/>
                <a:ea typeface="Calibri"/>
              </a:rPr>
              <a:t>Kapitulli 8 · Siguria dhe Privatësia – Mobile Cloud Computing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Shape 4"/>
          <p:cNvSpPr/>
          <p:nvPr/>
        </p:nvSpPr>
        <p:spPr>
          <a:xfrm>
            <a:off x="274320" y="841320"/>
            <a:ext cx="8595000" cy="438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Shape 5"/>
          <p:cNvSpPr/>
          <p:nvPr/>
        </p:nvSpPr>
        <p:spPr>
          <a:xfrm>
            <a:off x="274320" y="841320"/>
            <a:ext cx="2011320" cy="438480"/>
          </a:xfrm>
          <a:prstGeom prst="rect">
            <a:avLst/>
          </a:prstGeom>
          <a:solidFill>
            <a:srgbClr val="D35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8" name="Text 6"/>
          <p:cNvSpPr/>
          <p:nvPr/>
        </p:nvSpPr>
        <p:spPr>
          <a:xfrm>
            <a:off x="274320" y="905400"/>
            <a:ext cx="2011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Integrity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 7"/>
          <p:cNvSpPr/>
          <p:nvPr/>
        </p:nvSpPr>
        <p:spPr>
          <a:xfrm>
            <a:off x="2395800" y="905400"/>
            <a:ext cx="6354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Integrimi i sistemeve cloud që siguron aksesin e autorizuar ndaj shërbimeve/të dhënave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Shape 8"/>
          <p:cNvSpPr/>
          <p:nvPr/>
        </p:nvSpPr>
        <p:spPr>
          <a:xfrm>
            <a:off x="274320" y="1353240"/>
            <a:ext cx="8595000" cy="438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Shape 9"/>
          <p:cNvSpPr/>
          <p:nvPr/>
        </p:nvSpPr>
        <p:spPr>
          <a:xfrm>
            <a:off x="274320" y="1353240"/>
            <a:ext cx="2011320" cy="438480"/>
          </a:xfrm>
          <a:prstGeom prst="rect">
            <a:avLst/>
          </a:prstGeom>
          <a:solidFill>
            <a:srgbClr val="1E57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2" name="Text 10"/>
          <p:cNvSpPr/>
          <p:nvPr/>
        </p:nvSpPr>
        <p:spPr>
          <a:xfrm>
            <a:off x="274320" y="1417320"/>
            <a:ext cx="2011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Isolation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Text 11"/>
          <p:cNvSpPr/>
          <p:nvPr/>
        </p:nvSpPr>
        <p:spPr>
          <a:xfrm>
            <a:off x="2395800" y="1417320"/>
            <a:ext cx="6354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Makinë e vetme fizike mbështet klientin dhe shërbimin individualisht (multi-tenancy)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Shape 12"/>
          <p:cNvSpPr/>
          <p:nvPr/>
        </p:nvSpPr>
        <p:spPr>
          <a:xfrm>
            <a:off x="274320" y="1865520"/>
            <a:ext cx="8595000" cy="438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Shape 13"/>
          <p:cNvSpPr/>
          <p:nvPr/>
        </p:nvSpPr>
        <p:spPr>
          <a:xfrm>
            <a:off x="274320" y="1865520"/>
            <a:ext cx="2011320" cy="438480"/>
          </a:xfrm>
          <a:prstGeom prst="rect">
            <a:avLst/>
          </a:prstGeom>
          <a:solidFill>
            <a:srgbClr val="1A2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6" name="Text 14"/>
          <p:cNvSpPr/>
          <p:nvPr/>
        </p:nvSpPr>
        <p:spPr>
          <a:xfrm>
            <a:off x="274320" y="1929240"/>
            <a:ext cx="2011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MCA – Mobile Cloud Auditability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Text 15"/>
          <p:cNvSpPr/>
          <p:nvPr/>
        </p:nvSpPr>
        <p:spPr>
          <a:xfrm>
            <a:off x="2395800" y="1929240"/>
            <a:ext cx="6354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Grup aktivitetesh që mbështesin përputhshmërinë rregullatore sipas marrëveshjeve klient-ofrues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Shape 16"/>
          <p:cNvSpPr/>
          <p:nvPr/>
        </p:nvSpPr>
        <p:spPr>
          <a:xfrm>
            <a:off x="274320" y="2377440"/>
            <a:ext cx="8595000" cy="438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Shape 17"/>
          <p:cNvSpPr/>
          <p:nvPr/>
        </p:nvSpPr>
        <p:spPr>
          <a:xfrm>
            <a:off x="274320" y="2377440"/>
            <a:ext cx="2011320" cy="43848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0" name="Text 18"/>
          <p:cNvSpPr/>
          <p:nvPr/>
        </p:nvSpPr>
        <p:spPr>
          <a:xfrm>
            <a:off x="274320" y="2441520"/>
            <a:ext cx="2011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MCF – Mobile Cloud Forensics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Text 19"/>
          <p:cNvSpPr/>
          <p:nvPr/>
        </p:nvSpPr>
        <p:spPr>
          <a:xfrm>
            <a:off x="2395800" y="2441520"/>
            <a:ext cx="6354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Teknika për identifikimin, vlerësimin, mbledhjen dhe analizimin e të dhënave cloud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Shape 20"/>
          <p:cNvSpPr/>
          <p:nvPr/>
        </p:nvSpPr>
        <p:spPr>
          <a:xfrm>
            <a:off x="274320" y="2889360"/>
            <a:ext cx="8595000" cy="438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Shape 21"/>
          <p:cNvSpPr/>
          <p:nvPr/>
        </p:nvSpPr>
        <p:spPr>
          <a:xfrm>
            <a:off x="274320" y="2889360"/>
            <a:ext cx="2011320" cy="438480"/>
          </a:xfrm>
          <a:prstGeom prst="rect">
            <a:avLst/>
          </a:prstGeom>
          <a:solidFill>
            <a:srgbClr val="8B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4" name="Text 22"/>
          <p:cNvSpPr/>
          <p:nvPr/>
        </p:nvSpPr>
        <p:spPr>
          <a:xfrm>
            <a:off x="274320" y="2953440"/>
            <a:ext cx="2011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Outsider Threat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23"/>
          <p:cNvSpPr/>
          <p:nvPr/>
        </p:nvSpPr>
        <p:spPr>
          <a:xfrm>
            <a:off x="2395800" y="2953440"/>
            <a:ext cx="6354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Aktivitete malicious nga palë të jashtme dhe të paautorizuara të sistemit MCC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Shape 24"/>
          <p:cNvSpPr/>
          <p:nvPr/>
        </p:nvSpPr>
        <p:spPr>
          <a:xfrm>
            <a:off x="274320" y="3401640"/>
            <a:ext cx="8595000" cy="438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Shape 25"/>
          <p:cNvSpPr/>
          <p:nvPr/>
        </p:nvSpPr>
        <p:spPr>
          <a:xfrm>
            <a:off x="274320" y="3401640"/>
            <a:ext cx="2011320" cy="438480"/>
          </a:xfrm>
          <a:prstGeom prst="rect">
            <a:avLst/>
          </a:prstGeom>
          <a:solidFill>
            <a:srgbClr val="6E10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8" name="Text 26"/>
          <p:cNvSpPr/>
          <p:nvPr/>
        </p:nvSpPr>
        <p:spPr>
          <a:xfrm>
            <a:off x="274320" y="3465720"/>
            <a:ext cx="2011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Privacy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Text 27"/>
          <p:cNvSpPr/>
          <p:nvPr/>
        </p:nvSpPr>
        <p:spPr>
          <a:xfrm>
            <a:off x="2395800" y="3465720"/>
            <a:ext cx="6354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Fokus tek rrjedhja e informacionit të ndjeshëm gjatë proceseve shërbimi cloud mobil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Shape 28"/>
          <p:cNvSpPr/>
          <p:nvPr/>
        </p:nvSpPr>
        <p:spPr>
          <a:xfrm>
            <a:off x="274320" y="3913560"/>
            <a:ext cx="8595000" cy="438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Shape 29"/>
          <p:cNvSpPr/>
          <p:nvPr/>
        </p:nvSpPr>
        <p:spPr>
          <a:xfrm>
            <a:off x="274320" y="3913560"/>
            <a:ext cx="2011320" cy="438480"/>
          </a:xfrm>
          <a:prstGeom prst="rect">
            <a:avLst/>
          </a:prstGeom>
          <a:solidFill>
            <a:srgbClr val="1A7A4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2" name="Text 30"/>
          <p:cNvSpPr/>
          <p:nvPr/>
        </p:nvSpPr>
        <p:spPr>
          <a:xfrm>
            <a:off x="274320" y="3977640"/>
            <a:ext cx="2011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Security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Text 31"/>
          <p:cNvSpPr/>
          <p:nvPr/>
        </p:nvSpPr>
        <p:spPr>
          <a:xfrm>
            <a:off x="2395800" y="3977640"/>
            <a:ext cx="6354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Mekanizma që mbrojnë sistemet cloud kundër adversarëve gjatë gjithë procesit të shërbimit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Shape 32"/>
          <p:cNvSpPr/>
          <p:nvPr/>
        </p:nvSpPr>
        <p:spPr>
          <a:xfrm>
            <a:off x="274320" y="4425840"/>
            <a:ext cx="8595000" cy="438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Shape 33"/>
          <p:cNvSpPr/>
          <p:nvPr/>
        </p:nvSpPr>
        <p:spPr>
          <a:xfrm>
            <a:off x="274320" y="4425840"/>
            <a:ext cx="2011320" cy="438480"/>
          </a:xfrm>
          <a:prstGeom prst="rect">
            <a:avLst/>
          </a:prstGeom>
          <a:solidFill>
            <a:srgbClr val="0E74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6" name="Text 34"/>
          <p:cNvSpPr/>
          <p:nvPr/>
        </p:nvSpPr>
        <p:spPr>
          <a:xfrm>
            <a:off x="274320" y="4489560"/>
            <a:ext cx="2011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Side-Channel Attack (SCA)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Text 35"/>
          <p:cNvSpPr/>
          <p:nvPr/>
        </p:nvSpPr>
        <p:spPr>
          <a:xfrm>
            <a:off x="2395800" y="4489560"/>
            <a:ext cx="6354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C2130"/>
                </a:solidFill>
                <a:effectLst/>
                <a:uFillTx/>
                <a:latin typeface="Calibri Light"/>
                <a:ea typeface="Calibri Light"/>
              </a:rPr>
              <a:t>Aktivitet adversarial duke përdorur informacion nga implementimet fizike të kriptosistemit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Shape 0"/>
          <p:cNvSpPr/>
          <p:nvPr/>
        </p:nvSpPr>
        <p:spPr>
          <a:xfrm>
            <a:off x="0" y="0"/>
            <a:ext cx="411120" cy="514332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9" name="Shape 1"/>
          <p:cNvSpPr/>
          <p:nvPr/>
        </p:nvSpPr>
        <p:spPr>
          <a:xfrm>
            <a:off x="6858000" y="0"/>
            <a:ext cx="2285640" cy="5143320"/>
          </a:xfrm>
          <a:prstGeom prst="rect">
            <a:avLst/>
          </a:prstGeom>
          <a:solidFill>
            <a:srgbClr val="6E101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0" name="Shape 2"/>
          <p:cNvSpPr/>
          <p:nvPr/>
        </p:nvSpPr>
        <p:spPr>
          <a:xfrm>
            <a:off x="6903720" y="228600"/>
            <a:ext cx="1737000" cy="17370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1" name="Shape 3"/>
          <p:cNvSpPr/>
          <p:nvPr/>
        </p:nvSpPr>
        <p:spPr>
          <a:xfrm>
            <a:off x="7315200" y="2286000"/>
            <a:ext cx="1188360" cy="1188360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2" name="Shape 4"/>
          <p:cNvSpPr/>
          <p:nvPr/>
        </p:nvSpPr>
        <p:spPr>
          <a:xfrm>
            <a:off x="7040880" y="3566160"/>
            <a:ext cx="731160" cy="73116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Text 5"/>
          <p:cNvSpPr/>
          <p:nvPr/>
        </p:nvSpPr>
        <p:spPr>
          <a:xfrm>
            <a:off x="640080" y="548640"/>
            <a:ext cx="5943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E8A020"/>
                </a:solidFill>
                <a:effectLst/>
                <a:uFillTx/>
                <a:latin typeface="Calibri"/>
                <a:ea typeface="Calibri"/>
              </a:rPr>
              <a:t>Kapitulli 8 Kompletuar!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4" name="Text 6"/>
          <p:cNvSpPr/>
          <p:nvPr/>
        </p:nvSpPr>
        <p:spPr>
          <a:xfrm>
            <a:off x="640080" y="1051560"/>
            <a:ext cx="59432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Siguria dhe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Privatësia në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Mobile Cloud Computing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5" name="Text 7"/>
          <p:cNvSpPr/>
          <p:nvPr/>
        </p:nvSpPr>
        <p:spPr>
          <a:xfrm>
            <a:off x="640080" y="3337560"/>
            <a:ext cx="5943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DD9F2"/>
                </a:solidFill>
                <a:effectLst/>
                <a:uFillTx/>
                <a:latin typeface="Calibri Light"/>
                <a:ea typeface="Calibri Light"/>
              </a:rPr>
              <a:t>DOC · CIA · Insider Threats · Outsider Threats · Threat Model · SLA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6" name="Text 8"/>
          <p:cNvSpPr/>
          <p:nvPr/>
        </p:nvSpPr>
        <p:spPr>
          <a:xfrm>
            <a:off x="640080" y="3886200"/>
            <a:ext cx="5943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5E8F0"/>
                </a:solidFill>
                <a:effectLst/>
                <a:uFillTx/>
                <a:latin typeface="Calibri Light"/>
                <a:ea typeface="Calibri Light"/>
              </a:rPr>
              <a:t>Kapitulli i radhës: Teknikat e Mbrojtjes së Privatësisë – Kapitulli 9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LibreOffice/26.2.2.2$Linux_X86_64 LibreOffice_project/1f77d10d6938fd34972958f64b2bcfa54f8b1ba5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2026-05-06T11:04:06Z</dcterms:created>
  <dc:creator>PptxGenJS</dc:creator>
  <dc:description/>
  <dc:language>en-US</dc:language>
  <cp:lastModifiedBy/>
  <dcterms:modified xsi:type="dcterms:W3CDTF">2026-05-06T13:20:15Z</dcterms:modified>
  <cp:revision>10</cp:revision>
  <dc:subject>PptxGenJS Presentation</dc:subject>
  <dc:title>Kapitulli 8 – Siguria dhe Privatësia në Mobile Cloud Computing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44</vt:i4>
  </property>
  <property fmtid="{D5CDD505-2E9C-101B-9397-08002B2CF9AE}" pid="3" name="PresentationFormat">
    <vt:lpwstr>On-screen Show (16:9)</vt:lpwstr>
  </property>
  <property fmtid="{D5CDD505-2E9C-101B-9397-08002B2CF9AE}" pid="4" name="Slides">
    <vt:i4>44</vt:i4>
  </property>
</Properties>
</file>
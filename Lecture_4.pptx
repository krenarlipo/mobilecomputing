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Mean Response Time (ms) — 1000 Operations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 (ms)</c:v>
                </c:pt>
              </c:strCache>
            </c:strRef>
          </c:tx>
          <c:spPr>
            <a:solidFill>
              <a:srgbClr val="0096C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C57-4CD5-8104-A32F9168991A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C57-4CD5-8104-A32F9168991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E3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SOAP Interface</c:v>
                </c:pt>
                <c:pt idx="1">
                  <c:v>Query Interface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905</c:v>
                </c:pt>
                <c:pt idx="1">
                  <c:v>508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C57-4CD5-8104-A32F916899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6405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Optimization</a:t>
            </a:r>
            <a:endParaRPr lang="en-US" sz="4200" dirty="0"/>
          </a:p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Security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4 &amp; 5  —  MCC Architecture Design and Basic Optimizations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Master in Computer Engineering  ·  Qiu &amp; Gai (2017)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Roadmap — Chapters 4 &amp; 5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· MCC 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389888"/>
            <a:ext cx="371246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Introduction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Cloud Computing Architecture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MCC Architecture &amp; Hybrid Cloud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Management Strategies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Optimization Mechanisms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Security Challenges &amp; Solutions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93192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3931920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058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· Basic Optimizations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56048" y="1389888"/>
            <a:ext cx="371246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Introduction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Cloud Computing Performance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5.2.2 Task Scheduling &amp; DAG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5.2.3 Evaluation Modelizations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Green Cloud Computing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5.3.3 Energy-Aware Algorithms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Architecture Design,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Techniques &amp; Challenges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mobile cloud systems are structured, managed, and secured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Cloud Computing Architecture — The Four Layers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high-level cloud computing architecture comprises four fundamental layers that work together to deliver scalable, virtualized services to users: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8595360" cy="71323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5910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User Interface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19019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for cloud users. Handles service requests, web portals, APIs, and mobile apps.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8595360" cy="71323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395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Cloud Resource Manager / Scheduler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7066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resource allocation. Receives user requests and maps them to available virtual or physical resources.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163824"/>
            <a:ext cx="8595360" cy="7132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Virtual Machine (VM) Layer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511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service abstraction. VMs represent cloud resources to users; multiple VMs can run on one physical machine.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3968496"/>
            <a:ext cx="8595360" cy="713232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40050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Physical Machine Layer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3159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hardware (servers, storage, networking) that executes all computing tasks behind the scenes.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requests flow down; service responses flow up. VMs bridge physical resources with user needs.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4.3.1 Architecture of Mobile Cloud Computing —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architecture extends classical cloud computing by integrating three critical supportive aspects: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63040"/>
            <a:ext cx="2651760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463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Computing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847088"/>
            <a:ext cx="24323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devices + Internet comms protocols. Wireless networks (4G/LTE, Wi-Fi, WiMAX) provide the connection channel.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4630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463040"/>
            <a:ext cx="265176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463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Internet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1847088"/>
            <a:ext cx="24323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networking technologies enabling inter-connectivity between mobile users over wireless networks.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463040"/>
            <a:ext cx="2651760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4630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1847088"/>
            <a:ext cx="24323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technologies: Virtualization, Parallel Programming Model (PPM), and Mass Distributed Storage (MDS).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39319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flow: Mobile user → Wireless network → Central processor → Cloud server → VM → Response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441655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requests are received by central processors and forwarded to cloud servers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machines process data; responses are returned via virtual machines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4.3.2 Hybrid Cloud Computing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hybrid? Enterprises must balance performance, cost, and flexibility.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14800" cy="31089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17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&amp; Motivation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cloud combines private and public cloud models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use hybrid clouds to optimize Total Cost of Ownership (TCO)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= direct + indirect resource consumption costs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Workloads are factored dynamically: local vs remote server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4114800" cy="310896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173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Advantages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828800"/>
            <a:ext cx="38404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scalability: flexible options from multiple service deployments (public + private)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efficiency: dynamically assigns workloads to minimize cost within time constraints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Workload Factoring (IWF) routes tasks based on server capacities, networking performance, and infrastructure availability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4.3.2 Hybrid Cloud Workload Balancing — Worked Example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10 data units to assign between remote and local cloud servers. Minimize cost under a timing constraint of T ≤ 30.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508760"/>
          <a:ext cx="640080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per Data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Data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Cloud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Cloud 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33172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x = data assigned to Remote Server,  (10 – x) = data on Local Server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371600" y="2743200"/>
            <a:ext cx="6400800" cy="100584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1" name="Text 8"/>
          <p:cNvSpPr/>
          <p:nvPr/>
        </p:nvSpPr>
        <p:spPr>
          <a:xfrm>
            <a:off x="1463040" y="2788920"/>
            <a:ext cx="6217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3x + 20    (Total Time)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–4x + 70  (Total Cost)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74320" y="38404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4 target: Find x such that T ≤ 30 while minimizing C. What is the optimal assignment?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274320" y="431596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Setting 1 (T=70,C=30) | Setting 2 (T=20,C=70) | Setting 3 (T=45,C=50) | Setting 4 (T=29,C=58) → optimal!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 1: Hybrid Cloud Workload Optimization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company has 20 data units to process. Two cloud servers are available: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1463040"/>
          <a:ext cx="5852160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/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Unit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Remote Server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Server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788920"/>
            <a:ext cx="8412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Write the expressions for Total Time T(x) and Total Cost C(x), where x is the number of units on Server A.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What is the minimum cost achievable if the total time must not exceed 40 units?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Is there a trade-off between performance and cost? Discuss the concept of TCO in this scenario.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(Discussion). In a real enterprise context, what other factors beyond time and cost should drive server selection?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Crucial Management Strategies for Distributed Clouds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 in distributed clouds relies on Function Blocks (FCBs) and a Cloud Resource Manager that orchestrates all operations.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4023360" cy="29260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Block (FCB)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function achieved by a cloud resource in distributed cloud computing. FCBs are the atomic units of cloud resource management.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Subprocesses: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92608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FCBs and provider capacity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operation states (start, query, end…)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computation process time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resources from multiple providers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services to the business layer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1508760"/>
            <a:ext cx="4206240" cy="29260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554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 Manager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19659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management layer that can be physical infrastructure or software-based virtual operating interfaces.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9260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information retrieval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 &amp; scheduling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process display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interconnections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surveillance &amp; fault tolerance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4.4.1 Hybrid Cloud Resource Manager — Amazon EC2 Case Study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Cloud Resource Manager interconnects multiple cloud providers through a Generic Interface. Amazon EC2 is a real-world example: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2743200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Query Interface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892808"/>
            <a:ext cx="2523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HTTP GET to a URL with query strings. Cloud resource manager sends operation commands. Mapped to Generic Interface for management operations.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Time: 508 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50876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508760"/>
            <a:ext cx="2743200" cy="347472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SOAP Interface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1892808"/>
            <a:ext cx="2523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Query interface but uses SOAP protocol with different parameter requirements. HTTP GET to specific URL provisioned by cloud provider.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Time: 905 ms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7432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508760"/>
            <a:ext cx="2743200" cy="34747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Cloud REST Interface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36208" y="1892808"/>
            <a:ext cx="252374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global URI (Uniform Resource Identifier) to each local resource. Mapped to Generic Interface just like EC2 interfaces. Enables private cloud integration.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1605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All three interfaces are mapped to a common Generic Interface, enabling the Hybrid Cloud Resource Manager to administer them uniformly.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4.4.2 Interface Performance — Query vs SOAP Response Time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identical management operation commands were sent via both interfaces and labeled with timestamps. Results show a significant performance gap: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1371600" y="1508760"/>
          <a:ext cx="64008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4315968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interface (508 ms) is 44% faster than SOAP interface (905 ms)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performance-critical applications, selecting the correct interface can increase QoS without adding infrastructure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Optimization Mechanisms of Hybrid Cloud Computing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optimization strategies have been proposed for hybrid cloud environments, all focusing on task scheduling and workload management across heterogeneous infrastructure: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4206240" cy="137160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600200"/>
            <a:ext cx="91440" cy="13716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73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Workload-Aware Scheduling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57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data-processing workloads across heterogeneous clouds. Tracks workload patterns to improve future assignments.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206240" cy="137160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08960"/>
            <a:ext cx="91440" cy="137160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182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Min-Min Scheduling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566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preemptable task scheduling algorithm for IaaS. Selects cloud servers offering the earliest finish time per task.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600200"/>
            <a:ext cx="4206240" cy="137160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600200"/>
            <a:ext cx="91440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6733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Parameter-Based Updates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0574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task execution parameters (earliest available time, earliest finish time). Updates scheduling decisions based on live feedback.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108960"/>
            <a:ext cx="4206240" cy="137160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08960"/>
            <a:ext cx="91440" cy="1371600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182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Goals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566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objective: maximize QoS (Quality of Service) AND minimize resource costs. Effective task assignment enables parallel computing and avoids idle facilities.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4.6.1 Security Challenges in Mobile Cloud Computing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clouds introduce unique security threats beyond traditional concerns. Five major challenge areas: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297680" cy="932688"/>
          </a:xfrm>
          <a:prstGeom prst="rect">
            <a:avLst/>
          </a:prstGeom>
          <a:solidFill>
            <a:srgbClr val="F4F7FB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17320"/>
            <a:ext cx="502920" cy="932688"/>
          </a:xfrm>
          <a:prstGeom prst="rect">
            <a:avLst/>
          </a:prstGeom>
          <a:solidFill>
            <a:srgbClr val="D62839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41732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Abuse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18013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of cloud vendors can access sensitive user data. The cloud model removes physical data custody from users.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4297680" cy="932688"/>
          </a:xfrm>
          <a:prstGeom prst="rect">
            <a:avLst/>
          </a:prstGeom>
          <a:solidFill>
            <a:srgbClr val="F4F7FB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68880"/>
            <a:ext cx="502920" cy="93268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46888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by Non-Encryption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28529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 cannot be processed in the cloud—cloud-side memory requires plaintext. Amazon EC2 data, for instance, is not secure.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520440"/>
            <a:ext cx="4297680" cy="932688"/>
          </a:xfrm>
          <a:prstGeom prst="rect">
            <a:avLst/>
          </a:prstGeom>
          <a:solidFill>
            <a:srgbClr val="F4F7FB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520440"/>
            <a:ext cx="502920" cy="932688"/>
          </a:xfrm>
          <a:prstGeom prst="rect">
            <a:avLst/>
          </a:prstGeom>
          <a:solidFill>
            <a:srgbClr val="F2CC8F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52044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35661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Issues &amp; Multi-Tenancy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390448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tenants share physical infrastructure via VMs. An adversary can occupy the same physical machine as legitimate users.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1417320"/>
            <a:ext cx="4297680" cy="932688"/>
          </a:xfrm>
          <a:prstGeom prst="rect">
            <a:avLst/>
          </a:prstGeom>
          <a:solidFill>
            <a:srgbClr val="F4F7FB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417320"/>
            <a:ext cx="502920" cy="932688"/>
          </a:xfrm>
          <a:prstGeom prst="rect">
            <a:avLst/>
          </a:prstGeom>
          <a:solidFill>
            <a:srgbClr val="81B29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141732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4068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Intrusions in Wireless Networks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18013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Jamming, DoS, man-in-the-middle, and monitoring attacks occur during wireless data transmission.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2468880"/>
            <a:ext cx="4297680" cy="932688"/>
          </a:xfrm>
          <a:prstGeom prst="rect">
            <a:avLst/>
          </a:prstGeom>
          <a:solidFill>
            <a:srgbClr val="F4F7FB"/>
          </a:solidFill>
          <a:ln/>
          <a:effectLst>
            <a:outerShdw blurRad="508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468880"/>
            <a:ext cx="502920" cy="932688"/>
          </a:xfrm>
          <a:prstGeom prst="rect">
            <a:avLst/>
          </a:prstGeom>
          <a:solidFill>
            <a:srgbClr val="3D405B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468880"/>
            <a:ext cx="502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40680" y="25146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Loss of Control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28529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management is cloud-operated. Users have limited authority to configure access control policies.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4.6.2 Overview of Security Solutions in Mobile Clouds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Methods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389888"/>
            <a:ext cx="38953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whether user access is granted or denied.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MBAC – Multi-tenancy Based Access Control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ABAC – Attribute-Based Access Control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 – Role-Based Access Control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IBA – Identity-Based Authentication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solidFill>
            <a:srgbClr val="AE2012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389888"/>
            <a:ext cx="38953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data to prevent unauthorized access.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Challenge: encrypted data cannot be processed in cloud memory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FHE – Fully Homomorphic Encryption (allows computation on ciphertext)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Still largely in research phase for cloud-scale use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solidFill>
            <a:srgbClr val="005F73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926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 Systems (IDS)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" y="3310128"/>
            <a:ext cx="3895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network traffic and cloud system activities. Detects anomalies, unauthorized access, and potential attacks in real-time. Critical for wireless network security.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4114800" cy="347472"/>
          </a:xfrm>
          <a:prstGeom prst="rect">
            <a:avLst/>
          </a:prstGeom>
          <a:solidFill>
            <a:srgbClr val="0A9396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926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Solutions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3310128"/>
            <a:ext cx="389534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SSL – Secure Socket Layer (encrypted transmission)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SLA – Service Level Agreement (contractual security guarantees)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CDM – Cloud Dependability Models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Privacy protection techniques (detailed in Chapter 9)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 2: Security Analysis &amp; Architecture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healthcare company plans to migrate patient records to a hybrid cloud. The system will use both a private on-premise server and Amazon EC2.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8412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Identify at least three security challenges from §4.6.1 that are specifically critical in this healthcare scenario. Justify your choices.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The company is choosing between Query and SOAP interfaces for cloud management. Which would you recommend and why? What does the 44% response time difference imply for a medical emergency system?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Design a simplified 4-layer cloud architecture (§4.2) for this hospital system. Label each layer with its healthcare-specific function.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(Discussion). Is Fully Homomorphic Encryption a realistic solution for protecting patient data in cloud processing today? What are its limitations?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 — Summary &amp; 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architecture has 4 layers: User Interface → Resource Manager → Virtual Machine → Physical Machine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architecture adds mobile devices + wireless networks on top of classical cloud; 3 critical aspects: mobile computing, mobile internet, cloud computing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combines private and public deployments; IWF dynamically routes workloads to optimize TCO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Resource Manager uses FCBs to orchestrate multi-cloud environments (Amazon EC2 example)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selection matters: Query (508ms) outperforms SOAP (905ms) — significant for QoS-critical applications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main MCC security challenges: operational abuse, non-encryption vulnerability, multi-tenancy, wireless intrusions, and loss of control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solutions include access control (RBAC, ABAC), encryption (FHE), IDS, SSL, SLA, and CDM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Optimizations: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Perspective of Cloud Computing Performance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scheduling, performance modeling, DAG, and Green Cloud Computing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Introduction — What is Cloud Computing Performance?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9144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"Performance of cloud computing is the status of examining the entire or partial working state of the cloud system, while multiple input factors and outcomes are considered."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Qiu &amp; Gai, Mobile Cloud Computing (2017)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24028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is multi-dimensional. Key questions students should answer: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7004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performance mean in cloud computing? Why multiple dimensions?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Green Cloud Computing (GCC)? What is the basic approach to achieve it?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produce a basic algorithm for green clouds?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3703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optimizing cloud performance in an environmentally responsible way.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5.2.1 Performance Dimensions — What to Measure?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Performance Dimension is any constraint, factor, or parameter that must be assessed for system optimization. Four common dimensions: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27048"/>
            <a:ext cx="4206240" cy="146304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27048"/>
            <a:ext cx="4206240" cy="4114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270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Demands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984248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requirements from users or the system. Examples: timing constraint, energy limitation, power level. Typically has a fixed upper/lower bound.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127248"/>
            <a:ext cx="4206240" cy="146304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27248"/>
            <a:ext cx="4206240" cy="41148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1272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Operating Environments (IAE)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" y="3584448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Applications Environment influencing outcomes. Two components: User Interface (UI) and Application Programming Interface (API).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527048"/>
            <a:ext cx="4206240" cy="146304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527048"/>
            <a:ext cx="420624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15270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  Infrastructure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18888" y="1984248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Amount/capacity of equipment that supports and delivers cloud services. Different infrastructure levels produce different performance outcomes.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127248"/>
            <a:ext cx="4206240" cy="1463040"/>
          </a:xfrm>
          <a:prstGeom prst="rect">
            <a:avLst/>
          </a:prstGeom>
          <a:solidFill>
            <a:srgbClr val="E8F4F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127248"/>
            <a:ext cx="4206240" cy="411480"/>
          </a:xfrm>
          <a:prstGeom prst="rect">
            <a:avLst/>
          </a:prstGeom>
          <a:solidFill>
            <a:srgbClr val="48CAE4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12724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Networks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18888" y="3584448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and Network Capacity are the key metrics. Maximum data transmission under given networking configuration.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5.2.1 Two Technical Dimensions — Worked Example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2-dimensional cloud optimization problem: minimize energy cost while satisfying a fixed timing constraint.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6304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1 — Response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1 — Energy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2 — Response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2 — Energy Cost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4231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total energy cost such that total response time ≤ fixed timing constraint.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2880360"/>
            <a:ext cx="8595360" cy="146304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27355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on Cloud A: RT=5, EC=8 vs Cloud B: RT=7, EC=6 → Cloud B is cheaper but slower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on Cloud A: RT=10, EC=6 vs Cloud B: RT=8, EC=7 → Cloud A is cheaper AND faster for Task 2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solution depends on the binding constraint (timing limit) — this is a constrained optimization problem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dimensions → use formal algorithms (Greedy, Linear Programming, etc.) not intuition alone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5.2.2 Basic Task Scheduling Method — Key Components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2651760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Tasks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" y="1344168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tasks: Task 1, Task 2 ... Task n. Each task is a requested service from a client. Complex tasks may be divided into activities.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08960" y="960120"/>
            <a:ext cx="265176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08960" y="960120"/>
            <a:ext cx="2651760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960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Allocator (PA)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18688" y="1344168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Adjusts/determines task priorities. Some tasks must be processed before others. PA arranges tasks by priority level.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960120"/>
            <a:ext cx="29260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960120"/>
            <a:ext cx="2926080" cy="34747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960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53328" y="1344168"/>
            <a:ext cx="270662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(First-In-First-Out) abstract data structure. Tasks wait in queues for execution. One queue per server.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2468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Flow: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" y="2880360"/>
            <a:ext cx="1508760" cy="6400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2880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Tasks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2880360"/>
            <a:ext cx="210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993392" y="2880360"/>
            <a:ext cx="1508760" cy="6400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4" name="Text 22"/>
          <p:cNvSpPr/>
          <p:nvPr/>
        </p:nvSpPr>
        <p:spPr>
          <a:xfrm>
            <a:off x="1993392" y="2880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Allocator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02152" y="2880360"/>
            <a:ext cx="210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12464" y="2880360"/>
            <a:ext cx="1508760" cy="6400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7" name="Text 25"/>
          <p:cNvSpPr/>
          <p:nvPr/>
        </p:nvSpPr>
        <p:spPr>
          <a:xfrm>
            <a:off x="3712464" y="2880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21224" y="2880360"/>
            <a:ext cx="210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31536" y="2880360"/>
            <a:ext cx="1508760" cy="6400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0" name="Text 28"/>
          <p:cNvSpPr/>
          <p:nvPr/>
        </p:nvSpPr>
        <p:spPr>
          <a:xfrm>
            <a:off x="5431536" y="2880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0296" y="2880360"/>
            <a:ext cx="2103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50608" y="2880360"/>
            <a:ext cx="1508760" cy="6400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3" name="Text 31"/>
          <p:cNvSpPr/>
          <p:nvPr/>
        </p:nvSpPr>
        <p:spPr>
          <a:xfrm>
            <a:off x="7150608" y="288036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Assignment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vs Activities: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74320" y="4005072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is a top-level service request. A complex task may be decomposed into multiple Activities.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within a task respect dependency order. Activity 1-1 may need to complete before Activity 1-2 starts.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5.2.2.1 The Directed Acyclic Graph (DAG) — Theory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DAG is the foundational tool for modeling task dependencies in cloud scheduling. It formally captures the ordering constraints between tasks.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4114800" cy="32004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5544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Properties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DIRECTED: edges show execution dependency direction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ACYCLIC: no loops allowed — tasks cannot be self-dependent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VERTICES: represent tasks/activities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EDGES: represent preceding-succeeding relations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Represented in topological order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Entry-Task: no predecessors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Exit-Task: no successors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0" y="1828800"/>
            <a:ext cx="594360" cy="59436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0" y="18288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0" y="1463040"/>
            <a:ext cx="594360" cy="59436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132320" y="2560320"/>
            <a:ext cx="594360" cy="59436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2560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412480" y="2011680"/>
            <a:ext cx="594360" cy="594360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2011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0" y="32004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B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C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→ 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→ 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77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→ 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5603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DAG with 4 tasks, 5 edges.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 from A to D: A→D, A→B→D, A→C→D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5.2.2.2 Cloud Performance Modelization Using DAG — 3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performance modelization follows a systematic 3-step process: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2834640" cy="3291840"/>
          </a:xfrm>
          <a:prstGeom prst="rect">
            <a:avLst/>
          </a:prstGeom>
          <a:solidFill>
            <a:srgbClr val="E8F4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417320"/>
            <a:ext cx="2834640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417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DAG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1965960"/>
            <a:ext cx="2615184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inter-relations and dependencies of input tasks/activities. Draw the DAG to formally model the scheduling problem.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An activity can only start after ALL its immediate predecessors finish.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834640" cy="3291840"/>
          </a:xfrm>
          <a:prstGeom prst="rect">
            <a:avLst/>
          </a:prstGeom>
          <a:solidFill>
            <a:srgbClr val="E8F4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417320"/>
            <a:ext cx="2834640" cy="502920"/>
          </a:xfrm>
          <a:prstGeom prst="rect">
            <a:avLst/>
          </a:prstGeom>
          <a:solidFill>
            <a:srgbClr val="0096C7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417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908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Costs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55848" y="1965960"/>
            <a:ext cx="2615184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cost for each task mapped to each available cloud server. Cost metrics vary: execution time, energy consumption, financial cost.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C = A / B, where A = demanded resources, B = A + D (unused instances).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417320"/>
            <a:ext cx="2834640" cy="3291840"/>
          </a:xfrm>
          <a:prstGeom prst="rect">
            <a:avLst/>
          </a:prstGeom>
          <a:solidFill>
            <a:srgbClr val="E8F4FD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417320"/>
            <a:ext cx="2834640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417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1417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Schedule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1965960"/>
            <a:ext cx="2615184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Resource Scheduling Algorithm to produce the optimal task assignment plan.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Minimize total cost (time or energy) subject to given constraints (e.g., timing deadline).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Rules: (1) Predecessors must finish before a successor starts. (2) Entry-Task = no predecessor. (3) Exit-Task = no successor.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5.2.3.1 &amp; 5.2.3.2 Cost Evaluation — Mapping and Total Costs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fundamental evaluation methods underpin cloud scheduling algorithms: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4114800" cy="32004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1: Cost Evaluation (CE)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3886200" cy="2633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 = Total demanded resource instances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= Total initial resource instances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= Cost evaluation (as percentage)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 = Unused resource instances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 = A + 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 = A / B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Interpretation: C represents the utilization ratio. A high C means most provisioned resources are actually used (efficient). A low C means waste.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417320"/>
            <a:ext cx="4114800" cy="32004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2: Total Execution Time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886200" cy="2633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 = Total execution time of task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Number of activities in task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 = The i-th activity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T(i) = Estimated time of Ai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Assumption: all activities take equal time.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 T(i) = T / N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heterogeneous activities: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TET = Σ T(Ai)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as baseline for Greedy scheduling.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5.2.3.3 Case Study — Greedy Algorithm for Task Scheduling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4 tasks (A, B, C, D) and 3 cloud servers. Use the Greedy algorithm to minimize total execution time.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\ Task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(entry)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(exit)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Server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Server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Server 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6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834640"/>
            <a:ext cx="8595360" cy="132588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Solution (always pick lowest EET per task):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</a:t>
            </a:r>
            <a:r>
              <a:rPr lang="en-US" sz="1300" b="1" dirty="0">
                <a:solidFill>
                  <a:srgbClr val="006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Server 2 (3 units)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 </a:t>
            </a:r>
            <a:r>
              <a:rPr lang="en-US" sz="1300" b="1" dirty="0">
                <a:solidFill>
                  <a:srgbClr val="006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Server 1 (4 units)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 </a:t>
            </a:r>
            <a:r>
              <a:rPr lang="en-US" sz="1300" b="1" dirty="0">
                <a:solidFill>
                  <a:srgbClr val="006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Server 3 (4 units)</a:t>
            </a: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 </a:t>
            </a:r>
            <a:r>
              <a:rPr lang="en-US" sz="1300" b="1" dirty="0">
                <a:solidFill>
                  <a:srgbClr val="0064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Server 2 (5 units)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" y="36301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B and C can run in parallel after A finishes. D runs after both B and C complete.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74320" y="422452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Question: Can you find a better solution using a non-greedy algorithm? What is the true optimal total execution time?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 3: DAG Construction &amp; Greedy Scheduling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given a cloud task submission with 5 activities: A1, A2, A3, A4, A5 and the following dependency rules: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has no predecessors (entry-activity)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and A3 can begin only after A1 finishes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can begin only after A2 finishes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(exit-activity) can begin only after A3 and A4 finish</a:t>
            </a:r>
            <a:endParaRPr lang="en-US" sz="12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651760"/>
          <a:ext cx="64008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\ Server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44805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Draw the DAG for these 5 activities.  Q2. Apply Greedy to find a schedule.  Q3. Compute total execution time.  Q4. Can parallel execution on Y and Z improve time?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Green Cloud Computing — Introduction &amp; Motivation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8595360" cy="65836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14400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"Green Cloud Computing (GCC) is a group of cloud-based solutions designed to consider both service performance AND environmental benefits."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74320" y="166420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driving forces behind GCC adoption: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075688"/>
            <a:ext cx="41148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075688"/>
            <a:ext cx="4114800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20756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Business Driver — Energy Costs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4048" y="2459736"/>
            <a:ext cx="389534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costs grow alongside infrastructure expansion. Cloud vendors and practitioners apply GCC to: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 financial budgets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Decrease overall energy demands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Improve long-term cost sustainability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scheduling, allocation, and management are the primary levers.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075688"/>
            <a:ext cx="411480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075688"/>
            <a:ext cx="4114800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0756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Environmental Driver — Emissions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64608" y="2459736"/>
            <a:ext cx="389534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energy usage leads to environmental pollution. Distributed cloud networks compound complexity: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Heavy data transmission → high energy costs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Sometimes on-premises processing is greener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assignment planning is critical for distributed energy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5.3.1 Green Cloud Computing — Three Dimensions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operates across three interconnected dimensions. System designers must balance all three when creating green solutions: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2651760" cy="34747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Business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1892808"/>
            <a:ext cx="24323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operational costs through energy-efficient cloud services. Energy savings translate to direct cost savings.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example: Large centralized datacenter vs small distributed datacenters — each has different cost profiles.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investment in GCC solutions.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5087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508760"/>
            <a:ext cx="2651760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324612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Energy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55848" y="1892808"/>
            <a:ext cx="24323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energy consumption is the central metric of GCC.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main strategies: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centralized datacenter + VM consolidation (fewer servers needed)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 distributed datacenters (flexible, lower network costs)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centralized saves scheduling energy; distributed saves network energy.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508760"/>
            <a:ext cx="2651760" cy="347472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50876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Technology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1892808"/>
            <a:ext cx="243230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enablers of GCC: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Virtual Machine (VM) consolidation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Sleep/idle mode for underutilized servers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Energy-aware scheduling algorithms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Carbon footprint monitoring tools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acceptable service quality at the lowest possible energy supply level.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5.3.2 Dimensions in Algorithms for Green Clouds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cloud algorithms must optimize across multiple dimensions simultaneously. A Trade-Off determines the balance between computing resource usage levels: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08760"/>
          <a:ext cx="859536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 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Constraint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Time-Aware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 energy within time limit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 deadline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Energy-Aware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 energy while maintaining QoS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optimum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pick best local choice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(approximation)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Selection (RS)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assignment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(Time + Energy)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Pareto-optimal solutions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constraints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A 'time-aware' GCC algorithm achieves an environmentally friendly solution while completing tasks within a given timing constraint — combining both performance and green goals.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5.3.3.1 Creating a GCC Algorithm — Crucial Steps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Green Cloud Computing algorithm requires a structured approach. The steps mirror the general DAG scheduling process but with an energy-aware objective: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640080" cy="5303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57276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1572768"/>
            <a:ext cx="7863840" cy="53035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1" name="Text 9"/>
          <p:cNvSpPr/>
          <p:nvPr/>
        </p:nvSpPr>
        <p:spPr>
          <a:xfrm>
            <a:off x="1078992" y="157276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Formulate the Problem: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57276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input tasks, available cloud servers, and the two dimensions: performance objective (e.g., response time) and green objective (e.g., energy cost). Choose which dimension is the constraint and which is the optimization target.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2167128"/>
            <a:ext cx="640080" cy="5303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16712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05840" y="2167128"/>
            <a:ext cx="7863840" cy="530352"/>
          </a:xfrm>
          <a:prstGeom prst="rect">
            <a:avLst/>
          </a:prstGeom>
          <a:solidFill>
            <a:srgbClr val="F0F8F4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216712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DAG: 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16712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task dependencies using a directed acyclic graph. Identify entry-tasks (no predecessors) and exit-tasks (no successors). The DAG determines the feasible execution sequences.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2761488"/>
            <a:ext cx="640080" cy="5303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76148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2761488"/>
            <a:ext cx="7863840" cy="53035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1" name="Text 19"/>
          <p:cNvSpPr/>
          <p:nvPr/>
        </p:nvSpPr>
        <p:spPr>
          <a:xfrm>
            <a:off x="1078992" y="276148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Costs: 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276148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task, calculate both performance cost (execution time) AND energy cost on every available cloud server. Store this in a cost matrix — the equivalent of Table 5.1 but with two cost types.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74320" y="3355848"/>
            <a:ext cx="640080" cy="5303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35584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05840" y="3355848"/>
            <a:ext cx="7863840" cy="530352"/>
          </a:xfrm>
          <a:prstGeom prst="rect">
            <a:avLst/>
          </a:prstGeom>
          <a:solidFill>
            <a:srgbClr val="F0F8F4"/>
          </a:solidFill>
          <a:ln/>
        </p:spPr>
      </p:sp>
      <p:sp>
        <p:nvSpPr>
          <p:cNvPr id="26" name="Text 24"/>
          <p:cNvSpPr/>
          <p:nvPr/>
        </p:nvSpPr>
        <p:spPr>
          <a:xfrm>
            <a:off x="1078992" y="335584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Scheduling Algorithm: 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335584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Greedy or other algorithm. For GCC: select the assignment that minimizes energy cost while satisfying the timing constraint (CF: Carbon Factor may also be incorporated).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" y="3950208"/>
            <a:ext cx="640080" cy="53035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3950208"/>
            <a:ext cx="640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05840" y="3950208"/>
            <a:ext cx="7863840" cy="530352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1" name="Text 29"/>
          <p:cNvSpPr/>
          <p:nvPr/>
        </p:nvSpPr>
        <p:spPr>
          <a:xfrm>
            <a:off x="1078992" y="3950208"/>
            <a:ext cx="1463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Evaluate: 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560320" y="3950208"/>
            <a:ext cx="6217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GCC plan against a performance-only plan. Evaluate total energy savings. Use Carbon Factor (CF) to quantify environmental impact reduction.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5.3.3.2 Sample Energy-Aware Scheduling Algorithm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setup: Same DAG as §5.2.3.3, now with two objectives — minimize energy cost (primary) subject to a timing constraint. Two plans are compared:</a:t>
            </a:r>
            <a:endParaRPr lang="en-US" sz="13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0876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Plan (Greedy on Time)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Plan (Greedy on Energy + CF)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 execution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 energy / carbon emissions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on EET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using Carbon Factor (CF)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consume more energy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have longer execution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2 (fastest)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use different server (less energy)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time minimized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energy/CF minimized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3749040"/>
            <a:ext cx="8595360" cy="1005840"/>
          </a:xfrm>
          <a:prstGeom prst="rect">
            <a:avLst/>
          </a:prstGeom>
          <a:solidFill>
            <a:srgbClr val="F0F8F4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794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Factor (CF):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 quantifies the carbon emission per unit of energy consumed. A GCC algorithm incorporates CF into the cost function so that lower-emission servers are preferred, even if slightly slower.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 4: Green Cloud Computing — Energy-Aware Scheduling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3 tasks (T1, T2, T3) to schedule on 2 cloud servers. T1 has no predecessors; T2 and T3 depend on T1.</a:t>
            </a:r>
            <a:endParaRPr lang="en-US" sz="13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36192"/>
          <a:ext cx="841248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\ Server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A —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A — Energy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B — Time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B — Energy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2560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944368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Draw the DAG for T1, T2, T3.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Performance Plan: use Greedy to minimize total execution time. Calculate total time.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Green Plan: use Greedy to minimize total energy consumption. Calculate total energy.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What is the time-energy trade-off between the two plans? Which would you choose for a real-time medical monitoring service? Which for a batch data analysis job? Justify.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5.3.1 GCC Implementation — VM Consolidation &amp; Datacenter Models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primary architectural approaches for green cloud datacenters — each with distinct energy trade-offs: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4114800" cy="301752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463040"/>
            <a:ext cx="41148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1: Large Centralized Datacenter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9842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VM Consolidation — many users share one large central server. Underutilized servers enter sleep/idle mode.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715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Benefits: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017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scheduling algorithms can optimize efficiently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physical servers needed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1480" y="3547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Drawbacks: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8496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network energy costs if users are geographically distributed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point of failure risk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0" y="1463040"/>
            <a:ext cx="4114800" cy="301752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463040"/>
            <a:ext cx="411480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4630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2: Small Distributed Datacenters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98424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Mechanism: Multiple smaller datacenters deployed closer to users, each consuming less energy per server.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7157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Benefits: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30175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for geographically distributed users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network energy costs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846320" y="3547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E20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Drawbacks: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3849624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scheduling optimization has less influence on energy savings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management overhead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 5: System Design — Architecture Selection Challenge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streaming platform is redesigning its cloud infrastructure to reduce its carbon footprint by 40% while maintaining sub-200ms response times globally.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011680"/>
            <a:ext cx="841248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Should the company use large centralized or small distributed datacenters? Argue both sides using the concepts from §5.3.1.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Define the performance dimensions (§5.2.1) for this problem. What are the constraints and what is the optimization objective?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Would a time-aware or an energy-aware algorithm be more appropriate here? Can they be combined?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(Design). Propose a hybrid architecture that uses VM consolidation AND distributes some datacenters. Where would you place each? What trade-offs remain?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(Discussion). What role does Carbon Factor (CF) play in the scheduling algorithm for this use case?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Chapters 4 &amp; 5 — Architecture Enables Optimization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3268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architectural concepts of Ch. 4 directly enable the optimization techniques of Ch. 5: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1920240" cy="1463040"/>
          </a:xfrm>
          <a:prstGeom prst="rect">
            <a:avLst/>
          </a:prstGeom>
          <a:solidFill>
            <a:srgbClr val="0077B6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(§4.3)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12140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servers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(remote + local)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194560" y="1463040"/>
            <a:ext cx="256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50592" y="1463040"/>
            <a:ext cx="1920240" cy="1463040"/>
          </a:xfrm>
          <a:prstGeom prst="rect">
            <a:avLst/>
          </a:prstGeom>
          <a:solidFill>
            <a:srgbClr val="0096C7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50592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(§4.4)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50592" y="212140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allocation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70832" y="1463040"/>
            <a:ext cx="256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626864" y="1463040"/>
            <a:ext cx="1920240" cy="1463040"/>
          </a:xfrm>
          <a:prstGeom prst="rect">
            <a:avLst/>
          </a:prstGeom>
          <a:solidFill>
            <a:srgbClr val="00B4D8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(§5.2)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26864" y="212140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+ Priority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Allocator + Queues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547104" y="1463040"/>
            <a:ext cx="2560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803136" y="1463040"/>
            <a:ext cx="1920240" cy="1463040"/>
          </a:xfrm>
          <a:prstGeom prst="rect">
            <a:avLst/>
          </a:prstGeom>
          <a:solidFill>
            <a:srgbClr val="2D6A4F"/>
          </a:solidFill>
          <a:ln/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03136" y="14813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(§5.3)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03136" y="212140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/ Time-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Energy-Aware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4320" y="3063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Connections: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" y="3456432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Cloud Resource Manager (§4.4) is the implementation of the 'task scheduling' component described abstractly in §5.2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 servers (remote + local, §4.3.2) are precisely the 'multiple cloud servers' used in DAG scheduling examples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selection (Query vs SOAP, §4.4.2) directly impacts response time — a core performance dimension (§5.2.1)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constraints (§4.6) can also act as performance dimensions in multi-objective optimization problems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 Exercise 6: Integrated Problem — Architecture + Scheduling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FFA500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financial analytics company runs batch jobs every hour on a hybrid cloud (1 private server + 2 EC2 servers). Each batch has 4 tasks with the following structure:</a:t>
            </a:r>
            <a:endParaRPr lang="en-US" sz="12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627632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(T / Cost)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EC2-A (T / Cost)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EC2-B (T / Cost)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A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/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+ Analyze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274320" y="3566160"/>
            <a:ext cx="8595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Draw the DAG for this workflow.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Which EC2 interface (Query or SOAP) would you configure the Cloud Resource Manager to use? Why?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Produce two scheduling plans: (a) minimize cost, (b) minimize execution time. Compare them.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The company must comply with GDPR — sensitive financial data cannot leave the private server. How does this constraint change your scheduling plan? Which tasks must remain on the private server?</a:t>
            </a:r>
            <a:endParaRPr lang="en-US" sz="12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— Chapter 4 Key Terms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206240" cy="6858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241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28930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for designing, developing, and implementing mobile cloud computing solutions.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46504"/>
            <a:ext cx="4206240" cy="6858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7830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Cloud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04825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 of private and public cloud deployments for balancing performance and cost.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05456"/>
            <a:ext cx="4206240" cy="6858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5420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 (Total Cost of Ownership)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8072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of direct and indirect costs of a system investment in cloud computing.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64408"/>
            <a:ext cx="4206240" cy="6858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3009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IWF (Intelligent Workload Factoring)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35661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 that dynamically routes tasks to local or remote servers based on capacities and network performance.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4206240" cy="6858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40599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FCB (Function Block)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432511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specific cloud function achieved by a cloud resource in distributed cloud computing.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987552"/>
            <a:ext cx="4206240" cy="6858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10241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Resource Manager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18888" y="128930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layer for resource operations: retrieval, task assignment, communication, and surveillance.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746504"/>
            <a:ext cx="4206240" cy="6858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17830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Multi-Tenancy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8888" y="204825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architecture where multiple customers share a single software application via virtualization.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505456"/>
            <a:ext cx="4206240" cy="68580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9" name="Text 27"/>
          <p:cNvSpPr/>
          <p:nvPr/>
        </p:nvSpPr>
        <p:spPr>
          <a:xfrm>
            <a:off x="4818888" y="25420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 / RBAC / IBA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18888" y="280720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methods: Attribute-Based, Role-Based, and Identity-Based Authentication.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264408"/>
            <a:ext cx="4206240" cy="685800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3009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FHE (Fully Homomorphic Encryption)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18888" y="356616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allowing operations on ciphertext without decryption — still research-stage for cloud.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— Chapter 5 Key Terms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4206240" cy="70408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0241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Dimension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28930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constraint/factor/parameter that must be assessed for system optimization (time, energy, infrastructure, network).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755648"/>
            <a:ext cx="4206240" cy="70408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7922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(Directed Acyclic Graph)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205740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graph modeling task dependencies in topological order. No loops; directed edges show execution order.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23744"/>
            <a:ext cx="4206240" cy="70408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5603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Entry-Task / Exit-Task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82549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Entry: no predecessors (first to run). Exit: no successors (last to complete).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291840"/>
            <a:ext cx="4206240" cy="70408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33284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Allocator (PA)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359359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that ranks and arranges input tasks based on priority levels before queuing.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59936"/>
            <a:ext cx="4206240" cy="70408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0" name="Text 18"/>
          <p:cNvSpPr/>
          <p:nvPr/>
        </p:nvSpPr>
        <p:spPr>
          <a:xfrm>
            <a:off x="384048" y="40965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436168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data structure holding tasks awaiting execution on a cloud server.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987552"/>
            <a:ext cx="4206240" cy="70408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3" name="Text 21"/>
          <p:cNvSpPr/>
          <p:nvPr/>
        </p:nvSpPr>
        <p:spPr>
          <a:xfrm>
            <a:off x="4818888" y="10241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 (Total Execution Time)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18888" y="1289304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execution times of all activities: TET = Σ Ai.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1755648"/>
            <a:ext cx="4206240" cy="70408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26" name="Text 24"/>
          <p:cNvSpPr/>
          <p:nvPr/>
        </p:nvSpPr>
        <p:spPr>
          <a:xfrm>
            <a:off x="4818888" y="17922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18888" y="2057400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step, selects the locally optimal choice (e.g., shortest execution time per task).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523744"/>
            <a:ext cx="4206240" cy="70408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9" name="Text 27"/>
          <p:cNvSpPr/>
          <p:nvPr/>
        </p:nvSpPr>
        <p:spPr>
          <a:xfrm>
            <a:off x="4818888" y="25603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(Green Cloud Computing)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18888" y="2825496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solutions optimizing both service performance AND environmental benefits (energy efficiency).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09160" y="3291840"/>
            <a:ext cx="4206240" cy="704088"/>
          </a:xfrm>
          <a:prstGeom prst="rect">
            <a:avLst/>
          </a:prstGeom>
          <a:solidFill>
            <a:srgbClr val="E8F4FD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32841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Factor (CF)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18888" y="359359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carbon emissions per unit energy; used in GCC scheduling algorithms to prefer low-emission servers.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4059936"/>
            <a:ext cx="4206240" cy="704088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35" name="Text 33"/>
          <p:cNvSpPr/>
          <p:nvPr/>
        </p:nvSpPr>
        <p:spPr>
          <a:xfrm>
            <a:off x="4818888" y="40965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(GCC)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18888" y="436168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between computing resource usage levels, service quality, and environmental protection.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Summary &amp; Key Takeaways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Gai, 2017  |  Chapters 4 &amp;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performance is multi-dimensional: demands, operating environment, infrastructure, and network all factor 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scheduling uses Priority Allocators, FIFO queues, and cost computations to produce an optimal assignment plan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models task dependencies formally: vertices = tasks, directed edges = dependency order (no loops allowed)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performance modelization follows 3 steps: Make DAG → Map Costs → Create Schedule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 always selects the locally optimal choice; fast but not guaranteed globally optimal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Cloud Computing (GCC) adds energy/carbon objectives to performance optimization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GCC datacenter strategies: centralized (VM consolidation) vs distributed (flexible, lower network energy)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GCC algorithm uses Carbon Factor (CF) to produce an environmentally-friendly schedule within timing constraints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and energy-aware algorithms represent different objective priorities; hybrid approaches exist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3200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QUESTIONS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4 &amp; 5 — MCC Architecture &amp; Optimization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07008"/>
            <a:ext cx="4160520" cy="74980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207008"/>
            <a:ext cx="347472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0700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125272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4-layer cloud architecture. Which layer is most critical for performance optimization?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29968"/>
            <a:ext cx="4160520" cy="74980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029968"/>
            <a:ext cx="347472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02996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86384" y="207568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hybrid cloud architecture was introduced. What does IWF do?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52928"/>
            <a:ext cx="4160520" cy="74980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" y="2852928"/>
            <a:ext cx="347472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85292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6384" y="289864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cloud resource manager uses 3 interfaces (Query, SOAP, REST). When would you choose REST over Query?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675888"/>
            <a:ext cx="4160520" cy="74980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760" y="3675888"/>
            <a:ext cx="347472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67588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86384" y="372160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non-encryption a security vulnerability specific to cloud computing? How does FHE attempt to solve it?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1207008"/>
            <a:ext cx="4160520" cy="74980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800600" y="1207008"/>
            <a:ext cx="347472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120700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21224" y="125272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DAG for: Task A (entry), Tasks B and C depend on A, Task D (exit) depends on B and C.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029968"/>
            <a:ext cx="4160520" cy="74980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27" name="Shape 25"/>
          <p:cNvSpPr/>
          <p:nvPr/>
        </p:nvSpPr>
        <p:spPr>
          <a:xfrm>
            <a:off x="4800600" y="2029968"/>
            <a:ext cx="347472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202996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21224" y="207568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Greedy algorithm to the DAG above with EET matrix: B on S1=3, S2=7; C on S1=8, S2=2.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2852928"/>
            <a:ext cx="4160520" cy="74980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1" name="Shape 29"/>
          <p:cNvSpPr/>
          <p:nvPr/>
        </p:nvSpPr>
        <p:spPr>
          <a:xfrm>
            <a:off x="4800600" y="2852928"/>
            <a:ext cx="347472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4800600" y="285292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21224" y="289864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a time-aware vs energy-aware GCC algorithm. Give a real-world use case for each.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0600" y="3675888"/>
            <a:ext cx="4160520" cy="749808"/>
          </a:xfrm>
          <a:prstGeom prst="rect">
            <a:avLst/>
          </a:prstGeom>
          <a:solidFill>
            <a:srgbClr val="1B2A3B"/>
          </a:solidFill>
          <a:ln/>
        </p:spPr>
      </p:sp>
      <p:sp>
        <p:nvSpPr>
          <p:cNvPr id="35" name="Shape 33"/>
          <p:cNvSpPr/>
          <p:nvPr/>
        </p:nvSpPr>
        <p:spPr>
          <a:xfrm>
            <a:off x="4800600" y="3675888"/>
            <a:ext cx="347472" cy="74980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4800600" y="3675888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21224" y="372160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Carbon Factor? How does it change a standard Greedy scheduling output?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Cloud Computing — Qiu &amp; Gai (2017)  ·  MSc Computer Engineering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6056</Words>
  <Application>Microsoft Office PowerPoint</Application>
  <PresentationFormat>On-screen Show (16:9)</PresentationFormat>
  <Paragraphs>737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MCC Architecture, Optimization &amp; Security</dc:title>
  <dc:subject>PptxGenJS Presentation</dc:subject>
  <dc:creator>Mobile Cloud Computing Course</dc:creator>
  <cp:lastModifiedBy>CTS</cp:lastModifiedBy>
  <cp:revision>1</cp:revision>
  <dcterms:created xsi:type="dcterms:W3CDTF">2026-04-08T12:02:27Z</dcterms:created>
  <dcterms:modified xsi:type="dcterms:W3CDTF">2026-04-08T12:25:07Z</dcterms:modified>
</cp:coreProperties>
</file>